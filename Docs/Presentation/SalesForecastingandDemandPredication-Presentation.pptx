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9" r:id="rId2"/>
    <p:sldId id="260" r:id="rId3"/>
    <p:sldId id="263" r:id="rId4"/>
    <p:sldId id="302" r:id="rId5"/>
    <p:sldId id="303" r:id="rId6"/>
    <p:sldId id="304" r:id="rId7"/>
    <p:sldId id="266" r:id="rId8"/>
    <p:sldId id="268" r:id="rId9"/>
    <p:sldId id="267" r:id="rId10"/>
    <p:sldId id="286" r:id="rId11"/>
    <p:sldId id="269" r:id="rId12"/>
    <p:sldId id="275" r:id="rId13"/>
    <p:sldId id="271" r:id="rId14"/>
    <p:sldId id="288" r:id="rId15"/>
    <p:sldId id="287" r:id="rId16"/>
    <p:sldId id="289" r:id="rId17"/>
    <p:sldId id="290" r:id="rId18"/>
    <p:sldId id="291" r:id="rId19"/>
    <p:sldId id="292" r:id="rId20"/>
    <p:sldId id="293" r:id="rId21"/>
    <p:sldId id="294" r:id="rId22"/>
    <p:sldId id="295" r:id="rId23"/>
    <p:sldId id="299" r:id="rId24"/>
    <p:sldId id="300" r:id="rId25"/>
    <p:sldId id="301" r:id="rId26"/>
    <p:sldId id="284" r:id="rId27"/>
    <p:sldId id="26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C95"/>
    <a:srgbClr val="F1F1F1"/>
    <a:srgbClr val="F8F5F2"/>
    <a:srgbClr val="F6F4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65" d="100"/>
          <a:sy n="65" d="100"/>
        </p:scale>
        <p:origin x="70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93DB14-E671-4D6C-AB1A-F47C69626F12}" type="datetimeFigureOut">
              <a:rPr lang="en-US" smtClean="0"/>
              <a:t>5/3/2025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EBDB5D-BDAC-4914-AAE6-E8D70871AB7D}" type="slidenum">
              <a:rPr lang="en-US" smtClean="0"/>
              <a:t>‹#›</a:t>
            </a:fld>
            <a:endParaRPr lang="en-US"/>
          </a:p>
        </p:txBody>
      </p:sp>
    </p:spTree>
    <p:extLst>
      <p:ext uri="{BB962C8B-B14F-4D97-AF65-F5344CB8AC3E}">
        <p14:creationId xmlns:p14="http://schemas.microsoft.com/office/powerpoint/2010/main" val="534348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EBDB5D-BDAC-4914-AAE6-E8D70871AB7D}" type="slidenum">
              <a:rPr lang="en-US" smtClean="0"/>
              <a:t>5</a:t>
            </a:fld>
            <a:endParaRPr lang="en-US"/>
          </a:p>
        </p:txBody>
      </p:sp>
    </p:spTree>
    <p:extLst>
      <p:ext uri="{BB962C8B-B14F-4D97-AF65-F5344CB8AC3E}">
        <p14:creationId xmlns:p14="http://schemas.microsoft.com/office/powerpoint/2010/main" val="2395657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0AC7F-E8A8-BDEE-7CEF-7AD654CAA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D20F8-7383-461A-7B30-992F34DA62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C96E4C-8F34-7729-EEDB-A6ABD39360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AE3572-7CEA-7316-76EC-481F92079162}"/>
              </a:ext>
            </a:extLst>
          </p:cNvPr>
          <p:cNvSpPr>
            <a:spLocks noGrp="1"/>
          </p:cNvSpPr>
          <p:nvPr>
            <p:ph type="sldNum" sz="quarter" idx="5"/>
          </p:nvPr>
        </p:nvSpPr>
        <p:spPr/>
        <p:txBody>
          <a:bodyPr/>
          <a:lstStyle/>
          <a:p>
            <a:fld id="{23EBDB5D-BDAC-4914-AAE6-E8D70871AB7D}" type="slidenum">
              <a:rPr lang="en-US" smtClean="0"/>
              <a:t>6</a:t>
            </a:fld>
            <a:endParaRPr lang="en-US"/>
          </a:p>
        </p:txBody>
      </p:sp>
    </p:spTree>
    <p:extLst>
      <p:ext uri="{BB962C8B-B14F-4D97-AF65-F5344CB8AC3E}">
        <p14:creationId xmlns:p14="http://schemas.microsoft.com/office/powerpoint/2010/main" val="2040556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EBDB5D-BDAC-4914-AAE6-E8D70871AB7D}" type="slidenum">
              <a:rPr lang="en-US" smtClean="0"/>
              <a:t>10</a:t>
            </a:fld>
            <a:endParaRPr lang="en-US"/>
          </a:p>
        </p:txBody>
      </p:sp>
    </p:spTree>
    <p:extLst>
      <p:ext uri="{BB962C8B-B14F-4D97-AF65-F5344CB8AC3E}">
        <p14:creationId xmlns:p14="http://schemas.microsoft.com/office/powerpoint/2010/main" val="2869990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3DD23-932A-1E60-E4D5-C3F08A3DC2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2F8219-8DB6-FDA9-ADF7-5C63EFE52D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F83189-5784-E919-1F73-A621AF76FC8A}"/>
              </a:ext>
            </a:extLst>
          </p:cNvPr>
          <p:cNvSpPr>
            <a:spLocks noGrp="1"/>
          </p:cNvSpPr>
          <p:nvPr>
            <p:ph type="dt" sz="half" idx="10"/>
          </p:nvPr>
        </p:nvSpPr>
        <p:spPr/>
        <p:txBody>
          <a:bodyPr/>
          <a:lstStyle/>
          <a:p>
            <a:fld id="{8CDAED32-E67C-4797-9C64-40528E777E57}" type="datetimeFigureOut">
              <a:rPr lang="en-US" smtClean="0"/>
              <a:t>5/3/2025</a:t>
            </a:fld>
            <a:endParaRPr lang="en-US"/>
          </a:p>
        </p:txBody>
      </p:sp>
      <p:sp>
        <p:nvSpPr>
          <p:cNvPr id="5" name="Footer Placeholder 4">
            <a:extLst>
              <a:ext uri="{FF2B5EF4-FFF2-40B4-BE49-F238E27FC236}">
                <a16:creationId xmlns:a16="http://schemas.microsoft.com/office/drawing/2014/main" id="{25D2560A-E7C8-B186-C73B-33035C5CED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B527AA-5DE0-16D1-3E19-17AA1A3531B3}"/>
              </a:ext>
            </a:extLst>
          </p:cNvPr>
          <p:cNvSpPr>
            <a:spLocks noGrp="1"/>
          </p:cNvSpPr>
          <p:nvPr>
            <p:ph type="sldNum" sz="quarter" idx="12"/>
          </p:nvPr>
        </p:nvSpPr>
        <p:spPr/>
        <p:txBody>
          <a:bodyPr/>
          <a:lstStyle/>
          <a:p>
            <a:fld id="{0A1BBC2E-A9FB-4511-A790-7B0C1166F117}" type="slidenum">
              <a:rPr lang="en-US" smtClean="0"/>
              <a:t>‹#›</a:t>
            </a:fld>
            <a:endParaRPr lang="en-US"/>
          </a:p>
        </p:txBody>
      </p:sp>
    </p:spTree>
    <p:extLst>
      <p:ext uri="{BB962C8B-B14F-4D97-AF65-F5344CB8AC3E}">
        <p14:creationId xmlns:p14="http://schemas.microsoft.com/office/powerpoint/2010/main" val="65269336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1EB4F-BEFA-2755-D7E0-21B5BA1E91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EBB07A-C142-E260-FAB8-073BF643B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8DEA2E-0129-0C24-F384-5A163522C533}"/>
              </a:ext>
            </a:extLst>
          </p:cNvPr>
          <p:cNvSpPr>
            <a:spLocks noGrp="1"/>
          </p:cNvSpPr>
          <p:nvPr>
            <p:ph type="dt" sz="half" idx="10"/>
          </p:nvPr>
        </p:nvSpPr>
        <p:spPr/>
        <p:txBody>
          <a:bodyPr/>
          <a:lstStyle/>
          <a:p>
            <a:fld id="{8CDAED32-E67C-4797-9C64-40528E777E57}" type="datetimeFigureOut">
              <a:rPr lang="en-US" smtClean="0"/>
              <a:t>5/3/2025</a:t>
            </a:fld>
            <a:endParaRPr lang="en-US"/>
          </a:p>
        </p:txBody>
      </p:sp>
      <p:sp>
        <p:nvSpPr>
          <p:cNvPr id="5" name="Footer Placeholder 4">
            <a:extLst>
              <a:ext uri="{FF2B5EF4-FFF2-40B4-BE49-F238E27FC236}">
                <a16:creationId xmlns:a16="http://schemas.microsoft.com/office/drawing/2014/main" id="{B6899400-D460-6D4D-493D-9094DBD8CF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C50F68-298C-754A-7780-1459DABC6BC5}"/>
              </a:ext>
            </a:extLst>
          </p:cNvPr>
          <p:cNvSpPr>
            <a:spLocks noGrp="1"/>
          </p:cNvSpPr>
          <p:nvPr>
            <p:ph type="sldNum" sz="quarter" idx="12"/>
          </p:nvPr>
        </p:nvSpPr>
        <p:spPr/>
        <p:txBody>
          <a:bodyPr/>
          <a:lstStyle/>
          <a:p>
            <a:fld id="{0A1BBC2E-A9FB-4511-A790-7B0C1166F117}" type="slidenum">
              <a:rPr lang="en-US" smtClean="0"/>
              <a:t>‹#›</a:t>
            </a:fld>
            <a:endParaRPr lang="en-US"/>
          </a:p>
        </p:txBody>
      </p:sp>
    </p:spTree>
    <p:extLst>
      <p:ext uri="{BB962C8B-B14F-4D97-AF65-F5344CB8AC3E}">
        <p14:creationId xmlns:p14="http://schemas.microsoft.com/office/powerpoint/2010/main" val="263892609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E5BFF-8208-B426-0D3C-EB502401F0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B2B8FF-EF42-45E7-5C5A-B78E93AB15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7A6068-0D5C-C153-A860-8611ED85B33C}"/>
              </a:ext>
            </a:extLst>
          </p:cNvPr>
          <p:cNvSpPr>
            <a:spLocks noGrp="1"/>
          </p:cNvSpPr>
          <p:nvPr>
            <p:ph type="dt" sz="half" idx="10"/>
          </p:nvPr>
        </p:nvSpPr>
        <p:spPr/>
        <p:txBody>
          <a:bodyPr/>
          <a:lstStyle/>
          <a:p>
            <a:fld id="{8CDAED32-E67C-4797-9C64-40528E777E57}" type="datetimeFigureOut">
              <a:rPr lang="en-US" smtClean="0"/>
              <a:t>5/3/2025</a:t>
            </a:fld>
            <a:endParaRPr lang="en-US"/>
          </a:p>
        </p:txBody>
      </p:sp>
      <p:sp>
        <p:nvSpPr>
          <p:cNvPr id="5" name="Footer Placeholder 4">
            <a:extLst>
              <a:ext uri="{FF2B5EF4-FFF2-40B4-BE49-F238E27FC236}">
                <a16:creationId xmlns:a16="http://schemas.microsoft.com/office/drawing/2014/main" id="{F45B2890-D76E-ABAD-B054-3D704C393E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4A8602-1647-D5DD-EC4F-CC298742CA16}"/>
              </a:ext>
            </a:extLst>
          </p:cNvPr>
          <p:cNvSpPr>
            <a:spLocks noGrp="1"/>
          </p:cNvSpPr>
          <p:nvPr>
            <p:ph type="sldNum" sz="quarter" idx="12"/>
          </p:nvPr>
        </p:nvSpPr>
        <p:spPr/>
        <p:txBody>
          <a:bodyPr/>
          <a:lstStyle/>
          <a:p>
            <a:fld id="{0A1BBC2E-A9FB-4511-A790-7B0C1166F117}" type="slidenum">
              <a:rPr lang="en-US" smtClean="0"/>
              <a:t>‹#›</a:t>
            </a:fld>
            <a:endParaRPr lang="en-US"/>
          </a:p>
        </p:txBody>
      </p:sp>
    </p:spTree>
    <p:extLst>
      <p:ext uri="{BB962C8B-B14F-4D97-AF65-F5344CB8AC3E}">
        <p14:creationId xmlns:p14="http://schemas.microsoft.com/office/powerpoint/2010/main" val="406997046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84599-80BA-BECA-9500-1319D23CFE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C4DC7B-F419-EDA5-585B-DC52BA450C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4D777C-BAF3-6E65-A532-64EB1F9C6E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C46B32-E870-6FB8-FDA0-81E26BA3EBCE}"/>
              </a:ext>
            </a:extLst>
          </p:cNvPr>
          <p:cNvSpPr>
            <a:spLocks noGrp="1"/>
          </p:cNvSpPr>
          <p:nvPr>
            <p:ph type="dt" sz="half" idx="10"/>
          </p:nvPr>
        </p:nvSpPr>
        <p:spPr/>
        <p:txBody>
          <a:bodyPr/>
          <a:lstStyle/>
          <a:p>
            <a:fld id="{8CDAED32-E67C-4797-9C64-40528E777E57}" type="datetimeFigureOut">
              <a:rPr lang="en-US" smtClean="0"/>
              <a:t>5/3/2025</a:t>
            </a:fld>
            <a:endParaRPr lang="en-US"/>
          </a:p>
        </p:txBody>
      </p:sp>
      <p:sp>
        <p:nvSpPr>
          <p:cNvPr id="6" name="Footer Placeholder 5">
            <a:extLst>
              <a:ext uri="{FF2B5EF4-FFF2-40B4-BE49-F238E27FC236}">
                <a16:creationId xmlns:a16="http://schemas.microsoft.com/office/drawing/2014/main" id="{E9C3403B-21D3-10B2-98D2-1B5953720A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945EA3-0B80-2BBE-5D69-E091AE388043}"/>
              </a:ext>
            </a:extLst>
          </p:cNvPr>
          <p:cNvSpPr>
            <a:spLocks noGrp="1"/>
          </p:cNvSpPr>
          <p:nvPr>
            <p:ph type="sldNum" sz="quarter" idx="12"/>
          </p:nvPr>
        </p:nvSpPr>
        <p:spPr/>
        <p:txBody>
          <a:bodyPr/>
          <a:lstStyle/>
          <a:p>
            <a:fld id="{0A1BBC2E-A9FB-4511-A790-7B0C1166F117}" type="slidenum">
              <a:rPr lang="en-US" smtClean="0"/>
              <a:t>‹#›</a:t>
            </a:fld>
            <a:endParaRPr lang="en-US"/>
          </a:p>
        </p:txBody>
      </p:sp>
    </p:spTree>
    <p:extLst>
      <p:ext uri="{BB962C8B-B14F-4D97-AF65-F5344CB8AC3E}">
        <p14:creationId xmlns:p14="http://schemas.microsoft.com/office/powerpoint/2010/main" val="146262477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966BE-7C18-D8B2-192E-2B7B0E0BF7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2987AC-F9A7-4109-0A5A-45153DAFD8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7B2C89-D158-2D0E-5ACD-D3C7C57FDC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11D28E-3C59-BFD3-352D-B5DAC60D18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C98CCB-A1A2-1240-91A0-6D2CDCD4FA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8139C2-4A70-23E3-A096-B5C16320CF42}"/>
              </a:ext>
            </a:extLst>
          </p:cNvPr>
          <p:cNvSpPr>
            <a:spLocks noGrp="1"/>
          </p:cNvSpPr>
          <p:nvPr>
            <p:ph type="dt" sz="half" idx="10"/>
          </p:nvPr>
        </p:nvSpPr>
        <p:spPr/>
        <p:txBody>
          <a:bodyPr/>
          <a:lstStyle/>
          <a:p>
            <a:fld id="{8CDAED32-E67C-4797-9C64-40528E777E57}" type="datetimeFigureOut">
              <a:rPr lang="en-US" smtClean="0"/>
              <a:t>5/3/2025</a:t>
            </a:fld>
            <a:endParaRPr lang="en-US"/>
          </a:p>
        </p:txBody>
      </p:sp>
      <p:sp>
        <p:nvSpPr>
          <p:cNvPr id="8" name="Footer Placeholder 7">
            <a:extLst>
              <a:ext uri="{FF2B5EF4-FFF2-40B4-BE49-F238E27FC236}">
                <a16:creationId xmlns:a16="http://schemas.microsoft.com/office/drawing/2014/main" id="{21290D06-C44D-33B1-54B0-97C1B5EF4C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BC82BD-0EED-C7CC-7B80-82A03AC2AB61}"/>
              </a:ext>
            </a:extLst>
          </p:cNvPr>
          <p:cNvSpPr>
            <a:spLocks noGrp="1"/>
          </p:cNvSpPr>
          <p:nvPr>
            <p:ph type="sldNum" sz="quarter" idx="12"/>
          </p:nvPr>
        </p:nvSpPr>
        <p:spPr/>
        <p:txBody>
          <a:bodyPr/>
          <a:lstStyle/>
          <a:p>
            <a:fld id="{0A1BBC2E-A9FB-4511-A790-7B0C1166F117}" type="slidenum">
              <a:rPr lang="en-US" smtClean="0"/>
              <a:t>‹#›</a:t>
            </a:fld>
            <a:endParaRPr lang="en-US"/>
          </a:p>
        </p:txBody>
      </p:sp>
    </p:spTree>
    <p:extLst>
      <p:ext uri="{BB962C8B-B14F-4D97-AF65-F5344CB8AC3E}">
        <p14:creationId xmlns:p14="http://schemas.microsoft.com/office/powerpoint/2010/main" val="79424470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98267-CEAE-A43F-1D44-8E40188020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FA59E2-6BB7-43E5-20A0-EE0BF157E497}"/>
              </a:ext>
            </a:extLst>
          </p:cNvPr>
          <p:cNvSpPr>
            <a:spLocks noGrp="1"/>
          </p:cNvSpPr>
          <p:nvPr>
            <p:ph type="dt" sz="half" idx="10"/>
          </p:nvPr>
        </p:nvSpPr>
        <p:spPr/>
        <p:txBody>
          <a:bodyPr/>
          <a:lstStyle/>
          <a:p>
            <a:fld id="{8CDAED32-E67C-4797-9C64-40528E777E57}" type="datetimeFigureOut">
              <a:rPr lang="en-US" smtClean="0"/>
              <a:t>5/3/2025</a:t>
            </a:fld>
            <a:endParaRPr lang="en-US"/>
          </a:p>
        </p:txBody>
      </p:sp>
      <p:sp>
        <p:nvSpPr>
          <p:cNvPr id="4" name="Footer Placeholder 3">
            <a:extLst>
              <a:ext uri="{FF2B5EF4-FFF2-40B4-BE49-F238E27FC236}">
                <a16:creationId xmlns:a16="http://schemas.microsoft.com/office/drawing/2014/main" id="{B96A7312-86E0-BCF4-1B2F-02D52D923F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1FD4D1-CC0C-1187-16CB-A747B30920F3}"/>
              </a:ext>
            </a:extLst>
          </p:cNvPr>
          <p:cNvSpPr>
            <a:spLocks noGrp="1"/>
          </p:cNvSpPr>
          <p:nvPr>
            <p:ph type="sldNum" sz="quarter" idx="12"/>
          </p:nvPr>
        </p:nvSpPr>
        <p:spPr/>
        <p:txBody>
          <a:bodyPr/>
          <a:lstStyle/>
          <a:p>
            <a:fld id="{0A1BBC2E-A9FB-4511-A790-7B0C1166F117}" type="slidenum">
              <a:rPr lang="en-US" smtClean="0"/>
              <a:t>‹#›</a:t>
            </a:fld>
            <a:endParaRPr lang="en-US"/>
          </a:p>
        </p:txBody>
      </p:sp>
    </p:spTree>
    <p:extLst>
      <p:ext uri="{BB962C8B-B14F-4D97-AF65-F5344CB8AC3E}">
        <p14:creationId xmlns:p14="http://schemas.microsoft.com/office/powerpoint/2010/main" val="246993260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09DFDD-8060-F89B-7F1C-E5802B3A1157}"/>
              </a:ext>
            </a:extLst>
          </p:cNvPr>
          <p:cNvSpPr>
            <a:spLocks noGrp="1"/>
          </p:cNvSpPr>
          <p:nvPr>
            <p:ph type="dt" sz="half" idx="10"/>
          </p:nvPr>
        </p:nvSpPr>
        <p:spPr/>
        <p:txBody>
          <a:bodyPr/>
          <a:lstStyle/>
          <a:p>
            <a:fld id="{8CDAED32-E67C-4797-9C64-40528E777E57}" type="datetimeFigureOut">
              <a:rPr lang="en-US" smtClean="0"/>
              <a:t>5/3/2025</a:t>
            </a:fld>
            <a:endParaRPr lang="en-US"/>
          </a:p>
        </p:txBody>
      </p:sp>
      <p:sp>
        <p:nvSpPr>
          <p:cNvPr id="3" name="Footer Placeholder 2">
            <a:extLst>
              <a:ext uri="{FF2B5EF4-FFF2-40B4-BE49-F238E27FC236}">
                <a16:creationId xmlns:a16="http://schemas.microsoft.com/office/drawing/2014/main" id="{565D895A-9CCA-BDD2-8F66-6CBCFE2843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7C8AD2-0D5F-A2BF-3277-11303890B55E}"/>
              </a:ext>
            </a:extLst>
          </p:cNvPr>
          <p:cNvSpPr>
            <a:spLocks noGrp="1"/>
          </p:cNvSpPr>
          <p:nvPr>
            <p:ph type="sldNum" sz="quarter" idx="12"/>
          </p:nvPr>
        </p:nvSpPr>
        <p:spPr/>
        <p:txBody>
          <a:bodyPr/>
          <a:lstStyle/>
          <a:p>
            <a:fld id="{0A1BBC2E-A9FB-4511-A790-7B0C1166F117}" type="slidenum">
              <a:rPr lang="en-US" smtClean="0"/>
              <a:t>‹#›</a:t>
            </a:fld>
            <a:endParaRPr lang="en-US"/>
          </a:p>
        </p:txBody>
      </p:sp>
    </p:spTree>
    <p:extLst>
      <p:ext uri="{BB962C8B-B14F-4D97-AF65-F5344CB8AC3E}">
        <p14:creationId xmlns:p14="http://schemas.microsoft.com/office/powerpoint/2010/main" val="5016453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9578C-C166-8E45-8FB3-CD693E1FFC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C94AFA-AFCD-1B58-C228-D1A652F431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7C1DB0-8C1F-F782-5559-245328C080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0FEF9F-4287-1109-5F79-C2AA5D81E01C}"/>
              </a:ext>
            </a:extLst>
          </p:cNvPr>
          <p:cNvSpPr>
            <a:spLocks noGrp="1"/>
          </p:cNvSpPr>
          <p:nvPr>
            <p:ph type="dt" sz="half" idx="10"/>
          </p:nvPr>
        </p:nvSpPr>
        <p:spPr/>
        <p:txBody>
          <a:bodyPr/>
          <a:lstStyle/>
          <a:p>
            <a:fld id="{8CDAED32-E67C-4797-9C64-40528E777E57}" type="datetimeFigureOut">
              <a:rPr lang="en-US" smtClean="0"/>
              <a:t>5/3/2025</a:t>
            </a:fld>
            <a:endParaRPr lang="en-US"/>
          </a:p>
        </p:txBody>
      </p:sp>
      <p:sp>
        <p:nvSpPr>
          <p:cNvPr id="6" name="Footer Placeholder 5">
            <a:extLst>
              <a:ext uri="{FF2B5EF4-FFF2-40B4-BE49-F238E27FC236}">
                <a16:creationId xmlns:a16="http://schemas.microsoft.com/office/drawing/2014/main" id="{FB280BD7-4D31-950B-6E8D-9149695551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A6187B-0216-3276-8233-B6C0FDAB3015}"/>
              </a:ext>
            </a:extLst>
          </p:cNvPr>
          <p:cNvSpPr>
            <a:spLocks noGrp="1"/>
          </p:cNvSpPr>
          <p:nvPr>
            <p:ph type="sldNum" sz="quarter" idx="12"/>
          </p:nvPr>
        </p:nvSpPr>
        <p:spPr/>
        <p:txBody>
          <a:bodyPr/>
          <a:lstStyle/>
          <a:p>
            <a:fld id="{0A1BBC2E-A9FB-4511-A790-7B0C1166F117}" type="slidenum">
              <a:rPr lang="en-US" smtClean="0"/>
              <a:t>‹#›</a:t>
            </a:fld>
            <a:endParaRPr lang="en-US"/>
          </a:p>
        </p:txBody>
      </p:sp>
    </p:spTree>
    <p:extLst>
      <p:ext uri="{BB962C8B-B14F-4D97-AF65-F5344CB8AC3E}">
        <p14:creationId xmlns:p14="http://schemas.microsoft.com/office/powerpoint/2010/main" val="212375911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001F-BB09-F8F3-D211-40958540BF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EFD38A-CC42-88BD-D53C-28CB19477B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61BFEF-AAA1-AE39-D468-77216880D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B9D954-BE56-FD4A-C563-90163022C064}"/>
              </a:ext>
            </a:extLst>
          </p:cNvPr>
          <p:cNvSpPr>
            <a:spLocks noGrp="1"/>
          </p:cNvSpPr>
          <p:nvPr>
            <p:ph type="dt" sz="half" idx="10"/>
          </p:nvPr>
        </p:nvSpPr>
        <p:spPr/>
        <p:txBody>
          <a:bodyPr/>
          <a:lstStyle/>
          <a:p>
            <a:fld id="{8CDAED32-E67C-4797-9C64-40528E777E57}" type="datetimeFigureOut">
              <a:rPr lang="en-US" smtClean="0"/>
              <a:t>5/3/2025</a:t>
            </a:fld>
            <a:endParaRPr lang="en-US"/>
          </a:p>
        </p:txBody>
      </p:sp>
      <p:sp>
        <p:nvSpPr>
          <p:cNvPr id="6" name="Footer Placeholder 5">
            <a:extLst>
              <a:ext uri="{FF2B5EF4-FFF2-40B4-BE49-F238E27FC236}">
                <a16:creationId xmlns:a16="http://schemas.microsoft.com/office/drawing/2014/main" id="{637BB2E2-2314-F708-7238-72D7FD0530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136C1-D9FD-9013-AE20-3BB26CD3321C}"/>
              </a:ext>
            </a:extLst>
          </p:cNvPr>
          <p:cNvSpPr>
            <a:spLocks noGrp="1"/>
          </p:cNvSpPr>
          <p:nvPr>
            <p:ph type="sldNum" sz="quarter" idx="12"/>
          </p:nvPr>
        </p:nvSpPr>
        <p:spPr/>
        <p:txBody>
          <a:bodyPr/>
          <a:lstStyle/>
          <a:p>
            <a:fld id="{0A1BBC2E-A9FB-4511-A790-7B0C1166F117}" type="slidenum">
              <a:rPr lang="en-US" smtClean="0"/>
              <a:t>‹#›</a:t>
            </a:fld>
            <a:endParaRPr lang="en-US"/>
          </a:p>
        </p:txBody>
      </p:sp>
    </p:spTree>
    <p:extLst>
      <p:ext uri="{BB962C8B-B14F-4D97-AF65-F5344CB8AC3E}">
        <p14:creationId xmlns:p14="http://schemas.microsoft.com/office/powerpoint/2010/main" val="385371775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D4D75-CE0B-432B-C0CC-D84650370E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AC7EE7-EB3A-99C2-163C-AE0184539A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71465D-E280-2FED-D1E9-34402BEA6AD3}"/>
              </a:ext>
            </a:extLst>
          </p:cNvPr>
          <p:cNvSpPr>
            <a:spLocks noGrp="1"/>
          </p:cNvSpPr>
          <p:nvPr>
            <p:ph type="dt" sz="half" idx="10"/>
          </p:nvPr>
        </p:nvSpPr>
        <p:spPr/>
        <p:txBody>
          <a:bodyPr/>
          <a:lstStyle/>
          <a:p>
            <a:fld id="{8CDAED32-E67C-4797-9C64-40528E777E57}" type="datetimeFigureOut">
              <a:rPr lang="en-US" smtClean="0"/>
              <a:t>5/3/2025</a:t>
            </a:fld>
            <a:endParaRPr lang="en-US"/>
          </a:p>
        </p:txBody>
      </p:sp>
      <p:sp>
        <p:nvSpPr>
          <p:cNvPr id="5" name="Footer Placeholder 4">
            <a:extLst>
              <a:ext uri="{FF2B5EF4-FFF2-40B4-BE49-F238E27FC236}">
                <a16:creationId xmlns:a16="http://schemas.microsoft.com/office/drawing/2014/main" id="{D3A07177-FBD6-9FFE-74CB-4BBA1F8AE5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58945-034E-550B-72C8-69F05E18C8AB}"/>
              </a:ext>
            </a:extLst>
          </p:cNvPr>
          <p:cNvSpPr>
            <a:spLocks noGrp="1"/>
          </p:cNvSpPr>
          <p:nvPr>
            <p:ph type="sldNum" sz="quarter" idx="12"/>
          </p:nvPr>
        </p:nvSpPr>
        <p:spPr/>
        <p:txBody>
          <a:bodyPr/>
          <a:lstStyle/>
          <a:p>
            <a:fld id="{0A1BBC2E-A9FB-4511-A790-7B0C1166F117}" type="slidenum">
              <a:rPr lang="en-US" smtClean="0"/>
              <a:t>‹#›</a:t>
            </a:fld>
            <a:endParaRPr lang="en-US"/>
          </a:p>
        </p:txBody>
      </p:sp>
    </p:spTree>
    <p:extLst>
      <p:ext uri="{BB962C8B-B14F-4D97-AF65-F5344CB8AC3E}">
        <p14:creationId xmlns:p14="http://schemas.microsoft.com/office/powerpoint/2010/main" val="231406216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A3CA5F-184C-5B18-9364-70CEEF3431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F5DE55-D818-9B4C-60A8-01110E25BB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085A24-EB47-4581-19C4-55A1C7CAF32B}"/>
              </a:ext>
            </a:extLst>
          </p:cNvPr>
          <p:cNvSpPr>
            <a:spLocks noGrp="1"/>
          </p:cNvSpPr>
          <p:nvPr>
            <p:ph type="dt" sz="half" idx="10"/>
          </p:nvPr>
        </p:nvSpPr>
        <p:spPr/>
        <p:txBody>
          <a:bodyPr/>
          <a:lstStyle/>
          <a:p>
            <a:fld id="{8CDAED32-E67C-4797-9C64-40528E777E57}" type="datetimeFigureOut">
              <a:rPr lang="en-US" smtClean="0"/>
              <a:t>5/3/2025</a:t>
            </a:fld>
            <a:endParaRPr lang="en-US"/>
          </a:p>
        </p:txBody>
      </p:sp>
      <p:sp>
        <p:nvSpPr>
          <p:cNvPr id="5" name="Footer Placeholder 4">
            <a:extLst>
              <a:ext uri="{FF2B5EF4-FFF2-40B4-BE49-F238E27FC236}">
                <a16:creationId xmlns:a16="http://schemas.microsoft.com/office/drawing/2014/main" id="{73F90D16-426D-1FB4-B88A-A9A71CC373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E54F40-352D-FC1E-CA22-77BAD95630AF}"/>
              </a:ext>
            </a:extLst>
          </p:cNvPr>
          <p:cNvSpPr>
            <a:spLocks noGrp="1"/>
          </p:cNvSpPr>
          <p:nvPr>
            <p:ph type="sldNum" sz="quarter" idx="12"/>
          </p:nvPr>
        </p:nvSpPr>
        <p:spPr/>
        <p:txBody>
          <a:bodyPr/>
          <a:lstStyle/>
          <a:p>
            <a:fld id="{0A1BBC2E-A9FB-4511-A790-7B0C1166F117}" type="slidenum">
              <a:rPr lang="en-US" smtClean="0"/>
              <a:t>‹#›</a:t>
            </a:fld>
            <a:endParaRPr lang="en-US"/>
          </a:p>
        </p:txBody>
      </p:sp>
    </p:spTree>
    <p:extLst>
      <p:ext uri="{BB962C8B-B14F-4D97-AF65-F5344CB8AC3E}">
        <p14:creationId xmlns:p14="http://schemas.microsoft.com/office/powerpoint/2010/main" val="339199324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B4FCAA-67C0-4457-9006-431B6FE57F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9CD886-B731-E94D-FA1E-AFA91463EB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0BFFF7-197E-C93A-FEB2-9048918C86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DAED32-E67C-4797-9C64-40528E777E57}" type="datetimeFigureOut">
              <a:rPr lang="en-US" smtClean="0"/>
              <a:t>5/3/2025</a:t>
            </a:fld>
            <a:endParaRPr lang="en-US"/>
          </a:p>
        </p:txBody>
      </p:sp>
      <p:sp>
        <p:nvSpPr>
          <p:cNvPr id="5" name="Footer Placeholder 4">
            <a:extLst>
              <a:ext uri="{FF2B5EF4-FFF2-40B4-BE49-F238E27FC236}">
                <a16:creationId xmlns:a16="http://schemas.microsoft.com/office/drawing/2014/main" id="{6160476D-738B-F173-146D-D638EAB577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9067012-AEF6-D9C0-824A-92CD11093F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A1BBC2E-A9FB-4511-A790-7B0C1166F117}" type="slidenum">
              <a:rPr lang="en-US" smtClean="0"/>
              <a:t>‹#›</a:t>
            </a:fld>
            <a:endParaRPr lang="en-US"/>
          </a:p>
        </p:txBody>
      </p:sp>
    </p:spTree>
    <p:extLst>
      <p:ext uri="{BB962C8B-B14F-4D97-AF65-F5344CB8AC3E}">
        <p14:creationId xmlns:p14="http://schemas.microsoft.com/office/powerpoint/2010/main" val="1808977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kaggle.com/datasets/rohitsahoo/sales-forecasting/data"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DB27C1-1585-C9E3-510C-F3E8013C1FB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74CB46-C85F-28DD-B33E-B0CD9021EA8C}"/>
              </a:ext>
            </a:extLst>
          </p:cNvPr>
          <p:cNvSpPr txBox="1"/>
          <p:nvPr/>
        </p:nvSpPr>
        <p:spPr>
          <a:xfrm>
            <a:off x="515816" y="3130062"/>
            <a:ext cx="9765322" cy="1446550"/>
          </a:xfrm>
          <a:prstGeom prst="rect">
            <a:avLst/>
          </a:prstGeom>
          <a:noFill/>
        </p:spPr>
        <p:txBody>
          <a:bodyPr wrap="square" rtlCol="0">
            <a:spAutoFit/>
          </a:bodyPr>
          <a:lstStyle/>
          <a:p>
            <a:r>
              <a:rPr lang="en-US" sz="4400" dirty="0">
                <a:solidFill>
                  <a:srgbClr val="283C95"/>
                </a:solidFill>
                <a:latin typeface="Aptos ExtraBold" panose="020B0004020202020204" pitchFamily="34" charset="0"/>
              </a:rPr>
              <a:t>Sales Forecasting and Demand Prediction – EDA</a:t>
            </a:r>
            <a:endParaRPr lang="en-US" sz="4400" dirty="0">
              <a:solidFill>
                <a:srgbClr val="283C95"/>
              </a:solidFill>
              <a:effectLst>
                <a:outerShdw blurRad="50800" dist="38100" dir="2700000" algn="tl" rotWithShape="0">
                  <a:srgbClr val="F8F5F2">
                    <a:alpha val="53000"/>
                  </a:srgbClr>
                </a:outerShdw>
              </a:effectLst>
              <a:latin typeface="Aptos ExtraBold" panose="020B0004020202020204" pitchFamily="34" charset="0"/>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E890AAFA-0D56-9B48-2FE6-B01B8BDDCB8E}"/>
              </a:ext>
            </a:extLst>
          </p:cNvPr>
          <p:cNvSpPr txBox="1"/>
          <p:nvPr/>
        </p:nvSpPr>
        <p:spPr>
          <a:xfrm>
            <a:off x="515816" y="4576612"/>
            <a:ext cx="4759567"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Supervised by: Mahmoud Talaat</a:t>
            </a:r>
          </a:p>
        </p:txBody>
      </p:sp>
      <p:pic>
        <p:nvPicPr>
          <p:cNvPr id="7" name="Picture 6" descr="A logo of a globe with a graduation cap&#10;&#10;AI-generated content may be incorrect.">
            <a:extLst>
              <a:ext uri="{FF2B5EF4-FFF2-40B4-BE49-F238E27FC236}">
                <a16:creationId xmlns:a16="http://schemas.microsoft.com/office/drawing/2014/main" id="{A003B0A3-4EFA-CDBF-F97B-CE3D18361F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325" y="382466"/>
            <a:ext cx="1114155" cy="1024304"/>
          </a:xfrm>
          <a:prstGeom prst="rect">
            <a:avLst/>
          </a:prstGeom>
        </p:spPr>
      </p:pic>
      <p:pic>
        <p:nvPicPr>
          <p:cNvPr id="9" name="Picture 8" descr="A blue and black logo&#10;&#10;AI-generated content may be incorrect.">
            <a:extLst>
              <a:ext uri="{FF2B5EF4-FFF2-40B4-BE49-F238E27FC236}">
                <a16:creationId xmlns:a16="http://schemas.microsoft.com/office/drawing/2014/main" id="{2BFB7216-14CE-051E-5E9C-330268CFBE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31016" y="513618"/>
            <a:ext cx="1758462" cy="710867"/>
          </a:xfrm>
          <a:prstGeom prst="rect">
            <a:avLst/>
          </a:prstGeom>
        </p:spPr>
      </p:pic>
      <p:pic>
        <p:nvPicPr>
          <p:cNvPr id="1026" name="Picture 2" descr="Home">
            <a:extLst>
              <a:ext uri="{FF2B5EF4-FFF2-40B4-BE49-F238E27FC236}">
                <a16:creationId xmlns:a16="http://schemas.microsoft.com/office/drawing/2014/main" id="{25F0455D-D6EE-775E-69C1-1300C3C30F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99050" y="513618"/>
            <a:ext cx="1571625"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523836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D9AD-6F2F-26C9-7774-2EEBCA3D6945}"/>
              </a:ext>
            </a:extLst>
          </p:cNvPr>
          <p:cNvSpPr>
            <a:spLocks noGrp="1"/>
          </p:cNvSpPr>
          <p:nvPr>
            <p:ph type="title"/>
          </p:nvPr>
        </p:nvSpPr>
        <p:spPr/>
        <p:txBody>
          <a:bodyPr/>
          <a:lstStyle/>
          <a:p>
            <a:r>
              <a:rPr lang="en-US" dirty="0">
                <a:solidFill>
                  <a:srgbClr val="283C95"/>
                </a:solidFill>
                <a:latin typeface="Aptos ExtraBold" panose="020B0004020202020204" pitchFamily="34" charset="0"/>
              </a:rPr>
              <a:t>CONTENT</a:t>
            </a:r>
          </a:p>
        </p:txBody>
      </p:sp>
      <p:sp>
        <p:nvSpPr>
          <p:cNvPr id="8" name="Rectangle 7">
            <a:extLst>
              <a:ext uri="{FF2B5EF4-FFF2-40B4-BE49-F238E27FC236}">
                <a16:creationId xmlns:a16="http://schemas.microsoft.com/office/drawing/2014/main" id="{21E05427-1858-586C-8989-14B624E4E6BD}"/>
              </a:ext>
            </a:extLst>
          </p:cNvPr>
          <p:cNvSpPr/>
          <p:nvPr/>
        </p:nvSpPr>
        <p:spPr>
          <a:xfrm rot="20111035">
            <a:off x="9061161" y="633756"/>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AB8DB72-8F49-7F69-E574-006AEC5E2540}"/>
              </a:ext>
            </a:extLst>
          </p:cNvPr>
          <p:cNvSpPr/>
          <p:nvPr/>
        </p:nvSpPr>
        <p:spPr>
          <a:xfrm rot="20111035">
            <a:off x="9643116" y="633756"/>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992B7BB-C55B-15A3-2B9A-AED9C58A7566}"/>
              </a:ext>
            </a:extLst>
          </p:cNvPr>
          <p:cNvSpPr/>
          <p:nvPr/>
        </p:nvSpPr>
        <p:spPr>
          <a:xfrm rot="20111035">
            <a:off x="10225071" y="633756"/>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8D63E177-2AF5-6E8F-9032-39D23A9C0063}"/>
              </a:ext>
            </a:extLst>
          </p:cNvPr>
          <p:cNvSpPr txBox="1"/>
          <p:nvPr/>
        </p:nvSpPr>
        <p:spPr>
          <a:xfrm>
            <a:off x="838200" y="2317166"/>
            <a:ext cx="5827776" cy="399940"/>
          </a:xfrm>
          <a:prstGeom prst="rect">
            <a:avLst/>
          </a:prstGeom>
          <a:noFill/>
        </p:spPr>
        <p:txBody>
          <a:bodyPr wrap="square" rtlCol="0">
            <a:spAutoFit/>
          </a:bodyPr>
          <a:lstStyle/>
          <a:p>
            <a:r>
              <a:rPr lang="en-US" sz="2400" dirty="0">
                <a:solidFill>
                  <a:srgbClr val="283C95"/>
                </a:solidFill>
                <a:latin typeface="Aptos ExtraBold" panose="020B0004020202020204" pitchFamily="34" charset="0"/>
              </a:rPr>
              <a:t>01 Introduction</a:t>
            </a:r>
          </a:p>
        </p:txBody>
      </p:sp>
      <p:sp>
        <p:nvSpPr>
          <p:cNvPr id="12" name="TextBox 11">
            <a:extLst>
              <a:ext uri="{FF2B5EF4-FFF2-40B4-BE49-F238E27FC236}">
                <a16:creationId xmlns:a16="http://schemas.microsoft.com/office/drawing/2014/main" id="{61D39F05-96A8-B56E-3C53-03CDFD864544}"/>
              </a:ext>
            </a:extLst>
          </p:cNvPr>
          <p:cNvSpPr txBox="1"/>
          <p:nvPr/>
        </p:nvSpPr>
        <p:spPr>
          <a:xfrm>
            <a:off x="838200" y="2816360"/>
            <a:ext cx="5827776" cy="399940"/>
          </a:xfrm>
          <a:prstGeom prst="rect">
            <a:avLst/>
          </a:prstGeom>
          <a:noFill/>
        </p:spPr>
        <p:txBody>
          <a:bodyPr wrap="square" rtlCol="0">
            <a:spAutoFit/>
          </a:bodyPr>
          <a:lstStyle/>
          <a:p>
            <a:r>
              <a:rPr lang="en-US" sz="2400" dirty="0">
                <a:solidFill>
                  <a:srgbClr val="283C95"/>
                </a:solidFill>
                <a:latin typeface="Aptos ExtraBold" panose="020B0004020202020204" pitchFamily="34" charset="0"/>
              </a:rPr>
              <a:t>02 Dataset Overview</a:t>
            </a:r>
          </a:p>
        </p:txBody>
      </p:sp>
      <p:sp>
        <p:nvSpPr>
          <p:cNvPr id="13" name="TextBox 12">
            <a:extLst>
              <a:ext uri="{FF2B5EF4-FFF2-40B4-BE49-F238E27FC236}">
                <a16:creationId xmlns:a16="http://schemas.microsoft.com/office/drawing/2014/main" id="{E381D678-F5CA-B6A2-5615-AA5E1A23EA41}"/>
              </a:ext>
            </a:extLst>
          </p:cNvPr>
          <p:cNvSpPr txBox="1"/>
          <p:nvPr/>
        </p:nvSpPr>
        <p:spPr>
          <a:xfrm>
            <a:off x="838200" y="3328825"/>
            <a:ext cx="5827776" cy="399940"/>
          </a:xfrm>
          <a:prstGeom prst="rect">
            <a:avLst/>
          </a:prstGeom>
          <a:noFill/>
        </p:spPr>
        <p:txBody>
          <a:bodyPr wrap="square" rtlCol="0">
            <a:spAutoFit/>
          </a:bodyPr>
          <a:lstStyle/>
          <a:p>
            <a:r>
              <a:rPr lang="en-US" sz="2400" dirty="0">
                <a:solidFill>
                  <a:srgbClr val="283C95"/>
                </a:solidFill>
                <a:latin typeface="Aptos ExtraBold" panose="020B0004020202020204" pitchFamily="34" charset="0"/>
              </a:rPr>
              <a:t>03 Data Cleaning and Preprocessing</a:t>
            </a:r>
          </a:p>
        </p:txBody>
      </p:sp>
      <p:sp>
        <p:nvSpPr>
          <p:cNvPr id="14" name="TextBox 13">
            <a:extLst>
              <a:ext uri="{FF2B5EF4-FFF2-40B4-BE49-F238E27FC236}">
                <a16:creationId xmlns:a16="http://schemas.microsoft.com/office/drawing/2014/main" id="{46F6D6D9-5932-893F-6476-3EDCF780C962}"/>
              </a:ext>
            </a:extLst>
          </p:cNvPr>
          <p:cNvSpPr txBox="1"/>
          <p:nvPr/>
        </p:nvSpPr>
        <p:spPr>
          <a:xfrm>
            <a:off x="838200" y="3843586"/>
            <a:ext cx="5827776" cy="399940"/>
          </a:xfrm>
          <a:prstGeom prst="rect">
            <a:avLst/>
          </a:prstGeom>
          <a:noFill/>
        </p:spPr>
        <p:txBody>
          <a:bodyPr wrap="square" rtlCol="0">
            <a:spAutoFit/>
          </a:bodyPr>
          <a:lstStyle/>
          <a:p>
            <a:r>
              <a:rPr lang="en-US" sz="2400" dirty="0">
                <a:solidFill>
                  <a:srgbClr val="283C95"/>
                </a:solidFill>
                <a:latin typeface="Aptos ExtraBold" panose="020B0004020202020204" pitchFamily="34" charset="0"/>
              </a:rPr>
              <a:t>04 EDA Insights</a:t>
            </a:r>
          </a:p>
        </p:txBody>
      </p:sp>
      <p:sp>
        <p:nvSpPr>
          <p:cNvPr id="4" name="TextBox 3">
            <a:extLst>
              <a:ext uri="{FF2B5EF4-FFF2-40B4-BE49-F238E27FC236}">
                <a16:creationId xmlns:a16="http://schemas.microsoft.com/office/drawing/2014/main" id="{A1AB6849-8D27-660F-1FCD-E4B6AC838F51}"/>
              </a:ext>
            </a:extLst>
          </p:cNvPr>
          <p:cNvSpPr txBox="1"/>
          <p:nvPr/>
        </p:nvSpPr>
        <p:spPr>
          <a:xfrm>
            <a:off x="838200" y="4315436"/>
            <a:ext cx="5827776" cy="461665"/>
          </a:xfrm>
          <a:prstGeom prst="rect">
            <a:avLst/>
          </a:prstGeom>
          <a:noFill/>
        </p:spPr>
        <p:txBody>
          <a:bodyPr wrap="square" rtlCol="0">
            <a:spAutoFit/>
          </a:bodyPr>
          <a:lstStyle/>
          <a:p>
            <a:r>
              <a:rPr lang="en-US" sz="2400" dirty="0">
                <a:solidFill>
                  <a:srgbClr val="283C95"/>
                </a:solidFill>
                <a:latin typeface="Aptos ExtraBold" panose="020B0004020202020204" pitchFamily="34" charset="0"/>
              </a:rPr>
              <a:t>05 Modeling</a:t>
            </a:r>
          </a:p>
        </p:txBody>
      </p:sp>
    </p:spTree>
    <p:extLst>
      <p:ext uri="{BB962C8B-B14F-4D97-AF65-F5344CB8AC3E}">
        <p14:creationId xmlns:p14="http://schemas.microsoft.com/office/powerpoint/2010/main" val="225336709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8DAC8-FB10-5252-0633-E68BA7249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F28D6-95D2-2C5B-FF6D-ABAE8D71AAE6}"/>
              </a:ext>
            </a:extLst>
          </p:cNvPr>
          <p:cNvSpPr>
            <a:spLocks noGrp="1"/>
          </p:cNvSpPr>
          <p:nvPr>
            <p:ph type="title"/>
          </p:nvPr>
        </p:nvSpPr>
        <p:spPr>
          <a:xfrm>
            <a:off x="4404946" y="93022"/>
            <a:ext cx="4448908" cy="1325563"/>
          </a:xfrm>
        </p:spPr>
        <p:txBody>
          <a:bodyPr/>
          <a:lstStyle/>
          <a:p>
            <a:r>
              <a:rPr lang="en-US" sz="4400" dirty="0">
                <a:solidFill>
                  <a:srgbClr val="283C95"/>
                </a:solidFill>
                <a:latin typeface="Aptos ExtraBold" panose="020B0004020202020204" pitchFamily="34" charset="0"/>
              </a:rPr>
              <a:t>01 Introduction</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30AB784B-207A-5187-AF0D-B8F232C14C8C}"/>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grpSp>
        <p:nvGrpSpPr>
          <p:cNvPr id="8" name="Group 7">
            <a:extLst>
              <a:ext uri="{FF2B5EF4-FFF2-40B4-BE49-F238E27FC236}">
                <a16:creationId xmlns:a16="http://schemas.microsoft.com/office/drawing/2014/main" id="{1CA72976-A05C-7A0E-BAC5-162B8420ABF0}"/>
              </a:ext>
            </a:extLst>
          </p:cNvPr>
          <p:cNvGrpSpPr/>
          <p:nvPr/>
        </p:nvGrpSpPr>
        <p:grpSpPr>
          <a:xfrm>
            <a:off x="4389479" y="1418585"/>
            <a:ext cx="7802521" cy="5439415"/>
            <a:chOff x="4389479" y="1418585"/>
            <a:chExt cx="7802521" cy="5439415"/>
          </a:xfrm>
        </p:grpSpPr>
        <p:sp>
          <p:nvSpPr>
            <p:cNvPr id="6" name="TextBox 5">
              <a:extLst>
                <a:ext uri="{FF2B5EF4-FFF2-40B4-BE49-F238E27FC236}">
                  <a16:creationId xmlns:a16="http://schemas.microsoft.com/office/drawing/2014/main" id="{E8B880A5-53C3-83B1-8358-84F29663EEE8}"/>
                </a:ext>
              </a:extLst>
            </p:cNvPr>
            <p:cNvSpPr txBox="1"/>
            <p:nvPr/>
          </p:nvSpPr>
          <p:spPr>
            <a:xfrm>
              <a:off x="4404946" y="1418585"/>
              <a:ext cx="6805275" cy="1938992"/>
            </a:xfrm>
            <a:prstGeom prst="rect">
              <a:avLst/>
            </a:prstGeom>
            <a:noFill/>
          </p:spPr>
          <p:txBody>
            <a:bodyPr wrap="square" rtlCol="0">
              <a:spAutoFit/>
            </a:bodyPr>
            <a:lstStyle/>
            <a:p>
              <a:r>
                <a:rPr lang="en-US" sz="2800" b="1" dirty="0">
                  <a:solidFill>
                    <a:srgbClr val="283C95"/>
                  </a:solidFill>
                  <a:latin typeface="+mj-lt"/>
                </a:rPr>
                <a:t>Sales Forecasting</a:t>
              </a:r>
              <a:r>
                <a:rPr lang="en-US" sz="2800" b="1" i="0" dirty="0">
                  <a:solidFill>
                    <a:srgbClr val="283C95"/>
                  </a:solidFill>
                  <a:effectLst/>
                  <a:latin typeface="+mj-lt"/>
                </a:rPr>
                <a:t> Analysis</a:t>
              </a:r>
            </a:p>
            <a:p>
              <a:r>
                <a:rPr lang="en-US" sz="2000" b="1" dirty="0"/>
                <a:t>This project aims to analyze sales trends and predict future sales using historical data to support data-driven decision-making.</a:t>
              </a:r>
              <a:endParaRPr lang="en-US" sz="2000" b="1" dirty="0">
                <a:solidFill>
                  <a:srgbClr val="283C95"/>
                </a:solidFill>
                <a:latin typeface="+mj-lt"/>
              </a:endParaRPr>
            </a:p>
            <a:p>
              <a:endParaRPr lang="en-US" sz="3200" b="1" dirty="0">
                <a:solidFill>
                  <a:srgbClr val="283C95"/>
                </a:solidFill>
                <a:latin typeface="+mj-lt"/>
              </a:endParaRPr>
            </a:p>
          </p:txBody>
        </p:sp>
        <p:sp>
          <p:nvSpPr>
            <p:cNvPr id="7" name="TextBox 6">
              <a:extLst>
                <a:ext uri="{FF2B5EF4-FFF2-40B4-BE49-F238E27FC236}">
                  <a16:creationId xmlns:a16="http://schemas.microsoft.com/office/drawing/2014/main" id="{784DA60B-C421-3F27-6F76-F676A92F2AD7}"/>
                </a:ext>
              </a:extLst>
            </p:cNvPr>
            <p:cNvSpPr txBox="1"/>
            <p:nvPr/>
          </p:nvSpPr>
          <p:spPr>
            <a:xfrm>
              <a:off x="4404946" y="3026182"/>
              <a:ext cx="7787054" cy="1754326"/>
            </a:xfrm>
            <a:prstGeom prst="rect">
              <a:avLst/>
            </a:prstGeom>
            <a:noFill/>
          </p:spPr>
          <p:txBody>
            <a:bodyPr wrap="square" rtlCol="0">
              <a:spAutoFit/>
            </a:bodyPr>
            <a:lstStyle/>
            <a:p>
              <a:r>
                <a:rPr lang="en-US" sz="2800" b="1" dirty="0">
                  <a:solidFill>
                    <a:srgbClr val="283C95"/>
                  </a:solidFill>
                  <a:latin typeface="+mj-lt"/>
                </a:rPr>
                <a:t>Key Questions</a:t>
              </a:r>
              <a:r>
                <a:rPr lang="en-US" sz="2400" b="0" i="0" dirty="0">
                  <a:solidFill>
                    <a:srgbClr val="F8FAFF"/>
                  </a:solidFill>
                  <a:effectLst/>
                  <a:latin typeface="Inter"/>
                </a:rPr>
                <a:t>:</a:t>
              </a:r>
            </a:p>
            <a:p>
              <a:pPr marL="342900" indent="-342900" algn="l">
                <a:buFont typeface="Arial" panose="020B0604020202020204" pitchFamily="34" charset="0"/>
                <a:buChar char="•"/>
              </a:pPr>
              <a:r>
                <a:rPr lang="en-US" sz="2000" b="1" dirty="0"/>
                <a:t>What are the key factors affecting sales trends?</a:t>
              </a:r>
            </a:p>
            <a:p>
              <a:pPr marL="342900" indent="-342900" algn="l">
                <a:buFont typeface="Arial" panose="020B0604020202020204" pitchFamily="34" charset="0"/>
                <a:buChar char="•"/>
              </a:pPr>
              <a:r>
                <a:rPr lang="en-US" sz="2000" b="1" dirty="0"/>
                <a:t>How can we improve sales forecasting accuracy?</a:t>
              </a:r>
              <a:endParaRPr lang="en-US" sz="2000" b="1" i="0" dirty="0">
                <a:effectLst/>
                <a:latin typeface="+mj-lt"/>
              </a:endParaRPr>
            </a:p>
            <a:p>
              <a:pPr marL="342900" indent="-342900">
                <a:buFont typeface="Arial" panose="020B0604020202020204" pitchFamily="34" charset="0"/>
                <a:buChar char="•"/>
              </a:pPr>
              <a:r>
                <a:rPr lang="en-US" sz="2000" b="1" dirty="0"/>
                <a:t>What actionable insights can help optimize business strategies?</a:t>
              </a:r>
              <a:endParaRPr lang="en-US" sz="2000" b="1" dirty="0">
                <a:solidFill>
                  <a:srgbClr val="283C95"/>
                </a:solidFill>
                <a:latin typeface="+mj-lt"/>
              </a:endParaRPr>
            </a:p>
          </p:txBody>
        </p:sp>
        <p:sp>
          <p:nvSpPr>
            <p:cNvPr id="11" name="TextBox 10">
              <a:extLst>
                <a:ext uri="{FF2B5EF4-FFF2-40B4-BE49-F238E27FC236}">
                  <a16:creationId xmlns:a16="http://schemas.microsoft.com/office/drawing/2014/main" id="{74B849CB-2D03-838F-D4B3-D60D6E92D465}"/>
                </a:ext>
              </a:extLst>
            </p:cNvPr>
            <p:cNvSpPr txBox="1"/>
            <p:nvPr/>
          </p:nvSpPr>
          <p:spPr>
            <a:xfrm>
              <a:off x="4389479" y="4965174"/>
              <a:ext cx="6576646" cy="1892826"/>
            </a:xfrm>
            <a:prstGeom prst="rect">
              <a:avLst/>
            </a:prstGeom>
            <a:noFill/>
          </p:spPr>
          <p:txBody>
            <a:bodyPr wrap="square" rtlCol="0">
              <a:spAutoFit/>
            </a:bodyPr>
            <a:lstStyle/>
            <a:p>
              <a:r>
                <a:rPr lang="en-US" sz="2800" b="1" i="0" dirty="0">
                  <a:solidFill>
                    <a:srgbClr val="283C95"/>
                  </a:solidFill>
                  <a:effectLst/>
                  <a:latin typeface="+mj-lt"/>
                </a:rPr>
                <a:t>Methodology</a:t>
              </a:r>
              <a:endParaRPr lang="en-US" sz="2400" b="0" i="0" dirty="0">
                <a:solidFill>
                  <a:srgbClr val="F8FAFF"/>
                </a:solidFill>
                <a:effectLst/>
                <a:latin typeface="Inter"/>
              </a:endParaRPr>
            </a:p>
            <a:p>
              <a:pPr marL="342900" indent="-342900" algn="l">
                <a:buFont typeface="Arial" panose="020B0604020202020204" pitchFamily="34" charset="0"/>
                <a:buChar char="•"/>
              </a:pPr>
              <a:r>
                <a:rPr lang="en-US" sz="2000" b="1" i="0" dirty="0">
                  <a:effectLst/>
                  <a:latin typeface="+mj-lt"/>
                </a:rPr>
                <a:t>Data cleaning and preprocessing.</a:t>
              </a:r>
            </a:p>
            <a:p>
              <a:pPr marL="342900" indent="-342900" algn="l">
                <a:spcBef>
                  <a:spcPts val="300"/>
                </a:spcBef>
                <a:buFont typeface="Arial" panose="020B0604020202020204" pitchFamily="34" charset="0"/>
                <a:buChar char="•"/>
              </a:pPr>
              <a:r>
                <a:rPr lang="en-US" sz="2000" b="1" i="0" dirty="0">
                  <a:effectLst/>
                  <a:latin typeface="+mj-lt"/>
                </a:rPr>
                <a:t>Exploratory Data Analysis (EDA).</a:t>
              </a:r>
            </a:p>
            <a:p>
              <a:pPr marL="342900" indent="-342900" algn="l">
                <a:spcBef>
                  <a:spcPts val="300"/>
                </a:spcBef>
                <a:buFont typeface="Arial" panose="020B0604020202020204" pitchFamily="34" charset="0"/>
                <a:buChar char="•"/>
              </a:pPr>
              <a:r>
                <a:rPr lang="en-US" sz="2000" b="1" i="0" dirty="0">
                  <a:effectLst/>
                  <a:latin typeface="+mj-lt"/>
                </a:rPr>
                <a:t>Deriving actionable insights.</a:t>
              </a:r>
            </a:p>
            <a:p>
              <a:endParaRPr lang="en-US" sz="2400" b="1" dirty="0">
                <a:solidFill>
                  <a:srgbClr val="283C95"/>
                </a:solidFill>
                <a:latin typeface="+mj-lt"/>
              </a:endParaRPr>
            </a:p>
          </p:txBody>
        </p:sp>
      </p:grpSp>
      <p:pic>
        <p:nvPicPr>
          <p:cNvPr id="18" name="Picture 17" descr="A graph on a screen&#10;&#10;AI-generated content may be incorrect.">
            <a:extLst>
              <a:ext uri="{FF2B5EF4-FFF2-40B4-BE49-F238E27FC236}">
                <a16:creationId xmlns:a16="http://schemas.microsoft.com/office/drawing/2014/main" id="{455542AF-B05C-E150-69A7-E1F67C40CF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842426" cy="6858000"/>
          </a:xfrm>
          <a:prstGeom prst="rect">
            <a:avLst/>
          </a:prstGeom>
          <a:ln>
            <a:noFill/>
          </a:ln>
        </p:spPr>
      </p:pic>
      <p:sp>
        <p:nvSpPr>
          <p:cNvPr id="21" name="Rectangle 20">
            <a:extLst>
              <a:ext uri="{FF2B5EF4-FFF2-40B4-BE49-F238E27FC236}">
                <a16:creationId xmlns:a16="http://schemas.microsoft.com/office/drawing/2014/main" id="{11E876EA-EE5C-90E7-D7D2-7CE4612DA001}"/>
              </a:ext>
            </a:extLst>
          </p:cNvPr>
          <p:cNvSpPr/>
          <p:nvPr/>
        </p:nvSpPr>
        <p:spPr>
          <a:xfrm rot="20111035">
            <a:off x="13145480" y="540107"/>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64E0643-6EA7-2ABD-F399-9B2BFD1C5185}"/>
              </a:ext>
            </a:extLst>
          </p:cNvPr>
          <p:cNvSpPr/>
          <p:nvPr/>
        </p:nvSpPr>
        <p:spPr>
          <a:xfrm rot="20111035">
            <a:off x="13727435" y="540107"/>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B1ED5F3A-4B4C-8195-9A41-A96C92024C2F}"/>
              </a:ext>
            </a:extLst>
          </p:cNvPr>
          <p:cNvSpPr/>
          <p:nvPr/>
        </p:nvSpPr>
        <p:spPr>
          <a:xfrm rot="20111035">
            <a:off x="14309390" y="540107"/>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8658675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D135D-8BF7-E821-39B9-A29780BCB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86DE0-9EDC-F3C3-D391-E9134EDB7117}"/>
              </a:ext>
            </a:extLst>
          </p:cNvPr>
          <p:cNvSpPr>
            <a:spLocks noGrp="1"/>
          </p:cNvSpPr>
          <p:nvPr>
            <p:ph type="title"/>
          </p:nvPr>
        </p:nvSpPr>
        <p:spPr>
          <a:xfrm>
            <a:off x="606318" y="214540"/>
            <a:ext cx="5952744" cy="1325563"/>
          </a:xfrm>
        </p:spPr>
        <p:txBody>
          <a:bodyPr/>
          <a:lstStyle/>
          <a:p>
            <a:r>
              <a:rPr lang="en-US" dirty="0">
                <a:solidFill>
                  <a:srgbClr val="283C95"/>
                </a:solidFill>
                <a:latin typeface="Aptos ExtraBold" panose="020B0004020202020204" pitchFamily="34" charset="0"/>
              </a:rPr>
              <a:t>Project Statement</a:t>
            </a:r>
          </a:p>
        </p:txBody>
      </p:sp>
      <p:sp>
        <p:nvSpPr>
          <p:cNvPr id="3" name="Title 1">
            <a:extLst>
              <a:ext uri="{FF2B5EF4-FFF2-40B4-BE49-F238E27FC236}">
                <a16:creationId xmlns:a16="http://schemas.microsoft.com/office/drawing/2014/main" id="{28A74486-DD81-734D-1A97-DA605BD6F829}"/>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6" name="TextBox 5">
            <a:extLst>
              <a:ext uri="{FF2B5EF4-FFF2-40B4-BE49-F238E27FC236}">
                <a16:creationId xmlns:a16="http://schemas.microsoft.com/office/drawing/2014/main" id="{7141BD4A-F4E1-070F-DB8B-E4412F0E505C}"/>
              </a:ext>
            </a:extLst>
          </p:cNvPr>
          <p:cNvSpPr txBox="1"/>
          <p:nvPr/>
        </p:nvSpPr>
        <p:spPr>
          <a:xfrm>
            <a:off x="606317" y="1540103"/>
            <a:ext cx="8895491" cy="3416320"/>
          </a:xfrm>
          <a:prstGeom prst="rect">
            <a:avLst/>
          </a:prstGeom>
          <a:noFill/>
        </p:spPr>
        <p:txBody>
          <a:bodyPr wrap="square" rtlCol="0">
            <a:spAutoFit/>
          </a:bodyPr>
          <a:lstStyle/>
          <a:p>
            <a:r>
              <a:rPr lang="en-US" sz="2400" b="1" i="0" dirty="0">
                <a:effectLst/>
                <a:latin typeface="+mj-lt"/>
              </a:rPr>
              <a:t>This project aims to develop a machine learning-based forecasting system to predict future sales and product demand using historical data and external factors such as promotions, holidays, and weather. Through data collection, analysis, model development, deployment, and monitoring, the goal is to enable businesses to make data-driven decisions that optimize inventory management, enhance demand planning, and improve overall operational efficiency. The final solution will include an interactive dashboard and a deployed predictive model ready for real-world use.</a:t>
            </a:r>
            <a:endParaRPr lang="en-US" sz="2400" b="1" dirty="0">
              <a:latin typeface="+mj-lt"/>
            </a:endParaRPr>
          </a:p>
        </p:txBody>
      </p:sp>
      <p:cxnSp>
        <p:nvCxnSpPr>
          <p:cNvPr id="41" name="Straight Connector 40">
            <a:extLst>
              <a:ext uri="{FF2B5EF4-FFF2-40B4-BE49-F238E27FC236}">
                <a16:creationId xmlns:a16="http://schemas.microsoft.com/office/drawing/2014/main" id="{7A301607-F9A2-1E30-051D-3C18BFA56B91}"/>
              </a:ext>
            </a:extLst>
          </p:cNvPr>
          <p:cNvCxnSpPr/>
          <p:nvPr/>
        </p:nvCxnSpPr>
        <p:spPr>
          <a:xfrm flipV="1">
            <a:off x="9601200" y="4032738"/>
            <a:ext cx="3083169" cy="293077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2FD4B9B7-5852-C64F-C51F-E22D5FD24EEB}"/>
              </a:ext>
            </a:extLst>
          </p:cNvPr>
          <p:cNvCxnSpPr/>
          <p:nvPr/>
        </p:nvCxnSpPr>
        <p:spPr>
          <a:xfrm flipH="1" flipV="1">
            <a:off x="9976338" y="-339969"/>
            <a:ext cx="2708031" cy="2010385"/>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9A0BB877-F82C-E60C-4BA5-EECDE7A1517D}"/>
              </a:ext>
            </a:extLst>
          </p:cNvPr>
          <p:cNvCxnSpPr/>
          <p:nvPr/>
        </p:nvCxnSpPr>
        <p:spPr>
          <a:xfrm flipH="1" flipV="1">
            <a:off x="9757678" y="-28538"/>
            <a:ext cx="2708031" cy="2010385"/>
          </a:xfrm>
          <a:prstGeom prst="line">
            <a:avLst/>
          </a:prstGeom>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F42A71-B84D-860B-6D65-A7AC3DA85962}"/>
              </a:ext>
            </a:extLst>
          </p:cNvPr>
          <p:cNvCxnSpPr>
            <a:cxnSpLocks/>
          </p:cNvCxnSpPr>
          <p:nvPr/>
        </p:nvCxnSpPr>
        <p:spPr>
          <a:xfrm flipV="1">
            <a:off x="11330353" y="5498123"/>
            <a:ext cx="1354016" cy="1359877"/>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994138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A7777-9B0E-35C5-C622-3B4BF31B4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4733B7-A4B9-F8FC-FFF4-49ED02B78E5C}"/>
              </a:ext>
            </a:extLst>
          </p:cNvPr>
          <p:cNvSpPr>
            <a:spLocks noGrp="1"/>
          </p:cNvSpPr>
          <p:nvPr>
            <p:ph type="title"/>
          </p:nvPr>
        </p:nvSpPr>
        <p:spPr>
          <a:xfrm>
            <a:off x="606318" y="214540"/>
            <a:ext cx="5952744" cy="1325563"/>
          </a:xfrm>
        </p:spPr>
        <p:txBody>
          <a:bodyPr/>
          <a:lstStyle/>
          <a:p>
            <a:r>
              <a:rPr lang="en-US" dirty="0">
                <a:solidFill>
                  <a:srgbClr val="283C95"/>
                </a:solidFill>
                <a:latin typeface="Aptos ExtraBold" panose="020B0004020202020204" pitchFamily="34" charset="0"/>
              </a:rPr>
              <a:t>Stakeholders</a:t>
            </a:r>
          </a:p>
        </p:txBody>
      </p:sp>
      <p:sp>
        <p:nvSpPr>
          <p:cNvPr id="3" name="Title 1">
            <a:extLst>
              <a:ext uri="{FF2B5EF4-FFF2-40B4-BE49-F238E27FC236}">
                <a16:creationId xmlns:a16="http://schemas.microsoft.com/office/drawing/2014/main" id="{98589C67-3421-DB56-6264-8A76E802DA71}"/>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cxnSp>
        <p:nvCxnSpPr>
          <p:cNvPr id="41" name="Straight Connector 40">
            <a:extLst>
              <a:ext uri="{FF2B5EF4-FFF2-40B4-BE49-F238E27FC236}">
                <a16:creationId xmlns:a16="http://schemas.microsoft.com/office/drawing/2014/main" id="{C197EA5C-AF62-08D6-5891-D26023523078}"/>
              </a:ext>
            </a:extLst>
          </p:cNvPr>
          <p:cNvCxnSpPr/>
          <p:nvPr/>
        </p:nvCxnSpPr>
        <p:spPr>
          <a:xfrm flipV="1">
            <a:off x="10209781" y="4509816"/>
            <a:ext cx="3083169" cy="293077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228063B-E75C-989D-F850-B2185C6A5D38}"/>
              </a:ext>
            </a:extLst>
          </p:cNvPr>
          <p:cNvCxnSpPr/>
          <p:nvPr/>
        </p:nvCxnSpPr>
        <p:spPr>
          <a:xfrm flipH="1" flipV="1">
            <a:off x="9976338" y="-339969"/>
            <a:ext cx="2708031" cy="2010385"/>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03A9821A-76FE-2E6F-94B9-66E8B20528FE}"/>
              </a:ext>
            </a:extLst>
          </p:cNvPr>
          <p:cNvCxnSpPr/>
          <p:nvPr/>
        </p:nvCxnSpPr>
        <p:spPr>
          <a:xfrm flipH="1" flipV="1">
            <a:off x="9757678" y="-28538"/>
            <a:ext cx="2708031" cy="2010385"/>
          </a:xfrm>
          <a:prstGeom prst="line">
            <a:avLst/>
          </a:prstGeom>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E18E68-27C0-9E70-AB89-07A7E7972DAB}"/>
              </a:ext>
            </a:extLst>
          </p:cNvPr>
          <p:cNvCxnSpPr>
            <a:cxnSpLocks/>
          </p:cNvCxnSpPr>
          <p:nvPr/>
        </p:nvCxnSpPr>
        <p:spPr>
          <a:xfrm flipV="1">
            <a:off x="11330353" y="5498123"/>
            <a:ext cx="1354016" cy="1359877"/>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7" name="Table 6">
            <a:extLst>
              <a:ext uri="{FF2B5EF4-FFF2-40B4-BE49-F238E27FC236}">
                <a16:creationId xmlns:a16="http://schemas.microsoft.com/office/drawing/2014/main" id="{BC6015C4-AF32-CD14-E7CE-80C337BBD78F}"/>
              </a:ext>
            </a:extLst>
          </p:cNvPr>
          <p:cNvGraphicFramePr>
            <a:graphicFrameLocks noGrp="1"/>
          </p:cNvGraphicFramePr>
          <p:nvPr>
            <p:extLst>
              <p:ext uri="{D42A27DB-BD31-4B8C-83A1-F6EECF244321}">
                <p14:modId xmlns:p14="http://schemas.microsoft.com/office/powerpoint/2010/main" val="1456840953"/>
              </p:ext>
            </p:extLst>
          </p:nvPr>
        </p:nvGraphicFramePr>
        <p:xfrm>
          <a:off x="440634" y="1853634"/>
          <a:ext cx="10373140" cy="3474720"/>
        </p:xfrm>
        <a:graphic>
          <a:graphicData uri="http://schemas.openxmlformats.org/drawingml/2006/table">
            <a:tbl>
              <a:tblPr firstRow="1" bandRow="1">
                <a:tableStyleId>{5C22544A-7EE6-4342-B048-85BDC9FD1C3A}</a:tableStyleId>
              </a:tblPr>
              <a:tblGrid>
                <a:gridCol w="2845905">
                  <a:extLst>
                    <a:ext uri="{9D8B030D-6E8A-4147-A177-3AD203B41FA5}">
                      <a16:colId xmlns:a16="http://schemas.microsoft.com/office/drawing/2014/main" val="498231312"/>
                    </a:ext>
                  </a:extLst>
                </a:gridCol>
                <a:gridCol w="7527235">
                  <a:extLst>
                    <a:ext uri="{9D8B030D-6E8A-4147-A177-3AD203B41FA5}">
                      <a16:colId xmlns:a16="http://schemas.microsoft.com/office/drawing/2014/main" val="3339238031"/>
                    </a:ext>
                  </a:extLst>
                </a:gridCol>
              </a:tblGrid>
              <a:tr h="370840">
                <a:tc>
                  <a:txBody>
                    <a:bodyPr/>
                    <a:lstStyle/>
                    <a:p>
                      <a:pPr algn="ctr"/>
                      <a:r>
                        <a:rPr lang="en-US" sz="2400" b="1" dirty="0"/>
                        <a:t>Stakeholder</a:t>
                      </a:r>
                      <a:endParaRPr lang="en-US" sz="2400" dirty="0"/>
                    </a:p>
                  </a:txBody>
                  <a:tcPr anchor="ctr"/>
                </a:tc>
                <a:tc>
                  <a:txBody>
                    <a:bodyPr/>
                    <a:lstStyle/>
                    <a:p>
                      <a:pPr algn="ctr"/>
                      <a:r>
                        <a:rPr lang="en-US" sz="2400" dirty="0"/>
                        <a:t>How They Benefit</a:t>
                      </a:r>
                    </a:p>
                  </a:txBody>
                  <a:tcPr/>
                </a:tc>
                <a:extLst>
                  <a:ext uri="{0D108BD9-81ED-4DB2-BD59-A6C34878D82A}">
                    <a16:rowId xmlns:a16="http://schemas.microsoft.com/office/drawing/2014/main" val="2443295043"/>
                  </a:ext>
                </a:extLst>
              </a:tr>
              <a:tr h="370840">
                <a:tc>
                  <a:txBody>
                    <a:bodyPr/>
                    <a:lstStyle/>
                    <a:p>
                      <a:r>
                        <a:rPr lang="en-US" sz="2400" dirty="0"/>
                        <a:t>Inventory Managers</a:t>
                      </a:r>
                    </a:p>
                  </a:txBody>
                  <a:tcPr/>
                </a:tc>
                <a:tc>
                  <a:txBody>
                    <a:bodyPr/>
                    <a:lstStyle/>
                    <a:p>
                      <a:r>
                        <a:rPr lang="en-US" sz="2400" dirty="0"/>
                        <a:t>Maintain optimal stock levels; avoid shortages &amp; surpluses</a:t>
                      </a:r>
                    </a:p>
                  </a:txBody>
                  <a:tcPr/>
                </a:tc>
                <a:extLst>
                  <a:ext uri="{0D108BD9-81ED-4DB2-BD59-A6C34878D82A}">
                    <a16:rowId xmlns:a16="http://schemas.microsoft.com/office/drawing/2014/main" val="1191679282"/>
                  </a:ext>
                </a:extLst>
              </a:tr>
              <a:tr h="370840">
                <a:tc>
                  <a:txBody>
                    <a:bodyPr/>
                    <a:lstStyle/>
                    <a:p>
                      <a:r>
                        <a:rPr lang="en-US" sz="2400" dirty="0"/>
                        <a:t>Marketing Teams</a:t>
                      </a:r>
                    </a:p>
                  </a:txBody>
                  <a:tcPr/>
                </a:tc>
                <a:tc>
                  <a:txBody>
                    <a:bodyPr/>
                    <a:lstStyle/>
                    <a:p>
                      <a:r>
                        <a:rPr lang="en-US" sz="2400" dirty="0"/>
                        <a:t>Plan promotions aligned with predicted demand</a:t>
                      </a:r>
                    </a:p>
                  </a:txBody>
                  <a:tcPr/>
                </a:tc>
                <a:extLst>
                  <a:ext uri="{0D108BD9-81ED-4DB2-BD59-A6C34878D82A}">
                    <a16:rowId xmlns:a16="http://schemas.microsoft.com/office/drawing/2014/main" val="373790336"/>
                  </a:ext>
                </a:extLst>
              </a:tr>
              <a:tr h="370840">
                <a:tc>
                  <a:txBody>
                    <a:bodyPr/>
                    <a:lstStyle/>
                    <a:p>
                      <a:r>
                        <a:rPr lang="en-US" sz="2400" dirty="0"/>
                        <a:t>Sales Teams</a:t>
                      </a:r>
                    </a:p>
                  </a:txBody>
                  <a:tcPr/>
                </a:tc>
                <a:tc>
                  <a:txBody>
                    <a:bodyPr/>
                    <a:lstStyle/>
                    <a:p>
                      <a:r>
                        <a:rPr lang="en-US" sz="2400" dirty="0"/>
                        <a:t>Focus efforts on high-demand periods/products</a:t>
                      </a:r>
                    </a:p>
                  </a:txBody>
                  <a:tcPr/>
                </a:tc>
                <a:extLst>
                  <a:ext uri="{0D108BD9-81ED-4DB2-BD59-A6C34878D82A}">
                    <a16:rowId xmlns:a16="http://schemas.microsoft.com/office/drawing/2014/main" val="35784205"/>
                  </a:ext>
                </a:extLst>
              </a:tr>
              <a:tr h="370840">
                <a:tc>
                  <a:txBody>
                    <a:bodyPr/>
                    <a:lstStyle/>
                    <a:p>
                      <a:r>
                        <a:rPr lang="en-US" sz="2400" dirty="0"/>
                        <a:t>Finance Department</a:t>
                      </a:r>
                    </a:p>
                  </a:txBody>
                  <a:tcPr/>
                </a:tc>
                <a:tc>
                  <a:txBody>
                    <a:bodyPr/>
                    <a:lstStyle/>
                    <a:p>
                      <a:r>
                        <a:rPr lang="en-US" sz="2400" dirty="0"/>
                        <a:t>Improve revenue forecasting and budget planning</a:t>
                      </a:r>
                    </a:p>
                  </a:txBody>
                  <a:tcPr/>
                </a:tc>
                <a:extLst>
                  <a:ext uri="{0D108BD9-81ED-4DB2-BD59-A6C34878D82A}">
                    <a16:rowId xmlns:a16="http://schemas.microsoft.com/office/drawing/2014/main" val="105709226"/>
                  </a:ext>
                </a:extLst>
              </a:tr>
              <a:tr h="370840">
                <a:tc>
                  <a:txBody>
                    <a:bodyPr/>
                    <a:lstStyle/>
                    <a:p>
                      <a:r>
                        <a:rPr lang="en-US" sz="2400" dirty="0"/>
                        <a:t>Operations Teams</a:t>
                      </a:r>
                    </a:p>
                  </a:txBody>
                  <a:tcPr/>
                </a:tc>
                <a:tc>
                  <a:txBody>
                    <a:bodyPr/>
                    <a:lstStyle/>
                    <a:p>
                      <a:r>
                        <a:rPr lang="en-US" sz="2400" dirty="0"/>
                        <a:t>Align staffing and logistics with forecasted demand</a:t>
                      </a:r>
                    </a:p>
                  </a:txBody>
                  <a:tcPr/>
                </a:tc>
                <a:extLst>
                  <a:ext uri="{0D108BD9-81ED-4DB2-BD59-A6C34878D82A}">
                    <a16:rowId xmlns:a16="http://schemas.microsoft.com/office/drawing/2014/main" val="3135281358"/>
                  </a:ext>
                </a:extLst>
              </a:tr>
            </a:tbl>
          </a:graphicData>
        </a:graphic>
      </p:graphicFrame>
    </p:spTree>
    <p:extLst>
      <p:ext uri="{BB962C8B-B14F-4D97-AF65-F5344CB8AC3E}">
        <p14:creationId xmlns:p14="http://schemas.microsoft.com/office/powerpoint/2010/main" val="282450660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B47B6-D98B-7A7E-F87F-617D63555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235FA-A557-668D-2975-84B366587BB6}"/>
              </a:ext>
            </a:extLst>
          </p:cNvPr>
          <p:cNvSpPr>
            <a:spLocks noGrp="1"/>
          </p:cNvSpPr>
          <p:nvPr>
            <p:ph type="title"/>
          </p:nvPr>
        </p:nvSpPr>
        <p:spPr>
          <a:xfrm>
            <a:off x="606318" y="214540"/>
            <a:ext cx="5952744" cy="1325563"/>
          </a:xfrm>
        </p:spPr>
        <p:txBody>
          <a:bodyPr/>
          <a:lstStyle/>
          <a:p>
            <a:r>
              <a:rPr lang="en-US" dirty="0">
                <a:solidFill>
                  <a:srgbClr val="283C95"/>
                </a:solidFill>
                <a:latin typeface="Aptos ExtraBold" panose="020B0004020202020204" pitchFamily="34" charset="0"/>
              </a:rPr>
              <a:t>Related Projects</a:t>
            </a:r>
          </a:p>
        </p:txBody>
      </p:sp>
      <p:sp>
        <p:nvSpPr>
          <p:cNvPr id="3" name="Title 1">
            <a:extLst>
              <a:ext uri="{FF2B5EF4-FFF2-40B4-BE49-F238E27FC236}">
                <a16:creationId xmlns:a16="http://schemas.microsoft.com/office/drawing/2014/main" id="{F308DBFB-337A-4885-9021-29425C9A4AE0}"/>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cxnSp>
        <p:nvCxnSpPr>
          <p:cNvPr id="41" name="Straight Connector 40">
            <a:extLst>
              <a:ext uri="{FF2B5EF4-FFF2-40B4-BE49-F238E27FC236}">
                <a16:creationId xmlns:a16="http://schemas.microsoft.com/office/drawing/2014/main" id="{35352993-300F-9A74-20C7-48D636FA306F}"/>
              </a:ext>
            </a:extLst>
          </p:cNvPr>
          <p:cNvCxnSpPr/>
          <p:nvPr/>
        </p:nvCxnSpPr>
        <p:spPr>
          <a:xfrm flipV="1">
            <a:off x="10209781" y="4509816"/>
            <a:ext cx="3083169" cy="293077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4898C08C-98EE-F6E9-59D8-67155F474D0D}"/>
              </a:ext>
            </a:extLst>
          </p:cNvPr>
          <p:cNvCxnSpPr/>
          <p:nvPr/>
        </p:nvCxnSpPr>
        <p:spPr>
          <a:xfrm flipH="1" flipV="1">
            <a:off x="9976338" y="-339969"/>
            <a:ext cx="2708031" cy="2010385"/>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29D8604E-C111-DA81-1427-B87661E0B0FC}"/>
              </a:ext>
            </a:extLst>
          </p:cNvPr>
          <p:cNvCxnSpPr/>
          <p:nvPr/>
        </p:nvCxnSpPr>
        <p:spPr>
          <a:xfrm flipH="1" flipV="1">
            <a:off x="9757678" y="-28538"/>
            <a:ext cx="2708031" cy="2010385"/>
          </a:xfrm>
          <a:prstGeom prst="line">
            <a:avLst/>
          </a:prstGeom>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4CC0237D-34EA-042D-D832-FEB1A0063271}"/>
              </a:ext>
            </a:extLst>
          </p:cNvPr>
          <p:cNvCxnSpPr>
            <a:cxnSpLocks/>
          </p:cNvCxnSpPr>
          <p:nvPr/>
        </p:nvCxnSpPr>
        <p:spPr>
          <a:xfrm flipV="1">
            <a:off x="11330353" y="5498123"/>
            <a:ext cx="1354016" cy="1359877"/>
          </a:xfrm>
          <a:prstGeom prst="line">
            <a:avLst/>
          </a:prstGeom>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45B00A2-E9C5-1DF8-E635-C9D8436D2B53}"/>
              </a:ext>
            </a:extLst>
          </p:cNvPr>
          <p:cNvSpPr txBox="1"/>
          <p:nvPr/>
        </p:nvSpPr>
        <p:spPr>
          <a:xfrm>
            <a:off x="606318" y="1540103"/>
            <a:ext cx="5489682" cy="1754326"/>
          </a:xfrm>
          <a:prstGeom prst="rect">
            <a:avLst/>
          </a:prstGeom>
          <a:noFill/>
        </p:spPr>
        <p:txBody>
          <a:bodyPr wrap="square" rtlCol="0">
            <a:spAutoFit/>
          </a:bodyPr>
          <a:lstStyle/>
          <a:p>
            <a:r>
              <a:rPr lang="en-US" sz="2800" b="1" dirty="0">
                <a:solidFill>
                  <a:srgbClr val="283C95"/>
                </a:solidFill>
                <a:latin typeface="+mj-lt"/>
              </a:rPr>
              <a:t>Inventory Optimization System:</a:t>
            </a:r>
          </a:p>
          <a:p>
            <a:pPr marL="342900" indent="-342900">
              <a:buFont typeface="Arial" panose="020B0604020202020204" pitchFamily="34" charset="0"/>
              <a:buChar char="•"/>
            </a:pPr>
            <a:r>
              <a:rPr lang="en-US" sz="2000" b="1" i="0" dirty="0">
                <a:effectLst/>
                <a:latin typeface="+mj-lt"/>
              </a:rPr>
              <a:t>Uses historical and forecasted demand data to automate restocking</a:t>
            </a:r>
          </a:p>
          <a:p>
            <a:pPr marL="342900" indent="-342900">
              <a:buFont typeface="Arial" panose="020B0604020202020204" pitchFamily="34" charset="0"/>
              <a:buChar char="•"/>
            </a:pPr>
            <a:r>
              <a:rPr lang="en-US" sz="2000" b="1" i="0" dirty="0">
                <a:effectLst/>
                <a:latin typeface="+mj-lt"/>
              </a:rPr>
              <a:t>Complements the forecasting model by closing the loop on supply decisions</a:t>
            </a:r>
            <a:endParaRPr lang="en-US" sz="2000" b="1" dirty="0">
              <a:latin typeface="+mj-lt"/>
            </a:endParaRPr>
          </a:p>
        </p:txBody>
      </p:sp>
      <p:sp>
        <p:nvSpPr>
          <p:cNvPr id="8" name="TextBox 7">
            <a:extLst>
              <a:ext uri="{FF2B5EF4-FFF2-40B4-BE49-F238E27FC236}">
                <a16:creationId xmlns:a16="http://schemas.microsoft.com/office/drawing/2014/main" id="{1ACA63BB-86FF-B681-553B-BF7D5F35D865}"/>
              </a:ext>
            </a:extLst>
          </p:cNvPr>
          <p:cNvSpPr txBox="1"/>
          <p:nvPr/>
        </p:nvSpPr>
        <p:spPr>
          <a:xfrm>
            <a:off x="606318" y="3907156"/>
            <a:ext cx="6323071" cy="1754326"/>
          </a:xfrm>
          <a:prstGeom prst="rect">
            <a:avLst/>
          </a:prstGeom>
          <a:noFill/>
        </p:spPr>
        <p:txBody>
          <a:bodyPr wrap="square" rtlCol="0">
            <a:spAutoFit/>
          </a:bodyPr>
          <a:lstStyle/>
          <a:p>
            <a:r>
              <a:rPr lang="en-US" sz="2800" b="1" dirty="0">
                <a:solidFill>
                  <a:srgbClr val="283C95"/>
                </a:solidFill>
                <a:latin typeface="+mj-lt"/>
              </a:rPr>
              <a:t>Customer Purchase Pattern Analysis:</a:t>
            </a:r>
          </a:p>
          <a:p>
            <a:pPr marL="342900" indent="-342900">
              <a:buFont typeface="Arial" panose="020B0604020202020204" pitchFamily="34" charset="0"/>
              <a:buChar char="•"/>
            </a:pPr>
            <a:r>
              <a:rPr lang="en-US" sz="2000" b="1" i="0" dirty="0">
                <a:effectLst/>
                <a:latin typeface="+mj-lt"/>
              </a:rPr>
              <a:t>Understands buyer behavior to improve product placement and recommendations</a:t>
            </a:r>
          </a:p>
          <a:p>
            <a:pPr marL="342900" indent="-342900">
              <a:buFont typeface="Arial" panose="020B0604020202020204" pitchFamily="34" charset="0"/>
              <a:buChar char="•"/>
            </a:pPr>
            <a:r>
              <a:rPr lang="en-US" sz="2000" b="1" i="0" dirty="0">
                <a:effectLst/>
                <a:latin typeface="+mj-lt"/>
              </a:rPr>
              <a:t>Data feeds into demand models for more accurate forecasts</a:t>
            </a:r>
            <a:endParaRPr lang="en-US" sz="2000" b="1" dirty="0">
              <a:latin typeface="+mj-lt"/>
            </a:endParaRPr>
          </a:p>
        </p:txBody>
      </p:sp>
      <p:sp>
        <p:nvSpPr>
          <p:cNvPr id="9" name="TextBox 8">
            <a:extLst>
              <a:ext uri="{FF2B5EF4-FFF2-40B4-BE49-F238E27FC236}">
                <a16:creationId xmlns:a16="http://schemas.microsoft.com/office/drawing/2014/main" id="{27CB62F5-E123-8089-4C3E-0FDE252368B5}"/>
              </a:ext>
            </a:extLst>
          </p:cNvPr>
          <p:cNvSpPr txBox="1"/>
          <p:nvPr/>
        </p:nvSpPr>
        <p:spPr>
          <a:xfrm>
            <a:off x="6096000" y="1533535"/>
            <a:ext cx="5857461" cy="1754326"/>
          </a:xfrm>
          <a:prstGeom prst="rect">
            <a:avLst/>
          </a:prstGeom>
          <a:noFill/>
        </p:spPr>
        <p:txBody>
          <a:bodyPr wrap="square" rtlCol="0">
            <a:spAutoFit/>
          </a:bodyPr>
          <a:lstStyle/>
          <a:p>
            <a:r>
              <a:rPr lang="en-US" sz="2800" b="1" dirty="0">
                <a:solidFill>
                  <a:srgbClr val="283C95"/>
                </a:solidFill>
                <a:latin typeface="+mj-lt"/>
              </a:rPr>
              <a:t>Supply Chain Visibility Dashboard:</a:t>
            </a:r>
          </a:p>
          <a:p>
            <a:pPr marL="342900" indent="-342900">
              <a:buFont typeface="Arial" panose="020B0604020202020204" pitchFamily="34" charset="0"/>
              <a:buChar char="•"/>
            </a:pPr>
            <a:r>
              <a:rPr lang="en-US" sz="2000" b="1" i="0" dirty="0">
                <a:effectLst/>
                <a:latin typeface="+mj-lt"/>
              </a:rPr>
              <a:t>Real-time tracking of logistics and stock movement</a:t>
            </a:r>
          </a:p>
          <a:p>
            <a:pPr marL="342900" indent="-342900">
              <a:buFont typeface="Arial" panose="020B0604020202020204" pitchFamily="34" charset="0"/>
              <a:buChar char="•"/>
            </a:pPr>
            <a:r>
              <a:rPr lang="en-US" sz="2000" b="1" i="0" dirty="0">
                <a:effectLst/>
                <a:latin typeface="+mj-lt"/>
              </a:rPr>
              <a:t>Can integrate demand predictions for proactive planning</a:t>
            </a:r>
            <a:endParaRPr lang="en-US" sz="2000" b="1" dirty="0">
              <a:latin typeface="+mj-lt"/>
            </a:endParaRPr>
          </a:p>
        </p:txBody>
      </p:sp>
    </p:spTree>
    <p:extLst>
      <p:ext uri="{BB962C8B-B14F-4D97-AF65-F5344CB8AC3E}">
        <p14:creationId xmlns:p14="http://schemas.microsoft.com/office/powerpoint/2010/main" val="276752485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7DCDE-91C1-2695-0C0D-1C34DF5DF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7566B-8533-12F0-FFDB-A8A4486D2C91}"/>
              </a:ext>
            </a:extLst>
          </p:cNvPr>
          <p:cNvSpPr>
            <a:spLocks noGrp="1"/>
          </p:cNvSpPr>
          <p:nvPr>
            <p:ph type="title"/>
          </p:nvPr>
        </p:nvSpPr>
        <p:spPr>
          <a:xfrm>
            <a:off x="606318" y="214540"/>
            <a:ext cx="5952744" cy="1325563"/>
          </a:xfrm>
        </p:spPr>
        <p:txBody>
          <a:bodyPr/>
          <a:lstStyle/>
          <a:p>
            <a:r>
              <a:rPr lang="en-US" sz="4400" dirty="0">
                <a:solidFill>
                  <a:srgbClr val="283C95"/>
                </a:solidFill>
                <a:latin typeface="Aptos ExtraBold" panose="020B0004020202020204" pitchFamily="34" charset="0"/>
              </a:rPr>
              <a:t>02 </a:t>
            </a:r>
            <a:r>
              <a:rPr lang="en-US" dirty="0">
                <a:solidFill>
                  <a:srgbClr val="283C95"/>
                </a:solidFill>
                <a:latin typeface="Aptos ExtraBold" panose="020B0004020202020204" pitchFamily="34" charset="0"/>
              </a:rPr>
              <a:t>Dataset Overview</a:t>
            </a:r>
          </a:p>
        </p:txBody>
      </p:sp>
      <p:sp>
        <p:nvSpPr>
          <p:cNvPr id="3" name="Title 1">
            <a:extLst>
              <a:ext uri="{FF2B5EF4-FFF2-40B4-BE49-F238E27FC236}">
                <a16:creationId xmlns:a16="http://schemas.microsoft.com/office/drawing/2014/main" id="{E1B22A3F-310E-C358-436E-78E5B5D5B82D}"/>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6" name="TextBox 5">
            <a:extLst>
              <a:ext uri="{FF2B5EF4-FFF2-40B4-BE49-F238E27FC236}">
                <a16:creationId xmlns:a16="http://schemas.microsoft.com/office/drawing/2014/main" id="{113A19C7-6F12-C3E7-1729-3329F153C0A6}"/>
              </a:ext>
            </a:extLst>
          </p:cNvPr>
          <p:cNvSpPr txBox="1"/>
          <p:nvPr/>
        </p:nvSpPr>
        <p:spPr>
          <a:xfrm>
            <a:off x="606318" y="1540103"/>
            <a:ext cx="4264621" cy="1446550"/>
          </a:xfrm>
          <a:prstGeom prst="rect">
            <a:avLst/>
          </a:prstGeom>
          <a:noFill/>
        </p:spPr>
        <p:txBody>
          <a:bodyPr wrap="square" rtlCol="0">
            <a:spAutoFit/>
          </a:bodyPr>
          <a:lstStyle/>
          <a:p>
            <a:r>
              <a:rPr lang="en-US" sz="2800" b="1" dirty="0">
                <a:solidFill>
                  <a:srgbClr val="283C95"/>
                </a:solidFill>
                <a:latin typeface="+mj-lt"/>
              </a:rPr>
              <a:t>Data Source</a:t>
            </a:r>
            <a:endParaRPr lang="en-US" sz="2800" b="1" i="0" dirty="0">
              <a:solidFill>
                <a:srgbClr val="283C95"/>
              </a:solidFill>
              <a:effectLst/>
              <a:latin typeface="+mj-lt"/>
            </a:endParaRPr>
          </a:p>
          <a:p>
            <a:r>
              <a:rPr lang="en-US" sz="2000" b="1" i="0" dirty="0">
                <a:effectLst/>
                <a:latin typeface="+mj-lt"/>
              </a:rPr>
              <a:t>This dataset is real data of 9,800 records collected from a private </a:t>
            </a:r>
            <a:r>
              <a:rPr lang="en-US" sz="2000" b="1" dirty="0">
                <a:latin typeface="+mj-lt"/>
              </a:rPr>
              <a:t>Super Store</a:t>
            </a:r>
            <a:r>
              <a:rPr lang="en-US" sz="2000" b="1" i="0" dirty="0">
                <a:effectLst/>
                <a:latin typeface="+mj-lt"/>
              </a:rPr>
              <a:t> provider. </a:t>
            </a:r>
            <a:r>
              <a:rPr lang="en-US" sz="2000" b="1" i="0" dirty="0">
                <a:effectLst/>
                <a:latin typeface="+mj-lt"/>
                <a:hlinkClick r:id="rId2"/>
              </a:rPr>
              <a:t>Dataset Link</a:t>
            </a:r>
            <a:endParaRPr lang="en-US" sz="2000" b="1" dirty="0">
              <a:latin typeface="+mj-lt"/>
            </a:endParaRPr>
          </a:p>
        </p:txBody>
      </p:sp>
      <p:sp>
        <p:nvSpPr>
          <p:cNvPr id="7" name="TextBox 6">
            <a:extLst>
              <a:ext uri="{FF2B5EF4-FFF2-40B4-BE49-F238E27FC236}">
                <a16:creationId xmlns:a16="http://schemas.microsoft.com/office/drawing/2014/main" id="{A1741A91-A0C8-8FBE-5E60-349017E2001E}"/>
              </a:ext>
            </a:extLst>
          </p:cNvPr>
          <p:cNvSpPr txBox="1"/>
          <p:nvPr/>
        </p:nvSpPr>
        <p:spPr>
          <a:xfrm>
            <a:off x="5615354" y="1545274"/>
            <a:ext cx="6576646" cy="1415772"/>
          </a:xfrm>
          <a:prstGeom prst="rect">
            <a:avLst/>
          </a:prstGeom>
          <a:noFill/>
        </p:spPr>
        <p:txBody>
          <a:bodyPr wrap="square" rtlCol="0">
            <a:spAutoFit/>
          </a:bodyPr>
          <a:lstStyle/>
          <a:p>
            <a:r>
              <a:rPr lang="en-US" sz="2800" b="1" i="0" dirty="0">
                <a:solidFill>
                  <a:srgbClr val="283C95"/>
                </a:solidFill>
                <a:effectLst/>
                <a:latin typeface="+mj-lt"/>
              </a:rPr>
              <a:t>Challenges</a:t>
            </a:r>
            <a:endParaRPr lang="en-US" sz="2400" b="0" i="0" dirty="0">
              <a:solidFill>
                <a:srgbClr val="F8FAFF"/>
              </a:solidFill>
              <a:effectLst/>
              <a:latin typeface="Inter"/>
            </a:endParaRPr>
          </a:p>
          <a:p>
            <a:pPr marL="342900" indent="-342900">
              <a:buFontTx/>
              <a:buChar char="-"/>
            </a:pPr>
            <a:r>
              <a:rPr lang="en-US" sz="2000" b="1" i="0" dirty="0">
                <a:effectLst/>
                <a:latin typeface="+mj-lt"/>
              </a:rPr>
              <a:t>Imbalanced distributions in </a:t>
            </a:r>
            <a:r>
              <a:rPr lang="en-US" sz="2000" b="1" dirty="0">
                <a:latin typeface="+mj-lt"/>
              </a:rPr>
              <a:t>Target Sales</a:t>
            </a:r>
            <a:r>
              <a:rPr lang="en-US" sz="2000" b="1" i="0" dirty="0">
                <a:effectLst/>
                <a:latin typeface="+mj-lt"/>
              </a:rPr>
              <a:t>.</a:t>
            </a:r>
          </a:p>
          <a:p>
            <a:pPr marL="342900" indent="-342900">
              <a:buFontTx/>
              <a:buChar char="-"/>
            </a:pPr>
            <a:r>
              <a:rPr lang="en-US" sz="2000" b="1" dirty="0">
                <a:latin typeface="+mj-lt"/>
              </a:rPr>
              <a:t>Outliers Termination</a:t>
            </a:r>
            <a:endParaRPr lang="en-US" sz="2000" b="1" i="0" dirty="0">
              <a:effectLst/>
              <a:latin typeface="+mj-lt"/>
            </a:endParaRPr>
          </a:p>
          <a:p>
            <a:endParaRPr lang="en-US" b="1" dirty="0">
              <a:latin typeface="+mj-lt"/>
            </a:endParaRPr>
          </a:p>
        </p:txBody>
      </p:sp>
      <p:sp>
        <p:nvSpPr>
          <p:cNvPr id="11" name="TextBox 10">
            <a:extLst>
              <a:ext uri="{FF2B5EF4-FFF2-40B4-BE49-F238E27FC236}">
                <a16:creationId xmlns:a16="http://schemas.microsoft.com/office/drawing/2014/main" id="{BCA730AF-9B26-62CF-23FB-BD0A4768143A}"/>
              </a:ext>
            </a:extLst>
          </p:cNvPr>
          <p:cNvSpPr txBox="1"/>
          <p:nvPr/>
        </p:nvSpPr>
        <p:spPr>
          <a:xfrm>
            <a:off x="606318" y="3429000"/>
            <a:ext cx="6404082" cy="2431435"/>
          </a:xfrm>
          <a:prstGeom prst="rect">
            <a:avLst/>
          </a:prstGeom>
          <a:noFill/>
        </p:spPr>
        <p:txBody>
          <a:bodyPr wrap="square" rtlCol="0">
            <a:spAutoFit/>
          </a:bodyPr>
          <a:lstStyle/>
          <a:p>
            <a:r>
              <a:rPr lang="en-US" sz="2800" b="1" dirty="0">
                <a:solidFill>
                  <a:srgbClr val="283C95"/>
                </a:solidFill>
                <a:latin typeface="+mj-lt"/>
              </a:rPr>
              <a:t>Key Features</a:t>
            </a:r>
            <a:endParaRPr lang="en-US" sz="2400" b="1" i="0" dirty="0">
              <a:solidFill>
                <a:srgbClr val="F8FAFF"/>
              </a:solidFill>
              <a:effectLst/>
              <a:latin typeface="Inter"/>
            </a:endParaRPr>
          </a:p>
          <a:p>
            <a:r>
              <a:rPr kumimoji="0" lang="en-US" altLang="en-US" sz="2000" b="1" i="0" u="none" strike="noStrike" cap="none" normalizeH="0" baseline="0" dirty="0">
                <a:ln>
                  <a:noFill/>
                </a:ln>
                <a:effectLst/>
                <a:latin typeface="+mj-lt"/>
              </a:rPr>
              <a:t>- </a:t>
            </a:r>
            <a:r>
              <a:rPr lang="en-US" altLang="en-US" sz="2000" b="1" i="1" u="sng" dirty="0">
                <a:latin typeface="+mj-lt"/>
              </a:rPr>
              <a:t>Sales</a:t>
            </a:r>
            <a:r>
              <a:rPr kumimoji="0" lang="en-US" altLang="en-US" sz="2000" b="1" i="1" u="sng" strike="noStrike" cap="none" normalizeH="0" baseline="0" dirty="0">
                <a:ln>
                  <a:noFill/>
                </a:ln>
                <a:effectLst/>
                <a:latin typeface="+mj-lt"/>
              </a:rPr>
              <a:t>: </a:t>
            </a:r>
            <a:r>
              <a:rPr kumimoji="0" lang="en-US" altLang="en-US" sz="2000" i="1" u="sng" strike="noStrike" cap="none" normalizeH="0" baseline="0" dirty="0">
                <a:ln>
                  <a:noFill/>
                </a:ln>
                <a:effectLst/>
                <a:latin typeface="+mj-lt"/>
              </a:rPr>
              <a:t> </a:t>
            </a:r>
            <a:r>
              <a:rPr lang="en-US" altLang="en-US" sz="2000" dirty="0">
                <a:latin typeface="+mj-lt"/>
              </a:rPr>
              <a:t>Target </a:t>
            </a:r>
            <a:r>
              <a:rPr lang="en-US" altLang="en-US" sz="2000" dirty="0" err="1">
                <a:latin typeface="+mj-lt"/>
              </a:rPr>
              <a:t>variable</a:t>
            </a:r>
            <a:r>
              <a:rPr kumimoji="0" lang="en-US" altLang="en-US" sz="2000" i="0" u="none" strike="noStrike" cap="none" normalizeH="0" baseline="0" dirty="0" err="1">
                <a:ln>
                  <a:noFill/>
                </a:ln>
                <a:effectLst/>
                <a:latin typeface="+mj-lt"/>
              </a:rPr>
              <a:t>.</a:t>
            </a:r>
            <a:r>
              <a:rPr lang="en-US" sz="2000" b="1" i="0" dirty="0" err="1">
                <a:solidFill>
                  <a:srgbClr val="F8FAFF"/>
                </a:solidFill>
                <a:effectLst/>
                <a:latin typeface="Inter"/>
              </a:rPr>
              <a:t>stions</a:t>
            </a:r>
            <a:r>
              <a:rPr lang="en-US" sz="2400" b="0" i="0" dirty="0">
                <a:solidFill>
                  <a:srgbClr val="F8FAFF"/>
                </a:solidFill>
                <a:effectLst/>
                <a:latin typeface="Inter"/>
              </a:rPr>
              <a:t>:</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mj-lt"/>
              </a:rPr>
              <a:t>- </a:t>
            </a:r>
            <a:r>
              <a:rPr lang="en-US" sz="2000" b="1" i="1" u="sng" dirty="0"/>
              <a:t>Time-Based Features</a:t>
            </a:r>
            <a:r>
              <a:rPr kumimoji="0" lang="en-US" altLang="en-US" sz="2000" b="1" i="0" u="sng" strike="noStrike" cap="none" normalizeH="0" baseline="0" dirty="0">
                <a:ln>
                  <a:noFill/>
                </a:ln>
                <a:effectLst/>
                <a:latin typeface="+mj-lt"/>
              </a:rPr>
              <a:t>:  </a:t>
            </a:r>
            <a:r>
              <a:rPr kumimoji="0" lang="en-US" altLang="en-US" sz="2000" i="0" strike="noStrike" cap="none" normalizeH="0" baseline="0" dirty="0">
                <a:ln>
                  <a:noFill/>
                </a:ln>
                <a:effectLst/>
                <a:latin typeface="+mj-lt"/>
              </a:rPr>
              <a:t>Order Date &amp; Ship Date</a:t>
            </a:r>
            <a:r>
              <a:rPr kumimoji="0" lang="en-US" altLang="en-US" sz="2000" i="0" u="none" strike="noStrike" cap="none" normalizeH="0" baseline="0" dirty="0">
                <a:ln>
                  <a:noFill/>
                </a:ln>
                <a:effectLst/>
                <a:latin typeface="+mj-lt"/>
              </a:rPr>
              <a:t>.</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mj-lt"/>
              </a:rPr>
              <a:t>- </a:t>
            </a:r>
            <a:r>
              <a:rPr lang="en-US" altLang="en-US" sz="2000" b="1" u="sng" dirty="0">
                <a:latin typeface="+mj-lt"/>
              </a:rPr>
              <a:t>Product Name</a:t>
            </a:r>
            <a:r>
              <a:rPr kumimoji="0" lang="en-US" altLang="en-US" sz="2000" b="1" i="0" u="sng" strike="noStrike" cap="none" normalizeH="0" baseline="0" dirty="0">
                <a:ln>
                  <a:noFill/>
                </a:ln>
                <a:effectLst/>
                <a:latin typeface="+mj-lt"/>
              </a:rPr>
              <a:t>:  </a:t>
            </a:r>
            <a:r>
              <a:rPr kumimoji="0" lang="en-US" altLang="en-US" sz="2000" i="0" strike="noStrike" cap="none" normalizeH="0" baseline="0" dirty="0" err="1">
                <a:ln>
                  <a:noFill/>
                </a:ln>
                <a:effectLst/>
                <a:latin typeface="+mj-lt"/>
              </a:rPr>
              <a:t>Identfier</a:t>
            </a:r>
            <a:r>
              <a:rPr kumimoji="0" lang="en-US" altLang="en-US" sz="2000" i="0" strike="noStrike" cap="none" normalizeH="0" baseline="0" dirty="0">
                <a:ln>
                  <a:noFill/>
                </a:ln>
                <a:effectLst/>
                <a:latin typeface="+mj-lt"/>
              </a:rPr>
              <a:t> for each product</a:t>
            </a:r>
            <a:r>
              <a:rPr kumimoji="0" lang="en-US" altLang="en-US" sz="2000" i="0" u="none" strike="noStrike" cap="none" normalizeH="0" baseline="0" dirty="0">
                <a:ln>
                  <a:noFill/>
                </a:ln>
                <a:effectLst/>
                <a:latin typeface="+mj-lt"/>
              </a:rPr>
              <a:t>.</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mj-lt"/>
              </a:rPr>
              <a:t>- </a:t>
            </a:r>
            <a:r>
              <a:rPr lang="en-US" altLang="en-US" sz="2000" b="1" u="sng" dirty="0">
                <a:latin typeface="+mj-lt"/>
              </a:rPr>
              <a:t>Category</a:t>
            </a:r>
            <a:r>
              <a:rPr kumimoji="0" lang="en-US" altLang="en-US" sz="2000" b="1" i="0" u="sng" strike="noStrike" cap="none" normalizeH="0" baseline="0" dirty="0">
                <a:ln>
                  <a:noFill/>
                </a:ln>
                <a:effectLst/>
                <a:latin typeface="+mj-lt"/>
              </a:rPr>
              <a:t>:  </a:t>
            </a:r>
            <a:r>
              <a:rPr kumimoji="0" lang="en-US" altLang="en-US" sz="2000" i="0" strike="noStrike" cap="none" normalizeH="0" baseline="0" dirty="0">
                <a:ln>
                  <a:noFill/>
                </a:ln>
                <a:effectLst/>
                <a:latin typeface="+mj-lt"/>
              </a:rPr>
              <a:t>Product Category</a:t>
            </a:r>
            <a:r>
              <a:rPr kumimoji="0" lang="en-US" altLang="en-US" sz="2000" i="0" u="none" strike="noStrike" cap="none" normalizeH="0" baseline="0" dirty="0">
                <a:ln>
                  <a:noFill/>
                </a:ln>
                <a:effectLst/>
                <a:latin typeface="+mj-lt"/>
              </a:rPr>
              <a:t>.</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effectLst/>
                <a:latin typeface="+mj-lt"/>
              </a:rPr>
              <a:t>- </a:t>
            </a:r>
            <a:r>
              <a:rPr lang="en-US" altLang="en-US" sz="2000" b="1" u="sng" dirty="0">
                <a:latin typeface="+mj-lt"/>
              </a:rPr>
              <a:t>Region, State &amp; City</a:t>
            </a:r>
            <a:r>
              <a:rPr kumimoji="0" lang="en-US" altLang="en-US" sz="2000" b="1" i="0" u="sng" strike="noStrike" cap="none" normalizeH="0" baseline="0" dirty="0">
                <a:ln>
                  <a:noFill/>
                </a:ln>
                <a:effectLst/>
                <a:latin typeface="+mj-lt"/>
              </a:rPr>
              <a:t>: </a:t>
            </a:r>
            <a:r>
              <a:rPr kumimoji="0" lang="en-US" altLang="en-US" sz="2000" i="0" strike="noStrike" cap="none" normalizeH="0" baseline="0" dirty="0">
                <a:ln>
                  <a:noFill/>
                </a:ln>
                <a:effectLst/>
                <a:latin typeface="+mj-lt"/>
              </a:rPr>
              <a:t>Geographical Features</a:t>
            </a:r>
            <a:r>
              <a:rPr kumimoji="0" lang="en-US" altLang="en-US" sz="2000" i="0" u="none" strike="noStrike" cap="none" normalizeH="0" baseline="0" dirty="0">
                <a:ln>
                  <a:noFill/>
                </a:ln>
                <a:effectLst/>
                <a:latin typeface="+mj-lt"/>
              </a:rPr>
              <a:t>.</a:t>
            </a:r>
          </a:p>
          <a:p>
            <a:pPr algn="l"/>
            <a:endParaRPr lang="en-US" sz="2000" b="1" i="0" dirty="0">
              <a:effectLst/>
              <a:latin typeface="+mj-lt"/>
            </a:endParaRPr>
          </a:p>
        </p:txBody>
      </p:sp>
      <p:cxnSp>
        <p:nvCxnSpPr>
          <p:cNvPr id="41" name="Straight Connector 40">
            <a:extLst>
              <a:ext uri="{FF2B5EF4-FFF2-40B4-BE49-F238E27FC236}">
                <a16:creationId xmlns:a16="http://schemas.microsoft.com/office/drawing/2014/main" id="{1671CDA4-EDD7-6022-9D08-E0050406F115}"/>
              </a:ext>
            </a:extLst>
          </p:cNvPr>
          <p:cNvCxnSpPr/>
          <p:nvPr/>
        </p:nvCxnSpPr>
        <p:spPr>
          <a:xfrm flipV="1">
            <a:off x="9601200" y="4032738"/>
            <a:ext cx="3083169" cy="293077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5F1B19C5-C67C-2126-D1BD-14FBC35351B1}"/>
              </a:ext>
            </a:extLst>
          </p:cNvPr>
          <p:cNvCxnSpPr/>
          <p:nvPr/>
        </p:nvCxnSpPr>
        <p:spPr>
          <a:xfrm flipH="1" flipV="1">
            <a:off x="9976338" y="-339969"/>
            <a:ext cx="2708031" cy="201038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10126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881D4-87F7-07CA-51FD-D7A3B0744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21874-A4CA-0C7F-DF7A-6A701BFD00B7}"/>
              </a:ext>
            </a:extLst>
          </p:cNvPr>
          <p:cNvSpPr>
            <a:spLocks noGrp="1"/>
          </p:cNvSpPr>
          <p:nvPr>
            <p:ph type="title"/>
          </p:nvPr>
        </p:nvSpPr>
        <p:spPr>
          <a:xfrm>
            <a:off x="606318" y="214540"/>
            <a:ext cx="10515600" cy="1325563"/>
          </a:xfrm>
        </p:spPr>
        <p:txBody>
          <a:bodyPr/>
          <a:lstStyle/>
          <a:p>
            <a:r>
              <a:rPr lang="en-US" sz="4400" dirty="0">
                <a:solidFill>
                  <a:srgbClr val="283C95"/>
                </a:solidFill>
                <a:latin typeface="Aptos ExtraBold" panose="020B0004020202020204" pitchFamily="34" charset="0"/>
              </a:rPr>
              <a:t>03 Data Cleaning and Preprocessing</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5FEABBC5-6664-1CE6-8EC8-76B55DB45BCF}"/>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4" name="TextBox 3">
            <a:extLst>
              <a:ext uri="{FF2B5EF4-FFF2-40B4-BE49-F238E27FC236}">
                <a16:creationId xmlns:a16="http://schemas.microsoft.com/office/drawing/2014/main" id="{B19C7A69-CFE8-DC2E-9787-75CB17616EF9}"/>
              </a:ext>
            </a:extLst>
          </p:cNvPr>
          <p:cNvSpPr txBox="1"/>
          <p:nvPr/>
        </p:nvSpPr>
        <p:spPr>
          <a:xfrm>
            <a:off x="606318" y="1343650"/>
            <a:ext cx="4469774" cy="523220"/>
          </a:xfrm>
          <a:prstGeom prst="rect">
            <a:avLst/>
          </a:prstGeom>
          <a:noFill/>
        </p:spPr>
        <p:txBody>
          <a:bodyPr wrap="square" rtlCol="0">
            <a:spAutoFit/>
          </a:bodyPr>
          <a:lstStyle/>
          <a:p>
            <a:r>
              <a:rPr lang="en-US" sz="2800" b="1" dirty="0">
                <a:solidFill>
                  <a:schemeClr val="tx1">
                    <a:lumMod val="75000"/>
                    <a:lumOff val="25000"/>
                  </a:schemeClr>
                </a:solidFill>
              </a:rPr>
              <a:t>Columns Manipulation</a:t>
            </a:r>
          </a:p>
        </p:txBody>
      </p:sp>
      <p:sp>
        <p:nvSpPr>
          <p:cNvPr id="6" name="TextBox 5">
            <a:extLst>
              <a:ext uri="{FF2B5EF4-FFF2-40B4-BE49-F238E27FC236}">
                <a16:creationId xmlns:a16="http://schemas.microsoft.com/office/drawing/2014/main" id="{5605BE84-4A24-915B-86D7-4F4758058585}"/>
              </a:ext>
            </a:extLst>
          </p:cNvPr>
          <p:cNvSpPr txBox="1"/>
          <p:nvPr/>
        </p:nvSpPr>
        <p:spPr>
          <a:xfrm>
            <a:off x="606318" y="2799526"/>
            <a:ext cx="7341928" cy="1200329"/>
          </a:xfrm>
          <a:prstGeom prst="rect">
            <a:avLst/>
          </a:prstGeom>
          <a:noFill/>
        </p:spPr>
        <p:txBody>
          <a:bodyPr wrap="square" rtlCol="0">
            <a:spAutoFit/>
          </a:bodyPr>
          <a:lstStyle/>
          <a:p>
            <a:r>
              <a:rPr lang="en-US" sz="2400" b="1" dirty="0">
                <a:effectLst/>
                <a:latin typeface="+mj-lt"/>
              </a:rPr>
              <a:t>Removed The identifier columns that </a:t>
            </a:r>
            <a:r>
              <a:rPr lang="en-US" sz="2400" b="1" dirty="0">
                <a:latin typeface="+mj-lt"/>
              </a:rPr>
              <a:t>we</a:t>
            </a:r>
            <a:r>
              <a:rPr lang="en-US" sz="2400" b="1" dirty="0">
                <a:effectLst/>
                <a:latin typeface="+mj-lt"/>
              </a:rPr>
              <a:t>re </a:t>
            </a:r>
            <a:r>
              <a:rPr lang="en-US" sz="2400" b="1" dirty="0" err="1">
                <a:effectLst/>
                <a:latin typeface="+mj-lt"/>
              </a:rPr>
              <a:t>unrelevant</a:t>
            </a:r>
            <a:r>
              <a:rPr lang="en-US" sz="2400" b="1" dirty="0">
                <a:effectLst/>
                <a:latin typeface="+mj-lt"/>
              </a:rPr>
              <a:t> to the Analysis </a:t>
            </a:r>
            <a:r>
              <a:rPr lang="en-US" sz="2400" b="1" u="sng" dirty="0">
                <a:effectLst/>
                <a:latin typeface="+mj-lt"/>
              </a:rPr>
              <a:t>Row ID</a:t>
            </a:r>
            <a:r>
              <a:rPr lang="en-US" sz="2400" b="1" dirty="0">
                <a:effectLst/>
                <a:latin typeface="+mj-lt"/>
              </a:rPr>
              <a:t>,  </a:t>
            </a:r>
            <a:r>
              <a:rPr lang="en-US" sz="2400" b="1" u="sng" dirty="0">
                <a:latin typeface="+mj-lt"/>
              </a:rPr>
              <a:t>Customer </a:t>
            </a:r>
            <a:r>
              <a:rPr lang="en-US" sz="2400" b="1" u="sng" dirty="0">
                <a:effectLst/>
                <a:latin typeface="+mj-lt"/>
              </a:rPr>
              <a:t>ID &amp;</a:t>
            </a:r>
            <a:r>
              <a:rPr lang="en-US" sz="2400" b="1" dirty="0">
                <a:latin typeface="+mj-lt"/>
              </a:rPr>
              <a:t> </a:t>
            </a:r>
            <a:r>
              <a:rPr lang="en-US" sz="2400" b="1" dirty="0">
                <a:effectLst/>
                <a:latin typeface="+mj-lt"/>
              </a:rPr>
              <a:t> </a:t>
            </a:r>
            <a:r>
              <a:rPr lang="en-US" sz="2400" b="1" u="sng" dirty="0">
                <a:effectLst/>
                <a:latin typeface="+mj-lt"/>
              </a:rPr>
              <a:t>Product ID</a:t>
            </a:r>
          </a:p>
          <a:p>
            <a:endParaRPr lang="en-US" sz="2400" b="1" dirty="0">
              <a:latin typeface="+mj-lt"/>
            </a:endParaRPr>
          </a:p>
        </p:txBody>
      </p:sp>
      <p:pic>
        <p:nvPicPr>
          <p:cNvPr id="8" name="Picture 7" descr="A black background with a black square&#10;&#10;AI-generated content may be incorrect.">
            <a:extLst>
              <a:ext uri="{FF2B5EF4-FFF2-40B4-BE49-F238E27FC236}">
                <a16:creationId xmlns:a16="http://schemas.microsoft.com/office/drawing/2014/main" id="{71EFDA0E-BE96-5687-C630-0EB415E15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5511" y="3684049"/>
            <a:ext cx="2146407" cy="2146407"/>
          </a:xfrm>
          <a:prstGeom prst="rect">
            <a:avLst/>
          </a:prstGeom>
        </p:spPr>
      </p:pic>
    </p:spTree>
    <p:extLst>
      <p:ext uri="{BB962C8B-B14F-4D97-AF65-F5344CB8AC3E}">
        <p14:creationId xmlns:p14="http://schemas.microsoft.com/office/powerpoint/2010/main" val="66300189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430BD-45AD-57BE-41ED-8B733966A2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D07D9-15E4-1334-03B6-9CA5CE82B81A}"/>
              </a:ext>
            </a:extLst>
          </p:cNvPr>
          <p:cNvSpPr>
            <a:spLocks noGrp="1"/>
          </p:cNvSpPr>
          <p:nvPr>
            <p:ph type="title"/>
          </p:nvPr>
        </p:nvSpPr>
        <p:spPr>
          <a:xfrm>
            <a:off x="606318" y="214540"/>
            <a:ext cx="10515600" cy="1325563"/>
          </a:xfrm>
        </p:spPr>
        <p:txBody>
          <a:bodyPr/>
          <a:lstStyle/>
          <a:p>
            <a:r>
              <a:rPr lang="en-US" sz="4400" dirty="0">
                <a:solidFill>
                  <a:srgbClr val="283C95"/>
                </a:solidFill>
                <a:latin typeface="Aptos ExtraBold" panose="020B0004020202020204" pitchFamily="34" charset="0"/>
              </a:rPr>
              <a:t>03 Data Cleaning and Preprocessing</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04BD6743-24AF-44C7-0392-11BBA2413740}"/>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4" name="TextBox 3">
            <a:extLst>
              <a:ext uri="{FF2B5EF4-FFF2-40B4-BE49-F238E27FC236}">
                <a16:creationId xmlns:a16="http://schemas.microsoft.com/office/drawing/2014/main" id="{FFCEBCB6-DA6C-4688-1BE9-5292DA474EB6}"/>
              </a:ext>
            </a:extLst>
          </p:cNvPr>
          <p:cNvSpPr txBox="1"/>
          <p:nvPr/>
        </p:nvSpPr>
        <p:spPr>
          <a:xfrm>
            <a:off x="606318" y="1343650"/>
            <a:ext cx="2655277" cy="523220"/>
          </a:xfrm>
          <a:prstGeom prst="rect">
            <a:avLst/>
          </a:prstGeom>
          <a:noFill/>
        </p:spPr>
        <p:txBody>
          <a:bodyPr wrap="square" rtlCol="0">
            <a:spAutoFit/>
          </a:bodyPr>
          <a:lstStyle/>
          <a:p>
            <a:r>
              <a:rPr lang="en-US" sz="2800" b="1" dirty="0">
                <a:solidFill>
                  <a:schemeClr val="tx1">
                    <a:lumMod val="75000"/>
                    <a:lumOff val="25000"/>
                  </a:schemeClr>
                </a:solidFill>
              </a:rPr>
              <a:t>Outliers</a:t>
            </a:r>
          </a:p>
        </p:txBody>
      </p:sp>
      <p:pic>
        <p:nvPicPr>
          <p:cNvPr id="7" name="Picture 6" descr="A graph with a line graph&#10;&#10;AI-generated content may be incorrect.">
            <a:extLst>
              <a:ext uri="{FF2B5EF4-FFF2-40B4-BE49-F238E27FC236}">
                <a16:creationId xmlns:a16="http://schemas.microsoft.com/office/drawing/2014/main" id="{7E551A52-AE9B-EE09-1B0D-43B7C68E97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0797" y="2007546"/>
            <a:ext cx="4919461" cy="3842268"/>
          </a:xfrm>
          <a:prstGeom prst="rect">
            <a:avLst/>
          </a:prstGeom>
        </p:spPr>
      </p:pic>
      <p:sp>
        <p:nvSpPr>
          <p:cNvPr id="10" name="TextBox 9">
            <a:extLst>
              <a:ext uri="{FF2B5EF4-FFF2-40B4-BE49-F238E27FC236}">
                <a16:creationId xmlns:a16="http://schemas.microsoft.com/office/drawing/2014/main" id="{A00A2C3B-7F83-421D-EB5A-ABB8A09DF300}"/>
              </a:ext>
            </a:extLst>
          </p:cNvPr>
          <p:cNvSpPr txBox="1"/>
          <p:nvPr/>
        </p:nvSpPr>
        <p:spPr>
          <a:xfrm>
            <a:off x="632695" y="2538900"/>
            <a:ext cx="5257800" cy="1200329"/>
          </a:xfrm>
          <a:prstGeom prst="rect">
            <a:avLst/>
          </a:prstGeom>
          <a:noFill/>
        </p:spPr>
        <p:txBody>
          <a:bodyPr wrap="square" rtlCol="0">
            <a:spAutoFit/>
          </a:bodyPr>
          <a:lstStyle/>
          <a:p>
            <a:r>
              <a:rPr lang="en-US" sz="2400" b="1" dirty="0"/>
              <a:t>The Analysis Showed an Imbalance in the Distribution of Target Variable “Sales”</a:t>
            </a:r>
          </a:p>
        </p:txBody>
      </p:sp>
      <p:sp>
        <p:nvSpPr>
          <p:cNvPr id="11" name="TextBox 10">
            <a:extLst>
              <a:ext uri="{FF2B5EF4-FFF2-40B4-BE49-F238E27FC236}">
                <a16:creationId xmlns:a16="http://schemas.microsoft.com/office/drawing/2014/main" id="{510DEA5D-C50B-14EF-FC5C-C5973C3485B4}"/>
              </a:ext>
            </a:extLst>
          </p:cNvPr>
          <p:cNvSpPr txBox="1"/>
          <p:nvPr/>
        </p:nvSpPr>
        <p:spPr>
          <a:xfrm>
            <a:off x="632695" y="4133238"/>
            <a:ext cx="5257800" cy="1569660"/>
          </a:xfrm>
          <a:prstGeom prst="rect">
            <a:avLst/>
          </a:prstGeom>
          <a:noFill/>
        </p:spPr>
        <p:txBody>
          <a:bodyPr wrap="square" rtlCol="0">
            <a:spAutoFit/>
          </a:bodyPr>
          <a:lstStyle/>
          <a:p>
            <a:r>
              <a:rPr lang="en-US" sz="2400" b="1" dirty="0"/>
              <a:t>Which was Eliminated Using </a:t>
            </a:r>
            <a:r>
              <a:rPr lang="en-US" sz="2400" b="1" dirty="0">
                <a:effectLst/>
              </a:rPr>
              <a:t>Feature Scaling (Normalization &amp; Standardization)</a:t>
            </a:r>
          </a:p>
          <a:p>
            <a:endParaRPr lang="en-US" sz="2400" b="1" dirty="0"/>
          </a:p>
        </p:txBody>
      </p:sp>
    </p:spTree>
    <p:extLst>
      <p:ext uri="{BB962C8B-B14F-4D97-AF65-F5344CB8AC3E}">
        <p14:creationId xmlns:p14="http://schemas.microsoft.com/office/powerpoint/2010/main" val="34013801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C5CB5-F09B-75CD-9B78-D00C0D8F7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18C1C-24C9-2617-7644-44003871835B}"/>
              </a:ext>
            </a:extLst>
          </p:cNvPr>
          <p:cNvSpPr>
            <a:spLocks noGrp="1"/>
          </p:cNvSpPr>
          <p:nvPr>
            <p:ph type="title"/>
          </p:nvPr>
        </p:nvSpPr>
        <p:spPr>
          <a:xfrm>
            <a:off x="606318" y="214540"/>
            <a:ext cx="10515600" cy="1325563"/>
          </a:xfrm>
        </p:spPr>
        <p:txBody>
          <a:bodyPr/>
          <a:lstStyle/>
          <a:p>
            <a:r>
              <a:rPr lang="en-US" sz="4400" dirty="0">
                <a:solidFill>
                  <a:srgbClr val="283C95"/>
                </a:solidFill>
                <a:latin typeface="Aptos ExtraBold" panose="020B0004020202020204" pitchFamily="34" charset="0"/>
              </a:rPr>
              <a:t>03 Data Cleaning and Preprocessing</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36E8E5A8-A303-EB44-953E-03278CE89478}"/>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4" name="TextBox 3">
            <a:extLst>
              <a:ext uri="{FF2B5EF4-FFF2-40B4-BE49-F238E27FC236}">
                <a16:creationId xmlns:a16="http://schemas.microsoft.com/office/drawing/2014/main" id="{9DC6492E-291F-1323-7C53-0D2C37E388CF}"/>
              </a:ext>
            </a:extLst>
          </p:cNvPr>
          <p:cNvSpPr txBox="1"/>
          <p:nvPr/>
        </p:nvSpPr>
        <p:spPr>
          <a:xfrm>
            <a:off x="606318" y="1343650"/>
            <a:ext cx="3426420" cy="523220"/>
          </a:xfrm>
          <a:prstGeom prst="rect">
            <a:avLst/>
          </a:prstGeom>
          <a:noFill/>
        </p:spPr>
        <p:txBody>
          <a:bodyPr wrap="square" rtlCol="0">
            <a:spAutoFit/>
          </a:bodyPr>
          <a:lstStyle/>
          <a:p>
            <a:r>
              <a:rPr lang="en-US" sz="2800" b="1" dirty="0">
                <a:solidFill>
                  <a:schemeClr val="tx1">
                    <a:lumMod val="75000"/>
                    <a:lumOff val="25000"/>
                  </a:schemeClr>
                </a:solidFill>
              </a:rPr>
              <a:t>Feature Engineering</a:t>
            </a:r>
          </a:p>
        </p:txBody>
      </p:sp>
      <p:sp>
        <p:nvSpPr>
          <p:cNvPr id="11" name="TextBox 10">
            <a:extLst>
              <a:ext uri="{FF2B5EF4-FFF2-40B4-BE49-F238E27FC236}">
                <a16:creationId xmlns:a16="http://schemas.microsoft.com/office/drawing/2014/main" id="{E349E6CD-4AB5-724B-0E48-19EA42D8FECB}"/>
              </a:ext>
            </a:extLst>
          </p:cNvPr>
          <p:cNvSpPr txBox="1"/>
          <p:nvPr/>
        </p:nvSpPr>
        <p:spPr>
          <a:xfrm>
            <a:off x="606318" y="2384027"/>
            <a:ext cx="9358297" cy="830997"/>
          </a:xfrm>
          <a:prstGeom prst="rect">
            <a:avLst/>
          </a:prstGeom>
          <a:noFill/>
        </p:spPr>
        <p:txBody>
          <a:bodyPr wrap="square" rtlCol="0">
            <a:spAutoFit/>
          </a:bodyPr>
          <a:lstStyle/>
          <a:p>
            <a:pPr marL="342900" indent="-342900">
              <a:buFont typeface="Arial" panose="020B0604020202020204" pitchFamily="34" charset="0"/>
              <a:buChar char="•"/>
            </a:pPr>
            <a:r>
              <a:rPr lang="en-US" sz="2400" b="1" dirty="0"/>
              <a:t>Encoded Categorical Variables (One-Hot &amp; Label Encoding): Ship Mode, Segment …etc.</a:t>
            </a:r>
          </a:p>
        </p:txBody>
      </p:sp>
      <p:sp>
        <p:nvSpPr>
          <p:cNvPr id="5" name="TextBox 4">
            <a:extLst>
              <a:ext uri="{FF2B5EF4-FFF2-40B4-BE49-F238E27FC236}">
                <a16:creationId xmlns:a16="http://schemas.microsoft.com/office/drawing/2014/main" id="{277E6449-ACF5-1426-07C3-A4B49EF5332A}"/>
              </a:ext>
            </a:extLst>
          </p:cNvPr>
          <p:cNvSpPr txBox="1"/>
          <p:nvPr/>
        </p:nvSpPr>
        <p:spPr>
          <a:xfrm>
            <a:off x="606317" y="3342891"/>
            <a:ext cx="9358297" cy="1200329"/>
          </a:xfrm>
          <a:prstGeom prst="rect">
            <a:avLst/>
          </a:prstGeom>
          <a:noFill/>
        </p:spPr>
        <p:txBody>
          <a:bodyPr wrap="square" rtlCol="0">
            <a:spAutoFit/>
          </a:bodyPr>
          <a:lstStyle/>
          <a:p>
            <a:pPr marL="342900" indent="-342900">
              <a:buFont typeface="Arial" panose="020B0604020202020204" pitchFamily="34" charset="0"/>
              <a:buChar char="•"/>
            </a:pPr>
            <a:r>
              <a:rPr lang="en-US" sz="2400" b="1" dirty="0"/>
              <a:t>Maintained a Unified Date Format across features “</a:t>
            </a:r>
            <a:r>
              <a:rPr lang="en-US" sz="2400" b="0" dirty="0">
                <a:effectLst/>
              </a:rPr>
              <a:t>%d/%m/%Y”.</a:t>
            </a:r>
            <a:r>
              <a:rPr lang="en-US" sz="2400" b="1" dirty="0"/>
              <a:t> And extracted Temporal features from the date column (</a:t>
            </a:r>
            <a:r>
              <a:rPr lang="en-US" sz="2000" dirty="0"/>
              <a:t>Day, Month, Year</a:t>
            </a:r>
            <a:r>
              <a:rPr lang="en-US" sz="2400" b="1" dirty="0"/>
              <a:t>)</a:t>
            </a:r>
          </a:p>
        </p:txBody>
      </p:sp>
      <p:sp>
        <p:nvSpPr>
          <p:cNvPr id="6" name="TextBox 5">
            <a:extLst>
              <a:ext uri="{FF2B5EF4-FFF2-40B4-BE49-F238E27FC236}">
                <a16:creationId xmlns:a16="http://schemas.microsoft.com/office/drawing/2014/main" id="{1A2DA8D0-6996-0865-0D9B-C9FB1881B850}"/>
              </a:ext>
            </a:extLst>
          </p:cNvPr>
          <p:cNvSpPr txBox="1"/>
          <p:nvPr/>
        </p:nvSpPr>
        <p:spPr>
          <a:xfrm>
            <a:off x="606317" y="4612472"/>
            <a:ext cx="9358297" cy="461665"/>
          </a:xfrm>
          <a:prstGeom prst="rect">
            <a:avLst/>
          </a:prstGeom>
          <a:noFill/>
        </p:spPr>
        <p:txBody>
          <a:bodyPr wrap="square" rtlCol="0">
            <a:spAutoFit/>
          </a:bodyPr>
          <a:lstStyle/>
          <a:p>
            <a:pPr marL="342900" indent="-342900">
              <a:buFont typeface="Arial" panose="020B0604020202020204" pitchFamily="34" charset="0"/>
              <a:buChar char="•"/>
            </a:pPr>
            <a:r>
              <a:rPr lang="en-US" sz="2400" b="1" dirty="0"/>
              <a:t>Obtained an Aggregated Sales Performance per Product Feature</a:t>
            </a:r>
          </a:p>
        </p:txBody>
      </p:sp>
    </p:spTree>
    <p:extLst>
      <p:ext uri="{BB962C8B-B14F-4D97-AF65-F5344CB8AC3E}">
        <p14:creationId xmlns:p14="http://schemas.microsoft.com/office/powerpoint/2010/main" val="61737505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47EFA-24ED-AA96-B71C-385585245D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66F485-11AB-D480-1756-23E4CD846F6A}"/>
              </a:ext>
            </a:extLst>
          </p:cNvPr>
          <p:cNvSpPr>
            <a:spLocks noGrp="1"/>
          </p:cNvSpPr>
          <p:nvPr>
            <p:ph type="title"/>
          </p:nvPr>
        </p:nvSpPr>
        <p:spPr>
          <a:xfrm>
            <a:off x="606318" y="214540"/>
            <a:ext cx="10515600" cy="1325563"/>
          </a:xfrm>
        </p:spPr>
        <p:txBody>
          <a:bodyPr/>
          <a:lstStyle/>
          <a:p>
            <a:r>
              <a:rPr lang="en-US" sz="4400" dirty="0">
                <a:solidFill>
                  <a:srgbClr val="283C95"/>
                </a:solidFill>
                <a:latin typeface="Aptos ExtraBold" panose="020B0004020202020204" pitchFamily="34" charset="0"/>
              </a:rPr>
              <a:t>04 EDA Insights</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63DE4D1E-63B9-0FB2-884B-937FD34F2489}"/>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4" name="TextBox 3">
            <a:extLst>
              <a:ext uri="{FF2B5EF4-FFF2-40B4-BE49-F238E27FC236}">
                <a16:creationId xmlns:a16="http://schemas.microsoft.com/office/drawing/2014/main" id="{FBA2C955-E747-08C2-1EA4-8CBBEF95684D}"/>
              </a:ext>
            </a:extLst>
          </p:cNvPr>
          <p:cNvSpPr txBox="1"/>
          <p:nvPr/>
        </p:nvSpPr>
        <p:spPr>
          <a:xfrm>
            <a:off x="606318" y="1343650"/>
            <a:ext cx="4411159" cy="523220"/>
          </a:xfrm>
          <a:prstGeom prst="rect">
            <a:avLst/>
          </a:prstGeom>
          <a:noFill/>
        </p:spPr>
        <p:txBody>
          <a:bodyPr wrap="square" rtlCol="0">
            <a:spAutoFit/>
          </a:bodyPr>
          <a:lstStyle/>
          <a:p>
            <a:r>
              <a:rPr lang="en-US" sz="2800" b="1" dirty="0">
                <a:solidFill>
                  <a:schemeClr val="tx1">
                    <a:lumMod val="75000"/>
                    <a:lumOff val="25000"/>
                  </a:schemeClr>
                </a:solidFill>
              </a:rPr>
              <a:t>Product Analysis</a:t>
            </a:r>
          </a:p>
        </p:txBody>
      </p:sp>
      <p:sp>
        <p:nvSpPr>
          <p:cNvPr id="8" name="TextBox 7">
            <a:extLst>
              <a:ext uri="{FF2B5EF4-FFF2-40B4-BE49-F238E27FC236}">
                <a16:creationId xmlns:a16="http://schemas.microsoft.com/office/drawing/2014/main" id="{42A45353-7918-2A33-00E4-10E0C637F129}"/>
              </a:ext>
            </a:extLst>
          </p:cNvPr>
          <p:cNvSpPr txBox="1"/>
          <p:nvPr/>
        </p:nvSpPr>
        <p:spPr>
          <a:xfrm>
            <a:off x="606317" y="2467362"/>
            <a:ext cx="6568205" cy="3046988"/>
          </a:xfrm>
          <a:prstGeom prst="rect">
            <a:avLst/>
          </a:prstGeom>
          <a:noFill/>
        </p:spPr>
        <p:txBody>
          <a:bodyPr wrap="square" rtlCol="0">
            <a:spAutoFit/>
          </a:bodyPr>
          <a:lstStyle/>
          <a:p>
            <a:pPr>
              <a:buNone/>
            </a:pPr>
            <a:r>
              <a:rPr lang="en-US" sz="2400" b="1" dirty="0">
                <a:solidFill>
                  <a:schemeClr val="tx1">
                    <a:lumMod val="65000"/>
                    <a:lumOff val="35000"/>
                  </a:schemeClr>
                </a:solidFill>
              </a:rPr>
              <a:t>The analysis indicates that the </a:t>
            </a:r>
            <a:r>
              <a:rPr lang="en-US" sz="2400" b="1" dirty="0"/>
              <a:t>Technology product category </a:t>
            </a:r>
            <a:r>
              <a:rPr lang="en-US" sz="2400" b="1" dirty="0">
                <a:solidFill>
                  <a:schemeClr val="tx1">
                    <a:lumMod val="65000"/>
                    <a:lumOff val="35000"/>
                  </a:schemeClr>
                </a:solidFill>
              </a:rPr>
              <a:t>generates the </a:t>
            </a:r>
            <a:r>
              <a:rPr lang="en-US" sz="2400" b="1" dirty="0"/>
              <a:t>highest sales</a:t>
            </a:r>
            <a:r>
              <a:rPr lang="en-US" sz="2400" b="1" dirty="0">
                <a:solidFill>
                  <a:schemeClr val="tx1">
                    <a:lumMod val="65000"/>
                    <a:lumOff val="35000"/>
                  </a:schemeClr>
                </a:solidFill>
              </a:rPr>
              <a:t>, despite the majority of offered products belonging</a:t>
            </a:r>
            <a:r>
              <a:rPr lang="en-US" sz="2400" dirty="0"/>
              <a:t> </a:t>
            </a:r>
            <a:r>
              <a:rPr lang="en-US" sz="2400" b="1" dirty="0">
                <a:solidFill>
                  <a:schemeClr val="tx1">
                    <a:lumMod val="65000"/>
                    <a:lumOff val="35000"/>
                  </a:schemeClr>
                </a:solidFill>
              </a:rPr>
              <a:t>to the </a:t>
            </a:r>
            <a:r>
              <a:rPr lang="en-US" sz="2400" b="1" dirty="0"/>
              <a:t>Office Supplies</a:t>
            </a:r>
            <a:r>
              <a:rPr lang="en-US" sz="2400" dirty="0"/>
              <a:t> </a:t>
            </a:r>
            <a:r>
              <a:rPr lang="en-US" sz="2400" b="1" dirty="0">
                <a:solidFill>
                  <a:schemeClr val="tx1">
                    <a:lumMod val="65000"/>
                    <a:lumOff val="35000"/>
                  </a:schemeClr>
                </a:solidFill>
              </a:rPr>
              <a:t>category.</a:t>
            </a:r>
          </a:p>
          <a:p>
            <a:pPr>
              <a:buNone/>
            </a:pPr>
            <a:endParaRPr lang="en-US" sz="2400" b="1" dirty="0">
              <a:solidFill>
                <a:schemeClr val="tx1">
                  <a:lumMod val="65000"/>
                  <a:lumOff val="35000"/>
                </a:schemeClr>
              </a:solidFill>
            </a:endParaRPr>
          </a:p>
          <a:p>
            <a:r>
              <a:rPr lang="en-US" sz="2400" b="1" dirty="0">
                <a:solidFill>
                  <a:schemeClr val="tx1">
                    <a:lumMod val="65000"/>
                    <a:lumOff val="35000"/>
                  </a:schemeClr>
                </a:solidFill>
              </a:rPr>
              <a:t>This suggests that </a:t>
            </a:r>
            <a:r>
              <a:rPr lang="en-US" sz="2400" b="1" dirty="0"/>
              <a:t>expanding the range of technology-related products</a:t>
            </a:r>
            <a:r>
              <a:rPr lang="en-US" sz="2400" dirty="0"/>
              <a:t> could lead to </a:t>
            </a:r>
            <a:r>
              <a:rPr lang="en-US" sz="2400" b="1" dirty="0"/>
              <a:t>higher future sales and revenue growth.</a:t>
            </a:r>
            <a:endParaRPr lang="en-US" sz="2400" dirty="0"/>
          </a:p>
        </p:txBody>
      </p:sp>
      <p:pic>
        <p:nvPicPr>
          <p:cNvPr id="12" name="Picture 11">
            <a:extLst>
              <a:ext uri="{FF2B5EF4-FFF2-40B4-BE49-F238E27FC236}">
                <a16:creationId xmlns:a16="http://schemas.microsoft.com/office/drawing/2014/main" id="{C7B659A1-9130-485A-04E8-F9C22B28E088}"/>
              </a:ext>
            </a:extLst>
          </p:cNvPr>
          <p:cNvPicPr>
            <a:picLocks noChangeAspect="1"/>
          </p:cNvPicPr>
          <p:nvPr/>
        </p:nvPicPr>
        <p:blipFill>
          <a:blip r:embed="rId2"/>
          <a:stretch>
            <a:fillRect/>
          </a:stretch>
        </p:blipFill>
        <p:spPr>
          <a:xfrm>
            <a:off x="7312619" y="344853"/>
            <a:ext cx="4668365" cy="3157024"/>
          </a:xfrm>
          <a:prstGeom prst="rect">
            <a:avLst/>
          </a:prstGeom>
        </p:spPr>
      </p:pic>
      <p:pic>
        <p:nvPicPr>
          <p:cNvPr id="14" name="Picture 13">
            <a:extLst>
              <a:ext uri="{FF2B5EF4-FFF2-40B4-BE49-F238E27FC236}">
                <a16:creationId xmlns:a16="http://schemas.microsoft.com/office/drawing/2014/main" id="{F3673FAA-7273-CB57-6ED8-5163BD7355B7}"/>
              </a:ext>
            </a:extLst>
          </p:cNvPr>
          <p:cNvPicPr>
            <a:picLocks noChangeAspect="1"/>
          </p:cNvPicPr>
          <p:nvPr/>
        </p:nvPicPr>
        <p:blipFill>
          <a:blip r:embed="rId3"/>
          <a:stretch>
            <a:fillRect/>
          </a:stretch>
        </p:blipFill>
        <p:spPr>
          <a:xfrm>
            <a:off x="7456976" y="3690955"/>
            <a:ext cx="4641605" cy="2822192"/>
          </a:xfrm>
          <a:prstGeom prst="rect">
            <a:avLst/>
          </a:prstGeom>
        </p:spPr>
      </p:pic>
    </p:spTree>
    <p:extLst>
      <p:ext uri="{BB962C8B-B14F-4D97-AF65-F5344CB8AC3E}">
        <p14:creationId xmlns:p14="http://schemas.microsoft.com/office/powerpoint/2010/main" val="275121492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B64B3-B001-3DBD-7D44-7A57EC760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5112D-9A51-7B4D-A705-3FF1207791B8}"/>
              </a:ext>
            </a:extLst>
          </p:cNvPr>
          <p:cNvSpPr>
            <a:spLocks noGrp="1"/>
          </p:cNvSpPr>
          <p:nvPr>
            <p:ph type="title"/>
          </p:nvPr>
        </p:nvSpPr>
        <p:spPr>
          <a:xfrm>
            <a:off x="606318" y="214540"/>
            <a:ext cx="10515600" cy="1325563"/>
          </a:xfrm>
        </p:spPr>
        <p:txBody>
          <a:bodyPr/>
          <a:lstStyle/>
          <a:p>
            <a:r>
              <a:rPr lang="en-US" sz="4400" dirty="0">
                <a:solidFill>
                  <a:srgbClr val="283C95"/>
                </a:solidFill>
                <a:latin typeface="Aptos ExtraBold" panose="020B0004020202020204" pitchFamily="34" charset="0"/>
              </a:rPr>
              <a:t>04 EDA Insights</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99F7E5FA-EA89-1ACE-0BFF-9EB54C7F9EEC}"/>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4" name="TextBox 3">
            <a:extLst>
              <a:ext uri="{FF2B5EF4-FFF2-40B4-BE49-F238E27FC236}">
                <a16:creationId xmlns:a16="http://schemas.microsoft.com/office/drawing/2014/main" id="{EA5FCF39-A8D2-6FAD-D963-3E2B1C3E936A}"/>
              </a:ext>
            </a:extLst>
          </p:cNvPr>
          <p:cNvSpPr txBox="1"/>
          <p:nvPr/>
        </p:nvSpPr>
        <p:spPr>
          <a:xfrm>
            <a:off x="606318" y="1363469"/>
            <a:ext cx="4411159" cy="523220"/>
          </a:xfrm>
          <a:prstGeom prst="rect">
            <a:avLst/>
          </a:prstGeom>
          <a:noFill/>
        </p:spPr>
        <p:txBody>
          <a:bodyPr wrap="square" rtlCol="0">
            <a:spAutoFit/>
          </a:bodyPr>
          <a:lstStyle/>
          <a:p>
            <a:r>
              <a:rPr lang="en-US" sz="2800" b="1" dirty="0">
                <a:solidFill>
                  <a:schemeClr val="tx1">
                    <a:lumMod val="75000"/>
                    <a:lumOff val="25000"/>
                  </a:schemeClr>
                </a:solidFill>
              </a:rPr>
              <a:t>Top 10 Products Sales</a:t>
            </a:r>
          </a:p>
        </p:txBody>
      </p:sp>
      <p:pic>
        <p:nvPicPr>
          <p:cNvPr id="8" name="Picture 7">
            <a:extLst>
              <a:ext uri="{FF2B5EF4-FFF2-40B4-BE49-F238E27FC236}">
                <a16:creationId xmlns:a16="http://schemas.microsoft.com/office/drawing/2014/main" id="{6E0EEB83-C0AE-1F73-6CBF-850E0DA63C29}"/>
              </a:ext>
            </a:extLst>
          </p:cNvPr>
          <p:cNvPicPr>
            <a:picLocks noChangeAspect="1"/>
          </p:cNvPicPr>
          <p:nvPr/>
        </p:nvPicPr>
        <p:blipFill>
          <a:blip r:embed="rId2"/>
          <a:stretch>
            <a:fillRect/>
          </a:stretch>
        </p:blipFill>
        <p:spPr>
          <a:xfrm>
            <a:off x="163944" y="2086708"/>
            <a:ext cx="11864111" cy="4309209"/>
          </a:xfrm>
          <a:prstGeom prst="rect">
            <a:avLst/>
          </a:prstGeom>
        </p:spPr>
      </p:pic>
    </p:spTree>
    <p:extLst>
      <p:ext uri="{BB962C8B-B14F-4D97-AF65-F5344CB8AC3E}">
        <p14:creationId xmlns:p14="http://schemas.microsoft.com/office/powerpoint/2010/main" val="341997498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4034A-030F-F8A5-C407-1A01CC30A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6E731-1C81-6610-4269-B38BDD6CEA5C}"/>
              </a:ext>
            </a:extLst>
          </p:cNvPr>
          <p:cNvSpPr>
            <a:spLocks noGrp="1"/>
          </p:cNvSpPr>
          <p:nvPr>
            <p:ph type="title"/>
          </p:nvPr>
        </p:nvSpPr>
        <p:spPr>
          <a:xfrm>
            <a:off x="606318" y="214540"/>
            <a:ext cx="10515600" cy="1325563"/>
          </a:xfrm>
        </p:spPr>
        <p:txBody>
          <a:bodyPr/>
          <a:lstStyle/>
          <a:p>
            <a:r>
              <a:rPr lang="en-US" sz="4400" dirty="0">
                <a:solidFill>
                  <a:srgbClr val="283C95"/>
                </a:solidFill>
                <a:latin typeface="Aptos ExtraBold" panose="020B0004020202020204" pitchFamily="34" charset="0"/>
              </a:rPr>
              <a:t>04 EDA Insights</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309727B7-4FEC-FA84-CA61-DB2BE2D3AB7E}"/>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4" name="TextBox 3">
            <a:extLst>
              <a:ext uri="{FF2B5EF4-FFF2-40B4-BE49-F238E27FC236}">
                <a16:creationId xmlns:a16="http://schemas.microsoft.com/office/drawing/2014/main" id="{43A0DBC3-31AD-7D90-673C-54BA1A93805D}"/>
              </a:ext>
            </a:extLst>
          </p:cNvPr>
          <p:cNvSpPr txBox="1"/>
          <p:nvPr/>
        </p:nvSpPr>
        <p:spPr>
          <a:xfrm>
            <a:off x="606318" y="1343650"/>
            <a:ext cx="6392359" cy="523220"/>
          </a:xfrm>
          <a:prstGeom prst="rect">
            <a:avLst/>
          </a:prstGeom>
          <a:noFill/>
        </p:spPr>
        <p:txBody>
          <a:bodyPr wrap="square" rtlCol="0">
            <a:spAutoFit/>
          </a:bodyPr>
          <a:lstStyle/>
          <a:p>
            <a:r>
              <a:rPr lang="en-US" sz="2800" b="1" dirty="0">
                <a:solidFill>
                  <a:schemeClr val="tx1">
                    <a:lumMod val="75000"/>
                    <a:lumOff val="25000"/>
                  </a:schemeClr>
                </a:solidFill>
              </a:rPr>
              <a:t>Time Series Analysis</a:t>
            </a:r>
          </a:p>
        </p:txBody>
      </p:sp>
      <p:pic>
        <p:nvPicPr>
          <p:cNvPr id="7" name="Picture 6">
            <a:extLst>
              <a:ext uri="{FF2B5EF4-FFF2-40B4-BE49-F238E27FC236}">
                <a16:creationId xmlns:a16="http://schemas.microsoft.com/office/drawing/2014/main" id="{BA299CAB-A1B8-1451-E92F-D2C9CBFBA985}"/>
              </a:ext>
            </a:extLst>
          </p:cNvPr>
          <p:cNvPicPr>
            <a:picLocks noChangeAspect="1"/>
          </p:cNvPicPr>
          <p:nvPr/>
        </p:nvPicPr>
        <p:blipFill>
          <a:blip r:embed="rId2"/>
          <a:stretch>
            <a:fillRect/>
          </a:stretch>
        </p:blipFill>
        <p:spPr>
          <a:xfrm>
            <a:off x="5864118" y="1968676"/>
            <a:ext cx="5861172" cy="4065136"/>
          </a:xfrm>
          <a:prstGeom prst="rect">
            <a:avLst/>
          </a:prstGeom>
        </p:spPr>
      </p:pic>
      <p:sp>
        <p:nvSpPr>
          <p:cNvPr id="9" name="TextBox 8">
            <a:extLst>
              <a:ext uri="{FF2B5EF4-FFF2-40B4-BE49-F238E27FC236}">
                <a16:creationId xmlns:a16="http://schemas.microsoft.com/office/drawing/2014/main" id="{36CA7003-A452-9EFB-AB40-D2839B004A7E}"/>
              </a:ext>
            </a:extLst>
          </p:cNvPr>
          <p:cNvSpPr txBox="1"/>
          <p:nvPr/>
        </p:nvSpPr>
        <p:spPr>
          <a:xfrm>
            <a:off x="691661" y="2995980"/>
            <a:ext cx="3692769" cy="1508105"/>
          </a:xfrm>
          <a:prstGeom prst="rect">
            <a:avLst/>
          </a:prstGeom>
          <a:noFill/>
        </p:spPr>
        <p:txBody>
          <a:bodyPr wrap="square" rtlCol="0">
            <a:spAutoFit/>
          </a:bodyPr>
          <a:lstStyle/>
          <a:p>
            <a:r>
              <a:rPr lang="en-US" sz="2800" b="1" dirty="0">
                <a:solidFill>
                  <a:schemeClr val="tx1">
                    <a:lumMod val="65000"/>
                    <a:lumOff val="35000"/>
                  </a:schemeClr>
                </a:solidFill>
              </a:rPr>
              <a:t>Peak sales occurred between </a:t>
            </a:r>
            <a:r>
              <a:rPr lang="en-US" sz="3200" b="1" dirty="0"/>
              <a:t>2018</a:t>
            </a:r>
            <a:r>
              <a:rPr lang="en-US" sz="2800" b="1" dirty="0"/>
              <a:t> and </a:t>
            </a:r>
            <a:r>
              <a:rPr lang="en-US" sz="3200" b="1" dirty="0"/>
              <a:t>2019.</a:t>
            </a:r>
            <a:endParaRPr lang="en-US" sz="2800" dirty="0"/>
          </a:p>
        </p:txBody>
      </p:sp>
    </p:spTree>
    <p:extLst>
      <p:ext uri="{BB962C8B-B14F-4D97-AF65-F5344CB8AC3E}">
        <p14:creationId xmlns:p14="http://schemas.microsoft.com/office/powerpoint/2010/main" val="127332432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649A8-8091-0423-E0B1-003C54860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7F4B9-445E-272B-006A-037C2136BAE6}"/>
              </a:ext>
            </a:extLst>
          </p:cNvPr>
          <p:cNvSpPr>
            <a:spLocks noGrp="1"/>
          </p:cNvSpPr>
          <p:nvPr>
            <p:ph type="title"/>
          </p:nvPr>
        </p:nvSpPr>
        <p:spPr>
          <a:xfrm>
            <a:off x="606318" y="214540"/>
            <a:ext cx="10515600" cy="1325563"/>
          </a:xfrm>
        </p:spPr>
        <p:txBody>
          <a:bodyPr/>
          <a:lstStyle/>
          <a:p>
            <a:r>
              <a:rPr lang="en-US" sz="4400" dirty="0">
                <a:solidFill>
                  <a:srgbClr val="283C95"/>
                </a:solidFill>
                <a:latin typeface="Aptos ExtraBold" panose="020B0004020202020204" pitchFamily="34" charset="0"/>
              </a:rPr>
              <a:t>04 EDA Insights</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6C3248C6-409C-828A-1DC5-93F72B14BD88}"/>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4" name="TextBox 3">
            <a:extLst>
              <a:ext uri="{FF2B5EF4-FFF2-40B4-BE49-F238E27FC236}">
                <a16:creationId xmlns:a16="http://schemas.microsoft.com/office/drawing/2014/main" id="{EA37250C-148B-DD90-6CD4-570F75574FBE}"/>
              </a:ext>
            </a:extLst>
          </p:cNvPr>
          <p:cNvSpPr txBox="1"/>
          <p:nvPr/>
        </p:nvSpPr>
        <p:spPr>
          <a:xfrm>
            <a:off x="606318" y="1343650"/>
            <a:ext cx="6392359" cy="523220"/>
          </a:xfrm>
          <a:prstGeom prst="rect">
            <a:avLst/>
          </a:prstGeom>
          <a:noFill/>
        </p:spPr>
        <p:txBody>
          <a:bodyPr wrap="square" rtlCol="0">
            <a:spAutoFit/>
          </a:bodyPr>
          <a:lstStyle/>
          <a:p>
            <a:r>
              <a:rPr lang="en-US" sz="2800" b="1" dirty="0">
                <a:solidFill>
                  <a:schemeClr val="tx1">
                    <a:lumMod val="75000"/>
                    <a:lumOff val="25000"/>
                  </a:schemeClr>
                </a:solidFill>
              </a:rPr>
              <a:t>Time Series Analysis</a:t>
            </a:r>
          </a:p>
        </p:txBody>
      </p:sp>
      <p:sp>
        <p:nvSpPr>
          <p:cNvPr id="13" name="TextBox 12">
            <a:extLst>
              <a:ext uri="{FF2B5EF4-FFF2-40B4-BE49-F238E27FC236}">
                <a16:creationId xmlns:a16="http://schemas.microsoft.com/office/drawing/2014/main" id="{CE1EE336-71F7-D7F4-5420-3E2A84153C1A}"/>
              </a:ext>
            </a:extLst>
          </p:cNvPr>
          <p:cNvSpPr txBox="1"/>
          <p:nvPr/>
        </p:nvSpPr>
        <p:spPr>
          <a:xfrm>
            <a:off x="606318" y="2773790"/>
            <a:ext cx="3367804" cy="2308324"/>
          </a:xfrm>
          <a:prstGeom prst="rect">
            <a:avLst/>
          </a:prstGeom>
          <a:noFill/>
        </p:spPr>
        <p:txBody>
          <a:bodyPr wrap="square" rtlCol="0">
            <a:spAutoFit/>
          </a:bodyPr>
          <a:lstStyle/>
          <a:p>
            <a:r>
              <a:rPr lang="en-US" sz="2400" b="1" dirty="0"/>
              <a:t>Peak sales occur in November, suggesting the need for targeted marketing and optimized inventory to maximize revenue.</a:t>
            </a:r>
            <a:endParaRPr lang="en-US" sz="2400" b="1" dirty="0">
              <a:latin typeface="+mj-lt"/>
            </a:endParaRPr>
          </a:p>
        </p:txBody>
      </p:sp>
      <p:pic>
        <p:nvPicPr>
          <p:cNvPr id="7" name="Picture 6">
            <a:extLst>
              <a:ext uri="{FF2B5EF4-FFF2-40B4-BE49-F238E27FC236}">
                <a16:creationId xmlns:a16="http://schemas.microsoft.com/office/drawing/2014/main" id="{DAFA5BE1-9DF0-B7F0-10B1-2F8C20EDA356}"/>
              </a:ext>
            </a:extLst>
          </p:cNvPr>
          <p:cNvPicPr>
            <a:picLocks noChangeAspect="1"/>
          </p:cNvPicPr>
          <p:nvPr/>
        </p:nvPicPr>
        <p:blipFill>
          <a:blip r:embed="rId2"/>
          <a:stretch>
            <a:fillRect/>
          </a:stretch>
        </p:blipFill>
        <p:spPr>
          <a:xfrm>
            <a:off x="4243754" y="1800729"/>
            <a:ext cx="7641981" cy="4100149"/>
          </a:xfrm>
          <a:prstGeom prst="rect">
            <a:avLst/>
          </a:prstGeom>
        </p:spPr>
      </p:pic>
    </p:spTree>
    <p:extLst>
      <p:ext uri="{BB962C8B-B14F-4D97-AF65-F5344CB8AC3E}">
        <p14:creationId xmlns:p14="http://schemas.microsoft.com/office/powerpoint/2010/main" val="169603073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F28A4-0BEC-EDEF-C09E-B0B56E299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9F470-9445-E298-B385-6E47C7F57682}"/>
              </a:ext>
            </a:extLst>
          </p:cNvPr>
          <p:cNvSpPr>
            <a:spLocks noGrp="1"/>
          </p:cNvSpPr>
          <p:nvPr>
            <p:ph type="title"/>
          </p:nvPr>
        </p:nvSpPr>
        <p:spPr>
          <a:xfrm>
            <a:off x="606318" y="214540"/>
            <a:ext cx="10515600" cy="1325563"/>
          </a:xfrm>
        </p:spPr>
        <p:txBody>
          <a:bodyPr/>
          <a:lstStyle/>
          <a:p>
            <a:r>
              <a:rPr lang="en-US" sz="4400" dirty="0">
                <a:solidFill>
                  <a:srgbClr val="283C95"/>
                </a:solidFill>
                <a:latin typeface="Aptos ExtraBold" panose="020B0004020202020204" pitchFamily="34" charset="0"/>
              </a:rPr>
              <a:t>04 EDA Insights</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0B7D29AA-CC8E-2BC4-C68C-CF6E16CE459D}"/>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4" name="TextBox 3">
            <a:extLst>
              <a:ext uri="{FF2B5EF4-FFF2-40B4-BE49-F238E27FC236}">
                <a16:creationId xmlns:a16="http://schemas.microsoft.com/office/drawing/2014/main" id="{ED4ACBEE-6705-72AE-46DE-C69AD84B455F}"/>
              </a:ext>
            </a:extLst>
          </p:cNvPr>
          <p:cNvSpPr txBox="1"/>
          <p:nvPr/>
        </p:nvSpPr>
        <p:spPr>
          <a:xfrm>
            <a:off x="606318" y="1343650"/>
            <a:ext cx="6392359" cy="523220"/>
          </a:xfrm>
          <a:prstGeom prst="rect">
            <a:avLst/>
          </a:prstGeom>
          <a:noFill/>
        </p:spPr>
        <p:txBody>
          <a:bodyPr wrap="square" rtlCol="0">
            <a:spAutoFit/>
          </a:bodyPr>
          <a:lstStyle/>
          <a:p>
            <a:r>
              <a:rPr lang="en-US" sz="2800" b="1" dirty="0">
                <a:solidFill>
                  <a:schemeClr val="tx1">
                    <a:lumMod val="75000"/>
                    <a:lumOff val="25000"/>
                  </a:schemeClr>
                </a:solidFill>
              </a:rPr>
              <a:t>Time Series Analysis</a:t>
            </a:r>
          </a:p>
        </p:txBody>
      </p:sp>
      <p:pic>
        <p:nvPicPr>
          <p:cNvPr id="15" name="Picture 14">
            <a:extLst>
              <a:ext uri="{FF2B5EF4-FFF2-40B4-BE49-F238E27FC236}">
                <a16:creationId xmlns:a16="http://schemas.microsoft.com/office/drawing/2014/main" id="{BD989276-E8EA-F647-AE66-C4C2B826474F}"/>
              </a:ext>
            </a:extLst>
          </p:cNvPr>
          <p:cNvPicPr>
            <a:picLocks noChangeAspect="1"/>
          </p:cNvPicPr>
          <p:nvPr/>
        </p:nvPicPr>
        <p:blipFill>
          <a:blip r:embed="rId2"/>
          <a:stretch>
            <a:fillRect/>
          </a:stretch>
        </p:blipFill>
        <p:spPr>
          <a:xfrm>
            <a:off x="5169877" y="2247411"/>
            <a:ext cx="6610350" cy="3546649"/>
          </a:xfrm>
          <a:prstGeom prst="rect">
            <a:avLst/>
          </a:prstGeom>
        </p:spPr>
      </p:pic>
      <p:sp>
        <p:nvSpPr>
          <p:cNvPr id="16" name="TextBox 15">
            <a:extLst>
              <a:ext uri="{FF2B5EF4-FFF2-40B4-BE49-F238E27FC236}">
                <a16:creationId xmlns:a16="http://schemas.microsoft.com/office/drawing/2014/main" id="{D6B957A8-023B-6769-DEC3-24F56D3DD094}"/>
              </a:ext>
            </a:extLst>
          </p:cNvPr>
          <p:cNvSpPr txBox="1"/>
          <p:nvPr/>
        </p:nvSpPr>
        <p:spPr>
          <a:xfrm>
            <a:off x="606318" y="2773790"/>
            <a:ext cx="3965682" cy="2369880"/>
          </a:xfrm>
          <a:prstGeom prst="rect">
            <a:avLst/>
          </a:prstGeom>
          <a:noFill/>
        </p:spPr>
        <p:txBody>
          <a:bodyPr wrap="square" rtlCol="0">
            <a:spAutoFit/>
          </a:bodyPr>
          <a:lstStyle/>
          <a:p>
            <a:r>
              <a:rPr lang="en-US" sz="2400" b="1" dirty="0"/>
              <a:t>Highest sales occur on </a:t>
            </a:r>
            <a:r>
              <a:rPr lang="en-US" sz="2800" b="1" dirty="0"/>
              <a:t>Saturdays</a:t>
            </a:r>
            <a:r>
              <a:rPr lang="en-US" sz="2400" b="1" dirty="0"/>
              <a:t>, suggesting a strategic focus on weekend promotions and inventory management to maximize revenue.</a:t>
            </a:r>
            <a:endParaRPr lang="en-US" sz="2400" b="1" dirty="0">
              <a:latin typeface="+mj-lt"/>
            </a:endParaRPr>
          </a:p>
        </p:txBody>
      </p:sp>
    </p:spTree>
    <p:extLst>
      <p:ext uri="{BB962C8B-B14F-4D97-AF65-F5344CB8AC3E}">
        <p14:creationId xmlns:p14="http://schemas.microsoft.com/office/powerpoint/2010/main" val="269220784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C3A97-085E-FFE8-F98F-C807241389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0E550-EC01-23DB-F359-17BD724512D4}"/>
              </a:ext>
            </a:extLst>
          </p:cNvPr>
          <p:cNvSpPr>
            <a:spLocks noGrp="1"/>
          </p:cNvSpPr>
          <p:nvPr>
            <p:ph type="title"/>
          </p:nvPr>
        </p:nvSpPr>
        <p:spPr>
          <a:xfrm>
            <a:off x="606318" y="214540"/>
            <a:ext cx="10515600" cy="1325563"/>
          </a:xfrm>
        </p:spPr>
        <p:txBody>
          <a:bodyPr/>
          <a:lstStyle/>
          <a:p>
            <a:r>
              <a:rPr lang="en-US" sz="4400" dirty="0">
                <a:solidFill>
                  <a:srgbClr val="283C95"/>
                </a:solidFill>
                <a:latin typeface="Aptos ExtraBold" panose="020B0004020202020204" pitchFamily="34" charset="0"/>
              </a:rPr>
              <a:t>04 EDA Insights</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A70D469C-105B-F504-9473-742D9CDB9A45}"/>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4" name="TextBox 3">
            <a:extLst>
              <a:ext uri="{FF2B5EF4-FFF2-40B4-BE49-F238E27FC236}">
                <a16:creationId xmlns:a16="http://schemas.microsoft.com/office/drawing/2014/main" id="{BB5005A2-8ACE-DC25-B311-83CADD7E232E}"/>
              </a:ext>
            </a:extLst>
          </p:cNvPr>
          <p:cNvSpPr txBox="1"/>
          <p:nvPr/>
        </p:nvSpPr>
        <p:spPr>
          <a:xfrm>
            <a:off x="606318" y="1343650"/>
            <a:ext cx="6392359" cy="523220"/>
          </a:xfrm>
          <a:prstGeom prst="rect">
            <a:avLst/>
          </a:prstGeom>
          <a:noFill/>
        </p:spPr>
        <p:txBody>
          <a:bodyPr wrap="square" rtlCol="0">
            <a:spAutoFit/>
          </a:bodyPr>
          <a:lstStyle/>
          <a:p>
            <a:r>
              <a:rPr lang="en-US" sz="2800" b="1" dirty="0">
                <a:solidFill>
                  <a:schemeClr val="tx1">
                    <a:lumMod val="75000"/>
                    <a:lumOff val="25000"/>
                  </a:schemeClr>
                </a:solidFill>
              </a:rPr>
              <a:t>Time Series Analysis</a:t>
            </a:r>
          </a:p>
        </p:txBody>
      </p:sp>
      <p:sp>
        <p:nvSpPr>
          <p:cNvPr id="16" name="TextBox 15">
            <a:extLst>
              <a:ext uri="{FF2B5EF4-FFF2-40B4-BE49-F238E27FC236}">
                <a16:creationId xmlns:a16="http://schemas.microsoft.com/office/drawing/2014/main" id="{50682BF0-EAB7-355C-40B4-A1FF3D0E262D}"/>
              </a:ext>
            </a:extLst>
          </p:cNvPr>
          <p:cNvSpPr txBox="1"/>
          <p:nvPr/>
        </p:nvSpPr>
        <p:spPr>
          <a:xfrm>
            <a:off x="606318" y="2538900"/>
            <a:ext cx="3609769" cy="3046988"/>
          </a:xfrm>
          <a:prstGeom prst="rect">
            <a:avLst/>
          </a:prstGeom>
          <a:noFill/>
        </p:spPr>
        <p:txBody>
          <a:bodyPr wrap="square" rtlCol="0">
            <a:spAutoFit/>
          </a:bodyPr>
          <a:lstStyle/>
          <a:p>
            <a:r>
              <a:rPr lang="en-US" sz="2400" b="1" dirty="0">
                <a:solidFill>
                  <a:schemeClr val="tx1">
                    <a:lumMod val="65000"/>
                    <a:lumOff val="35000"/>
                  </a:schemeClr>
                </a:solidFill>
              </a:rPr>
              <a:t>Highest Sales For Tech Category, This suggests that </a:t>
            </a:r>
            <a:r>
              <a:rPr lang="en-US" sz="2400" b="1" dirty="0"/>
              <a:t>expanding the range of technology-related products</a:t>
            </a:r>
            <a:r>
              <a:rPr lang="en-US" sz="2400" dirty="0"/>
              <a:t> </a:t>
            </a:r>
            <a:r>
              <a:rPr lang="en-US" sz="2400" b="1" dirty="0">
                <a:solidFill>
                  <a:schemeClr val="tx1">
                    <a:lumMod val="65000"/>
                    <a:lumOff val="35000"/>
                  </a:schemeClr>
                </a:solidFill>
              </a:rPr>
              <a:t>could lead to </a:t>
            </a:r>
            <a:r>
              <a:rPr lang="en-US" sz="2400" b="1" dirty="0"/>
              <a:t>higher future sales and revenue growth.</a:t>
            </a:r>
            <a:endParaRPr lang="en-US" sz="2400" dirty="0"/>
          </a:p>
          <a:p>
            <a:endParaRPr lang="en-US" sz="2400" b="1" dirty="0">
              <a:latin typeface="+mj-lt"/>
            </a:endParaRPr>
          </a:p>
        </p:txBody>
      </p:sp>
      <p:pic>
        <p:nvPicPr>
          <p:cNvPr id="6" name="Picture 5">
            <a:extLst>
              <a:ext uri="{FF2B5EF4-FFF2-40B4-BE49-F238E27FC236}">
                <a16:creationId xmlns:a16="http://schemas.microsoft.com/office/drawing/2014/main" id="{8FB4651E-4A6B-96F3-9CBB-CA66BCCDC6D2}"/>
              </a:ext>
            </a:extLst>
          </p:cNvPr>
          <p:cNvPicPr>
            <a:picLocks noChangeAspect="1"/>
          </p:cNvPicPr>
          <p:nvPr/>
        </p:nvPicPr>
        <p:blipFill>
          <a:blip r:embed="rId2"/>
          <a:stretch>
            <a:fillRect/>
          </a:stretch>
        </p:blipFill>
        <p:spPr>
          <a:xfrm>
            <a:off x="5112854" y="1866870"/>
            <a:ext cx="6772880" cy="4229184"/>
          </a:xfrm>
          <a:prstGeom prst="rect">
            <a:avLst/>
          </a:prstGeom>
        </p:spPr>
      </p:pic>
    </p:spTree>
    <p:extLst>
      <p:ext uri="{BB962C8B-B14F-4D97-AF65-F5344CB8AC3E}">
        <p14:creationId xmlns:p14="http://schemas.microsoft.com/office/powerpoint/2010/main" val="114442880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55CD2-777A-FE6C-9C60-41DAF5ED1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FA187-377A-9A83-5E1A-4182F9968674}"/>
              </a:ext>
            </a:extLst>
          </p:cNvPr>
          <p:cNvSpPr>
            <a:spLocks noGrp="1"/>
          </p:cNvSpPr>
          <p:nvPr>
            <p:ph type="title"/>
          </p:nvPr>
        </p:nvSpPr>
        <p:spPr>
          <a:xfrm>
            <a:off x="606318" y="214540"/>
            <a:ext cx="10515600" cy="1325563"/>
          </a:xfrm>
        </p:spPr>
        <p:txBody>
          <a:bodyPr/>
          <a:lstStyle/>
          <a:p>
            <a:r>
              <a:rPr lang="en-US" sz="4400" dirty="0">
                <a:solidFill>
                  <a:srgbClr val="283C95"/>
                </a:solidFill>
                <a:latin typeface="Aptos ExtraBold" panose="020B0004020202020204" pitchFamily="34" charset="0"/>
              </a:rPr>
              <a:t>04 EDA Insights</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20257A91-2E60-C9B7-CDB4-F700779106BE}"/>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4" name="TextBox 3">
            <a:extLst>
              <a:ext uri="{FF2B5EF4-FFF2-40B4-BE49-F238E27FC236}">
                <a16:creationId xmlns:a16="http://schemas.microsoft.com/office/drawing/2014/main" id="{7AF5462A-9553-4B09-911B-DF42056CD36C}"/>
              </a:ext>
            </a:extLst>
          </p:cNvPr>
          <p:cNvSpPr txBox="1"/>
          <p:nvPr/>
        </p:nvSpPr>
        <p:spPr>
          <a:xfrm>
            <a:off x="606318" y="1343650"/>
            <a:ext cx="6392359" cy="523220"/>
          </a:xfrm>
          <a:prstGeom prst="rect">
            <a:avLst/>
          </a:prstGeom>
          <a:noFill/>
        </p:spPr>
        <p:txBody>
          <a:bodyPr wrap="square" rtlCol="0">
            <a:spAutoFit/>
          </a:bodyPr>
          <a:lstStyle/>
          <a:p>
            <a:r>
              <a:rPr lang="en-US" sz="2800" b="1" dirty="0">
                <a:solidFill>
                  <a:schemeClr val="tx1">
                    <a:lumMod val="75000"/>
                    <a:lumOff val="25000"/>
                  </a:schemeClr>
                </a:solidFill>
              </a:rPr>
              <a:t>Geographical Analysis</a:t>
            </a:r>
          </a:p>
        </p:txBody>
      </p:sp>
      <p:grpSp>
        <p:nvGrpSpPr>
          <p:cNvPr id="20" name="Group 19">
            <a:extLst>
              <a:ext uri="{FF2B5EF4-FFF2-40B4-BE49-F238E27FC236}">
                <a16:creationId xmlns:a16="http://schemas.microsoft.com/office/drawing/2014/main" id="{806E9555-6D9B-22AC-FD23-8701BDB2A109}"/>
              </a:ext>
            </a:extLst>
          </p:cNvPr>
          <p:cNvGrpSpPr/>
          <p:nvPr/>
        </p:nvGrpSpPr>
        <p:grpSpPr>
          <a:xfrm>
            <a:off x="221569" y="2865667"/>
            <a:ext cx="11285098" cy="2089951"/>
            <a:chOff x="155122" y="2882356"/>
            <a:chExt cx="11285098" cy="2089951"/>
          </a:xfrm>
        </p:grpSpPr>
        <p:grpSp>
          <p:nvGrpSpPr>
            <p:cNvPr id="5" name="Group 4">
              <a:extLst>
                <a:ext uri="{FF2B5EF4-FFF2-40B4-BE49-F238E27FC236}">
                  <a16:creationId xmlns:a16="http://schemas.microsoft.com/office/drawing/2014/main" id="{D0AEA417-B794-B235-CD21-01B9658702D3}"/>
                </a:ext>
              </a:extLst>
            </p:cNvPr>
            <p:cNvGrpSpPr/>
            <p:nvPr/>
          </p:nvGrpSpPr>
          <p:grpSpPr>
            <a:xfrm>
              <a:off x="4647586" y="3660655"/>
              <a:ext cx="2968068" cy="1311652"/>
              <a:chOff x="437134" y="3203902"/>
              <a:chExt cx="2968068" cy="1311652"/>
            </a:xfrm>
          </p:grpSpPr>
          <p:sp>
            <p:nvSpPr>
              <p:cNvPr id="7" name="TextBox 6">
                <a:extLst>
                  <a:ext uri="{FF2B5EF4-FFF2-40B4-BE49-F238E27FC236}">
                    <a16:creationId xmlns:a16="http://schemas.microsoft.com/office/drawing/2014/main" id="{AE0608E3-C12B-741F-7AE0-ACC83BE03F53}"/>
                  </a:ext>
                </a:extLst>
              </p:cNvPr>
              <p:cNvSpPr txBox="1"/>
              <p:nvPr/>
            </p:nvSpPr>
            <p:spPr>
              <a:xfrm>
                <a:off x="462709" y="3203902"/>
                <a:ext cx="2942493" cy="923330"/>
              </a:xfrm>
              <a:prstGeom prst="rect">
                <a:avLst/>
              </a:prstGeom>
              <a:noFill/>
            </p:spPr>
            <p:txBody>
              <a:bodyPr wrap="square" rtlCol="0">
                <a:spAutoFit/>
              </a:bodyPr>
              <a:lstStyle/>
              <a:p>
                <a:pPr algn="ctr"/>
                <a:r>
                  <a:rPr lang="en-US" sz="5400" b="1" dirty="0">
                    <a:solidFill>
                      <a:srgbClr val="283C95"/>
                    </a:solidFill>
                    <a:latin typeface="Aptos ExtraBold" panose="020B0004020202020204" pitchFamily="34" charset="0"/>
                  </a:rPr>
                  <a:t>17.2% </a:t>
                </a:r>
                <a:r>
                  <a:rPr lang="en-US" sz="1400" b="1" dirty="0">
                    <a:solidFill>
                      <a:srgbClr val="283C95"/>
                    </a:solidFill>
                    <a:latin typeface="Aptos ExtraBold" panose="020B0004020202020204" pitchFamily="34" charset="0"/>
                  </a:rPr>
                  <a:t>in</a:t>
                </a:r>
                <a:endParaRPr lang="en-US" sz="5400" b="1" dirty="0">
                  <a:solidFill>
                    <a:srgbClr val="283C95"/>
                  </a:solidFill>
                  <a:latin typeface="Aptos ExtraBold" panose="020B0004020202020204" pitchFamily="34" charset="0"/>
                </a:endParaRPr>
              </a:p>
            </p:txBody>
          </p:sp>
          <p:sp>
            <p:nvSpPr>
              <p:cNvPr id="8" name="TextBox 7">
                <a:extLst>
                  <a:ext uri="{FF2B5EF4-FFF2-40B4-BE49-F238E27FC236}">
                    <a16:creationId xmlns:a16="http://schemas.microsoft.com/office/drawing/2014/main" id="{881016BC-BFFF-965A-6675-35B4CAA4BAA4}"/>
                  </a:ext>
                </a:extLst>
              </p:cNvPr>
              <p:cNvSpPr txBox="1"/>
              <p:nvPr/>
            </p:nvSpPr>
            <p:spPr>
              <a:xfrm>
                <a:off x="437134" y="3992334"/>
                <a:ext cx="2942493" cy="523220"/>
              </a:xfrm>
              <a:prstGeom prst="rect">
                <a:avLst/>
              </a:prstGeom>
              <a:noFill/>
            </p:spPr>
            <p:txBody>
              <a:bodyPr wrap="square" rtlCol="0">
                <a:spAutoFit/>
              </a:bodyPr>
              <a:lstStyle/>
              <a:p>
                <a:pPr algn="ctr"/>
                <a:r>
                  <a:rPr lang="en-US" sz="2800" b="1" dirty="0">
                    <a:latin typeface="+mj-lt"/>
                  </a:rPr>
                  <a:t>Los Angeles </a:t>
                </a:r>
              </a:p>
            </p:txBody>
          </p:sp>
        </p:grpSp>
        <p:grpSp>
          <p:nvGrpSpPr>
            <p:cNvPr id="10" name="Group 9">
              <a:extLst>
                <a:ext uri="{FF2B5EF4-FFF2-40B4-BE49-F238E27FC236}">
                  <a16:creationId xmlns:a16="http://schemas.microsoft.com/office/drawing/2014/main" id="{C590173C-9FC2-6F07-2C6B-5D9EF16D6B9E}"/>
                </a:ext>
              </a:extLst>
            </p:cNvPr>
            <p:cNvGrpSpPr/>
            <p:nvPr/>
          </p:nvGrpSpPr>
          <p:grpSpPr>
            <a:xfrm>
              <a:off x="8472152" y="3660655"/>
              <a:ext cx="2968068" cy="1311652"/>
              <a:chOff x="462709" y="3203902"/>
              <a:chExt cx="2968068" cy="1311652"/>
            </a:xfrm>
          </p:grpSpPr>
          <p:sp>
            <p:nvSpPr>
              <p:cNvPr id="11" name="TextBox 10">
                <a:extLst>
                  <a:ext uri="{FF2B5EF4-FFF2-40B4-BE49-F238E27FC236}">
                    <a16:creationId xmlns:a16="http://schemas.microsoft.com/office/drawing/2014/main" id="{5324FC6E-8DEE-2B28-823A-4AC88F4424B9}"/>
                  </a:ext>
                </a:extLst>
              </p:cNvPr>
              <p:cNvSpPr txBox="1"/>
              <p:nvPr/>
            </p:nvSpPr>
            <p:spPr>
              <a:xfrm>
                <a:off x="462709" y="3203902"/>
                <a:ext cx="2942493" cy="923330"/>
              </a:xfrm>
              <a:prstGeom prst="rect">
                <a:avLst/>
              </a:prstGeom>
              <a:noFill/>
            </p:spPr>
            <p:txBody>
              <a:bodyPr wrap="square" rtlCol="0">
                <a:spAutoFit/>
              </a:bodyPr>
              <a:lstStyle/>
              <a:p>
                <a:pPr algn="ctr"/>
                <a:r>
                  <a:rPr lang="en-US" sz="5400" b="1" dirty="0">
                    <a:solidFill>
                      <a:srgbClr val="283C95"/>
                    </a:solidFill>
                    <a:latin typeface="Aptos ExtraBold" panose="020B0004020202020204" pitchFamily="34" charset="0"/>
                  </a:rPr>
                  <a:t>11.5% </a:t>
                </a:r>
                <a:r>
                  <a:rPr lang="en-US" sz="1400" b="1" dirty="0">
                    <a:solidFill>
                      <a:srgbClr val="283C95"/>
                    </a:solidFill>
                    <a:latin typeface="Aptos ExtraBold" panose="020B0004020202020204" pitchFamily="34" charset="0"/>
                  </a:rPr>
                  <a:t>in</a:t>
                </a:r>
                <a:endParaRPr lang="en-US" sz="5400" b="1" dirty="0">
                  <a:solidFill>
                    <a:srgbClr val="283C95"/>
                  </a:solidFill>
                  <a:latin typeface="Aptos ExtraBold" panose="020B0004020202020204" pitchFamily="34" charset="0"/>
                </a:endParaRPr>
              </a:p>
            </p:txBody>
          </p:sp>
          <p:sp>
            <p:nvSpPr>
              <p:cNvPr id="12" name="TextBox 11">
                <a:extLst>
                  <a:ext uri="{FF2B5EF4-FFF2-40B4-BE49-F238E27FC236}">
                    <a16:creationId xmlns:a16="http://schemas.microsoft.com/office/drawing/2014/main" id="{0C58ECE7-85C4-DB7E-F830-AB63CAB0D81D}"/>
                  </a:ext>
                </a:extLst>
              </p:cNvPr>
              <p:cNvSpPr txBox="1"/>
              <p:nvPr/>
            </p:nvSpPr>
            <p:spPr>
              <a:xfrm>
                <a:off x="488284" y="3992334"/>
                <a:ext cx="2942493" cy="523220"/>
              </a:xfrm>
              <a:prstGeom prst="rect">
                <a:avLst/>
              </a:prstGeom>
              <a:noFill/>
            </p:spPr>
            <p:txBody>
              <a:bodyPr wrap="square" rtlCol="0">
                <a:spAutoFit/>
              </a:bodyPr>
              <a:lstStyle/>
              <a:p>
                <a:pPr algn="ctr"/>
                <a:r>
                  <a:rPr lang="en-US" sz="2800" b="1" dirty="0">
                    <a:latin typeface="+mj-lt"/>
                  </a:rPr>
                  <a:t>Seattle </a:t>
                </a:r>
              </a:p>
            </p:txBody>
          </p:sp>
        </p:grpSp>
        <p:grpSp>
          <p:nvGrpSpPr>
            <p:cNvPr id="14" name="Group 13">
              <a:extLst>
                <a:ext uri="{FF2B5EF4-FFF2-40B4-BE49-F238E27FC236}">
                  <a16:creationId xmlns:a16="http://schemas.microsoft.com/office/drawing/2014/main" id="{E12944DE-1A6A-626A-4CCA-764B1C51AAA2}"/>
                </a:ext>
              </a:extLst>
            </p:cNvPr>
            <p:cNvGrpSpPr/>
            <p:nvPr/>
          </p:nvGrpSpPr>
          <p:grpSpPr>
            <a:xfrm>
              <a:off x="155122" y="3708364"/>
              <a:ext cx="3939369" cy="1263943"/>
              <a:chOff x="9285" y="3251611"/>
              <a:chExt cx="3939369" cy="1263943"/>
            </a:xfrm>
          </p:grpSpPr>
          <p:sp>
            <p:nvSpPr>
              <p:cNvPr id="15" name="TextBox 14">
                <a:extLst>
                  <a:ext uri="{FF2B5EF4-FFF2-40B4-BE49-F238E27FC236}">
                    <a16:creationId xmlns:a16="http://schemas.microsoft.com/office/drawing/2014/main" id="{4AB1E509-A4A5-2209-4694-25C1F83BB51F}"/>
                  </a:ext>
                </a:extLst>
              </p:cNvPr>
              <p:cNvSpPr txBox="1"/>
              <p:nvPr/>
            </p:nvSpPr>
            <p:spPr>
              <a:xfrm>
                <a:off x="605943" y="3251611"/>
                <a:ext cx="3124903" cy="923330"/>
              </a:xfrm>
              <a:prstGeom prst="rect">
                <a:avLst/>
              </a:prstGeom>
              <a:noFill/>
            </p:spPr>
            <p:txBody>
              <a:bodyPr wrap="square" rtlCol="0">
                <a:spAutoFit/>
              </a:bodyPr>
              <a:lstStyle/>
              <a:p>
                <a:pPr algn="ctr"/>
                <a:r>
                  <a:rPr lang="en-US" sz="5400" b="1" dirty="0">
                    <a:solidFill>
                      <a:srgbClr val="283C95"/>
                    </a:solidFill>
                    <a:latin typeface="Aptos ExtraBold" panose="020B0004020202020204" pitchFamily="34" charset="0"/>
                  </a:rPr>
                  <a:t>25.1% </a:t>
                </a:r>
                <a:r>
                  <a:rPr lang="en-US" sz="1400" b="1" dirty="0">
                    <a:solidFill>
                      <a:srgbClr val="283C95"/>
                    </a:solidFill>
                    <a:latin typeface="Aptos ExtraBold" panose="020B0004020202020204" pitchFamily="34" charset="0"/>
                  </a:rPr>
                  <a:t> in</a:t>
                </a:r>
                <a:endParaRPr lang="en-US" sz="5400" b="1" dirty="0">
                  <a:solidFill>
                    <a:srgbClr val="283C95"/>
                  </a:solidFill>
                  <a:latin typeface="Aptos ExtraBold" panose="020B0004020202020204" pitchFamily="34" charset="0"/>
                </a:endParaRPr>
              </a:p>
            </p:txBody>
          </p:sp>
          <p:sp>
            <p:nvSpPr>
              <p:cNvPr id="17" name="TextBox 16">
                <a:extLst>
                  <a:ext uri="{FF2B5EF4-FFF2-40B4-BE49-F238E27FC236}">
                    <a16:creationId xmlns:a16="http://schemas.microsoft.com/office/drawing/2014/main" id="{B3462845-2D56-7043-01E3-F506900AC434}"/>
                  </a:ext>
                </a:extLst>
              </p:cNvPr>
              <p:cNvSpPr txBox="1"/>
              <p:nvPr/>
            </p:nvSpPr>
            <p:spPr>
              <a:xfrm>
                <a:off x="9285" y="3992334"/>
                <a:ext cx="3939369" cy="523220"/>
              </a:xfrm>
              <a:prstGeom prst="rect">
                <a:avLst/>
              </a:prstGeom>
              <a:noFill/>
            </p:spPr>
            <p:txBody>
              <a:bodyPr wrap="square" rtlCol="0">
                <a:spAutoFit/>
              </a:bodyPr>
              <a:lstStyle/>
              <a:p>
                <a:pPr algn="ctr"/>
                <a:r>
                  <a:rPr lang="en-US" sz="2800" b="1" dirty="0">
                    <a:latin typeface="+mj-lt"/>
                  </a:rPr>
                  <a:t>New York </a:t>
                </a:r>
              </a:p>
            </p:txBody>
          </p:sp>
        </p:grpSp>
        <p:sp>
          <p:nvSpPr>
            <p:cNvPr id="19" name="TextBox 18">
              <a:extLst>
                <a:ext uri="{FF2B5EF4-FFF2-40B4-BE49-F238E27FC236}">
                  <a16:creationId xmlns:a16="http://schemas.microsoft.com/office/drawing/2014/main" id="{B87B7C8E-CF8E-FD91-C47B-48C79A790948}"/>
                </a:ext>
              </a:extLst>
            </p:cNvPr>
            <p:cNvSpPr txBox="1"/>
            <p:nvPr/>
          </p:nvSpPr>
          <p:spPr>
            <a:xfrm>
              <a:off x="1119554" y="2882356"/>
              <a:ext cx="4601308" cy="523220"/>
            </a:xfrm>
            <a:prstGeom prst="rect">
              <a:avLst/>
            </a:prstGeom>
            <a:noFill/>
          </p:spPr>
          <p:txBody>
            <a:bodyPr wrap="square" rtlCol="0">
              <a:spAutoFit/>
            </a:bodyPr>
            <a:lstStyle/>
            <a:p>
              <a:r>
                <a:rPr lang="en-US" sz="2800" b="1" dirty="0">
                  <a:solidFill>
                    <a:schemeClr val="tx1">
                      <a:lumMod val="65000"/>
                      <a:lumOff val="35000"/>
                    </a:schemeClr>
                  </a:solidFill>
                </a:rPr>
                <a:t>Top 3 Cities in sales are</a:t>
              </a:r>
            </a:p>
          </p:txBody>
        </p:sp>
      </p:grpSp>
    </p:spTree>
    <p:extLst>
      <p:ext uri="{BB962C8B-B14F-4D97-AF65-F5344CB8AC3E}">
        <p14:creationId xmlns:p14="http://schemas.microsoft.com/office/powerpoint/2010/main" val="390732238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AB1C7-3CE7-3221-F2EE-A82E7DE9F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5330E-7F92-77A0-2E90-0390923B4EEC}"/>
              </a:ext>
            </a:extLst>
          </p:cNvPr>
          <p:cNvSpPr>
            <a:spLocks noGrp="1"/>
          </p:cNvSpPr>
          <p:nvPr>
            <p:ph type="title"/>
          </p:nvPr>
        </p:nvSpPr>
        <p:spPr>
          <a:xfrm>
            <a:off x="606318" y="214540"/>
            <a:ext cx="10515600" cy="1325563"/>
          </a:xfrm>
        </p:spPr>
        <p:txBody>
          <a:bodyPr/>
          <a:lstStyle/>
          <a:p>
            <a:r>
              <a:rPr lang="en-US" sz="4400" dirty="0">
                <a:solidFill>
                  <a:srgbClr val="283C95"/>
                </a:solidFill>
                <a:latin typeface="Aptos ExtraBold" panose="020B0004020202020204" pitchFamily="34" charset="0"/>
              </a:rPr>
              <a:t>04 EDA Insights</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8C50298B-0A58-F658-3001-4E69BCAFE34F}"/>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4" name="TextBox 3">
            <a:extLst>
              <a:ext uri="{FF2B5EF4-FFF2-40B4-BE49-F238E27FC236}">
                <a16:creationId xmlns:a16="http://schemas.microsoft.com/office/drawing/2014/main" id="{88B83D08-3C76-CD3D-218E-89FF2EEB03B1}"/>
              </a:ext>
            </a:extLst>
          </p:cNvPr>
          <p:cNvSpPr txBox="1"/>
          <p:nvPr/>
        </p:nvSpPr>
        <p:spPr>
          <a:xfrm>
            <a:off x="606318" y="1343650"/>
            <a:ext cx="6392359" cy="523220"/>
          </a:xfrm>
          <a:prstGeom prst="rect">
            <a:avLst/>
          </a:prstGeom>
          <a:noFill/>
        </p:spPr>
        <p:txBody>
          <a:bodyPr wrap="square" rtlCol="0">
            <a:spAutoFit/>
          </a:bodyPr>
          <a:lstStyle/>
          <a:p>
            <a:r>
              <a:rPr lang="en-US" sz="2800" b="1" dirty="0">
                <a:solidFill>
                  <a:schemeClr val="tx1">
                    <a:lumMod val="75000"/>
                    <a:lumOff val="25000"/>
                  </a:schemeClr>
                </a:solidFill>
              </a:rPr>
              <a:t>Geographical Analysis</a:t>
            </a:r>
          </a:p>
        </p:txBody>
      </p:sp>
      <p:pic>
        <p:nvPicPr>
          <p:cNvPr id="9" name="Picture 8">
            <a:extLst>
              <a:ext uri="{FF2B5EF4-FFF2-40B4-BE49-F238E27FC236}">
                <a16:creationId xmlns:a16="http://schemas.microsoft.com/office/drawing/2014/main" id="{F08687A4-1153-48D5-5E80-F2F351E0759C}"/>
              </a:ext>
            </a:extLst>
          </p:cNvPr>
          <p:cNvPicPr>
            <a:picLocks noChangeAspect="1"/>
          </p:cNvPicPr>
          <p:nvPr/>
        </p:nvPicPr>
        <p:blipFill>
          <a:blip r:embed="rId2"/>
          <a:stretch>
            <a:fillRect/>
          </a:stretch>
        </p:blipFill>
        <p:spPr>
          <a:xfrm>
            <a:off x="4731008" y="2171105"/>
            <a:ext cx="6953618" cy="4342042"/>
          </a:xfrm>
          <a:prstGeom prst="rect">
            <a:avLst/>
          </a:prstGeom>
        </p:spPr>
      </p:pic>
      <p:sp>
        <p:nvSpPr>
          <p:cNvPr id="13" name="TextBox 12">
            <a:extLst>
              <a:ext uri="{FF2B5EF4-FFF2-40B4-BE49-F238E27FC236}">
                <a16:creationId xmlns:a16="http://schemas.microsoft.com/office/drawing/2014/main" id="{DB55D477-8DDB-3ABE-3412-6B48B216618B}"/>
              </a:ext>
            </a:extLst>
          </p:cNvPr>
          <p:cNvSpPr txBox="1"/>
          <p:nvPr/>
        </p:nvSpPr>
        <p:spPr>
          <a:xfrm>
            <a:off x="606318" y="2990583"/>
            <a:ext cx="3684328" cy="2000548"/>
          </a:xfrm>
          <a:prstGeom prst="rect">
            <a:avLst/>
          </a:prstGeom>
          <a:noFill/>
        </p:spPr>
        <p:txBody>
          <a:bodyPr wrap="square" rtlCol="0">
            <a:spAutoFit/>
          </a:bodyPr>
          <a:lstStyle/>
          <a:p>
            <a:r>
              <a:rPr lang="en-US" sz="2800" b="1" dirty="0"/>
              <a:t>California</a:t>
            </a:r>
            <a:r>
              <a:rPr lang="en-US" sz="2400" b="1" dirty="0"/>
              <a:t> </a:t>
            </a:r>
            <a:r>
              <a:rPr lang="en-US" sz="2400" b="1" dirty="0">
                <a:solidFill>
                  <a:schemeClr val="tx1">
                    <a:lumMod val="65000"/>
                    <a:lumOff val="35000"/>
                  </a:schemeClr>
                </a:solidFill>
              </a:rPr>
              <a:t>records the </a:t>
            </a:r>
            <a:r>
              <a:rPr lang="en-US" sz="2400" b="1" dirty="0"/>
              <a:t>highest sales</a:t>
            </a:r>
            <a:r>
              <a:rPr lang="en-US" sz="2400" b="1" dirty="0">
                <a:solidFill>
                  <a:schemeClr val="tx1">
                    <a:lumMod val="65000"/>
                    <a:lumOff val="35000"/>
                  </a:schemeClr>
                </a:solidFill>
              </a:rPr>
              <a:t>, indicating a strong market </a:t>
            </a:r>
            <a:r>
              <a:rPr lang="en-US" sz="2400" b="1" dirty="0"/>
              <a:t>presence and potential for further expansion.</a:t>
            </a:r>
          </a:p>
        </p:txBody>
      </p:sp>
    </p:spTree>
    <p:extLst>
      <p:ext uri="{BB962C8B-B14F-4D97-AF65-F5344CB8AC3E}">
        <p14:creationId xmlns:p14="http://schemas.microsoft.com/office/powerpoint/2010/main" val="361950700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AC6F7-0E2A-E241-50E5-B185F38E2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A3627-3FDB-C5AD-3804-46E1200B51C2}"/>
              </a:ext>
            </a:extLst>
          </p:cNvPr>
          <p:cNvSpPr>
            <a:spLocks noGrp="1"/>
          </p:cNvSpPr>
          <p:nvPr>
            <p:ph type="title"/>
          </p:nvPr>
        </p:nvSpPr>
        <p:spPr>
          <a:xfrm>
            <a:off x="606318" y="214540"/>
            <a:ext cx="10515600" cy="1325563"/>
          </a:xfrm>
        </p:spPr>
        <p:txBody>
          <a:bodyPr/>
          <a:lstStyle/>
          <a:p>
            <a:r>
              <a:rPr lang="en-US" sz="4400" dirty="0">
                <a:solidFill>
                  <a:srgbClr val="283C95"/>
                </a:solidFill>
                <a:latin typeface="Aptos ExtraBold" panose="020B0004020202020204" pitchFamily="34" charset="0"/>
              </a:rPr>
              <a:t>04 EDA Insights</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AC23EC03-EE80-2A33-8450-B4F1E267CE78}"/>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4" name="TextBox 3">
            <a:extLst>
              <a:ext uri="{FF2B5EF4-FFF2-40B4-BE49-F238E27FC236}">
                <a16:creationId xmlns:a16="http://schemas.microsoft.com/office/drawing/2014/main" id="{B9B87BB0-2970-E1B4-3056-4E7055A6856B}"/>
              </a:ext>
            </a:extLst>
          </p:cNvPr>
          <p:cNvSpPr txBox="1"/>
          <p:nvPr/>
        </p:nvSpPr>
        <p:spPr>
          <a:xfrm>
            <a:off x="606318" y="1343650"/>
            <a:ext cx="6392359" cy="523220"/>
          </a:xfrm>
          <a:prstGeom prst="rect">
            <a:avLst/>
          </a:prstGeom>
          <a:noFill/>
        </p:spPr>
        <p:txBody>
          <a:bodyPr wrap="square" rtlCol="0">
            <a:spAutoFit/>
          </a:bodyPr>
          <a:lstStyle/>
          <a:p>
            <a:r>
              <a:rPr lang="en-US" sz="2800" b="1" dirty="0">
                <a:solidFill>
                  <a:schemeClr val="tx1">
                    <a:lumMod val="75000"/>
                    <a:lumOff val="25000"/>
                  </a:schemeClr>
                </a:solidFill>
              </a:rPr>
              <a:t>Customer Analysis</a:t>
            </a:r>
          </a:p>
        </p:txBody>
      </p:sp>
      <p:pic>
        <p:nvPicPr>
          <p:cNvPr id="6" name="Picture 5">
            <a:extLst>
              <a:ext uri="{FF2B5EF4-FFF2-40B4-BE49-F238E27FC236}">
                <a16:creationId xmlns:a16="http://schemas.microsoft.com/office/drawing/2014/main" id="{3B198B47-F63A-6892-9496-CC40740CA78E}"/>
              </a:ext>
            </a:extLst>
          </p:cNvPr>
          <p:cNvPicPr>
            <a:picLocks noChangeAspect="1"/>
          </p:cNvPicPr>
          <p:nvPr/>
        </p:nvPicPr>
        <p:blipFill>
          <a:blip r:embed="rId2"/>
          <a:stretch>
            <a:fillRect/>
          </a:stretch>
        </p:blipFill>
        <p:spPr>
          <a:xfrm>
            <a:off x="2110153" y="2073152"/>
            <a:ext cx="7463937" cy="3223437"/>
          </a:xfrm>
          <a:prstGeom prst="rect">
            <a:avLst/>
          </a:prstGeom>
        </p:spPr>
      </p:pic>
      <p:sp>
        <p:nvSpPr>
          <p:cNvPr id="7" name="TextBox 6">
            <a:extLst>
              <a:ext uri="{FF2B5EF4-FFF2-40B4-BE49-F238E27FC236}">
                <a16:creationId xmlns:a16="http://schemas.microsoft.com/office/drawing/2014/main" id="{CF34D05D-D89F-A7B6-CBDF-F4073ABD98A4}"/>
              </a:ext>
            </a:extLst>
          </p:cNvPr>
          <p:cNvSpPr txBox="1"/>
          <p:nvPr/>
        </p:nvSpPr>
        <p:spPr>
          <a:xfrm>
            <a:off x="2528521" y="5392615"/>
            <a:ext cx="8159643" cy="830997"/>
          </a:xfrm>
          <a:prstGeom prst="rect">
            <a:avLst/>
          </a:prstGeom>
          <a:noFill/>
        </p:spPr>
        <p:txBody>
          <a:bodyPr wrap="square" rtlCol="0">
            <a:spAutoFit/>
          </a:bodyPr>
          <a:lstStyle/>
          <a:p>
            <a:r>
              <a:rPr lang="en-US" sz="2400" b="1" dirty="0">
                <a:solidFill>
                  <a:schemeClr val="tx1">
                    <a:lumMod val="65000"/>
                    <a:lumOff val="35000"/>
                  </a:schemeClr>
                </a:solidFill>
              </a:rPr>
              <a:t>The </a:t>
            </a:r>
            <a:r>
              <a:rPr lang="en-US" sz="2400" b="1" dirty="0"/>
              <a:t>Home Office </a:t>
            </a:r>
            <a:r>
              <a:rPr lang="en-US" sz="2400" b="1" dirty="0">
                <a:solidFill>
                  <a:schemeClr val="tx1">
                    <a:lumMod val="65000"/>
                    <a:lumOff val="35000"/>
                  </a:schemeClr>
                </a:solidFill>
              </a:rPr>
              <a:t>segment generates </a:t>
            </a:r>
            <a:r>
              <a:rPr lang="en-US" sz="2400" b="1" dirty="0"/>
              <a:t>the highest sales</a:t>
            </a:r>
            <a:r>
              <a:rPr lang="en-US" sz="2400" b="1" dirty="0">
                <a:solidFill>
                  <a:schemeClr val="tx1">
                    <a:lumMod val="65000"/>
                    <a:lumOff val="35000"/>
                  </a:schemeClr>
                </a:solidFill>
              </a:rPr>
              <a:t>, suggesting </a:t>
            </a:r>
            <a:r>
              <a:rPr lang="en-US" sz="2400" b="1" dirty="0"/>
              <a:t>a key target audience </a:t>
            </a:r>
            <a:r>
              <a:rPr lang="en-US" sz="2400" b="1" dirty="0">
                <a:solidFill>
                  <a:schemeClr val="tx1">
                    <a:lumMod val="65000"/>
                    <a:lumOff val="35000"/>
                  </a:schemeClr>
                </a:solidFill>
              </a:rPr>
              <a:t>for future strategies</a:t>
            </a:r>
          </a:p>
        </p:txBody>
      </p:sp>
    </p:spTree>
    <p:extLst>
      <p:ext uri="{BB962C8B-B14F-4D97-AF65-F5344CB8AC3E}">
        <p14:creationId xmlns:p14="http://schemas.microsoft.com/office/powerpoint/2010/main" val="82907697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013AA-4211-F323-D29C-E3809C01AB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AF066-D877-52BB-14EC-707671A63B89}"/>
              </a:ext>
            </a:extLst>
          </p:cNvPr>
          <p:cNvSpPr>
            <a:spLocks noGrp="1"/>
          </p:cNvSpPr>
          <p:nvPr>
            <p:ph type="title"/>
          </p:nvPr>
        </p:nvSpPr>
        <p:spPr>
          <a:xfrm>
            <a:off x="606318" y="214540"/>
            <a:ext cx="10515600" cy="1325563"/>
          </a:xfrm>
        </p:spPr>
        <p:txBody>
          <a:bodyPr/>
          <a:lstStyle/>
          <a:p>
            <a:r>
              <a:rPr lang="en-US" sz="4400" dirty="0">
                <a:solidFill>
                  <a:srgbClr val="283C95"/>
                </a:solidFill>
                <a:latin typeface="Aptos ExtraBold" panose="020B0004020202020204" pitchFamily="34" charset="0"/>
              </a:rPr>
              <a:t>04 EDA Insights</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B3DCA776-CAB6-4F23-3424-9D36E4E7BC89}"/>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sp>
        <p:nvSpPr>
          <p:cNvPr id="4" name="TextBox 3">
            <a:extLst>
              <a:ext uri="{FF2B5EF4-FFF2-40B4-BE49-F238E27FC236}">
                <a16:creationId xmlns:a16="http://schemas.microsoft.com/office/drawing/2014/main" id="{C74A1FBE-0EA0-7B3B-D926-155C98147CFC}"/>
              </a:ext>
            </a:extLst>
          </p:cNvPr>
          <p:cNvSpPr txBox="1"/>
          <p:nvPr/>
        </p:nvSpPr>
        <p:spPr>
          <a:xfrm>
            <a:off x="606318" y="1343650"/>
            <a:ext cx="6392359" cy="523220"/>
          </a:xfrm>
          <a:prstGeom prst="rect">
            <a:avLst/>
          </a:prstGeom>
          <a:noFill/>
        </p:spPr>
        <p:txBody>
          <a:bodyPr wrap="square" rtlCol="0">
            <a:spAutoFit/>
          </a:bodyPr>
          <a:lstStyle/>
          <a:p>
            <a:r>
              <a:rPr lang="en-US" sz="2800" b="1" dirty="0">
                <a:solidFill>
                  <a:schemeClr val="tx1">
                    <a:lumMod val="75000"/>
                    <a:lumOff val="25000"/>
                  </a:schemeClr>
                </a:solidFill>
              </a:rPr>
              <a:t>Customer Analysis</a:t>
            </a:r>
          </a:p>
        </p:txBody>
      </p:sp>
      <p:pic>
        <p:nvPicPr>
          <p:cNvPr id="8" name="Picture 7">
            <a:extLst>
              <a:ext uri="{FF2B5EF4-FFF2-40B4-BE49-F238E27FC236}">
                <a16:creationId xmlns:a16="http://schemas.microsoft.com/office/drawing/2014/main" id="{048F00C5-33DA-A3D6-8674-4220C29BE0A3}"/>
              </a:ext>
            </a:extLst>
          </p:cNvPr>
          <p:cNvPicPr>
            <a:picLocks noChangeAspect="1"/>
          </p:cNvPicPr>
          <p:nvPr/>
        </p:nvPicPr>
        <p:blipFill>
          <a:blip r:embed="rId2"/>
          <a:stretch>
            <a:fillRect/>
          </a:stretch>
        </p:blipFill>
        <p:spPr>
          <a:xfrm>
            <a:off x="352237" y="2152422"/>
            <a:ext cx="10769681" cy="4131147"/>
          </a:xfrm>
          <a:prstGeom prst="rect">
            <a:avLst/>
          </a:prstGeom>
        </p:spPr>
      </p:pic>
    </p:spTree>
    <p:extLst>
      <p:ext uri="{BB962C8B-B14F-4D97-AF65-F5344CB8AC3E}">
        <p14:creationId xmlns:p14="http://schemas.microsoft.com/office/powerpoint/2010/main" val="258340108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ED27C-99A7-DF9D-E24A-9C98DBA74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BECEFB-7D2D-A131-4C53-4ECBDC1827E1}"/>
              </a:ext>
            </a:extLst>
          </p:cNvPr>
          <p:cNvSpPr>
            <a:spLocks noGrp="1"/>
          </p:cNvSpPr>
          <p:nvPr>
            <p:ph type="title"/>
          </p:nvPr>
        </p:nvSpPr>
        <p:spPr>
          <a:xfrm>
            <a:off x="256245" y="689"/>
            <a:ext cx="4448908" cy="1325563"/>
          </a:xfrm>
        </p:spPr>
        <p:txBody>
          <a:bodyPr/>
          <a:lstStyle/>
          <a:p>
            <a:r>
              <a:rPr lang="en-US" sz="4400" dirty="0">
                <a:solidFill>
                  <a:srgbClr val="283C95"/>
                </a:solidFill>
                <a:latin typeface="Aptos ExtraBold" panose="020B0004020202020204" pitchFamily="34" charset="0"/>
              </a:rPr>
              <a:t>05 Modeling</a:t>
            </a:r>
            <a:endParaRPr lang="en-US" dirty="0">
              <a:solidFill>
                <a:srgbClr val="283C95"/>
              </a:solidFill>
              <a:latin typeface="Aptos ExtraBold" panose="020B0004020202020204" pitchFamily="34" charset="0"/>
            </a:endParaRPr>
          </a:p>
        </p:txBody>
      </p:sp>
      <p:grpSp>
        <p:nvGrpSpPr>
          <p:cNvPr id="8" name="Group 7">
            <a:extLst>
              <a:ext uri="{FF2B5EF4-FFF2-40B4-BE49-F238E27FC236}">
                <a16:creationId xmlns:a16="http://schemas.microsoft.com/office/drawing/2014/main" id="{05A5E326-8147-0E6A-896C-C1CA803D67B7}"/>
              </a:ext>
            </a:extLst>
          </p:cNvPr>
          <p:cNvGrpSpPr/>
          <p:nvPr/>
        </p:nvGrpSpPr>
        <p:grpSpPr>
          <a:xfrm>
            <a:off x="296967" y="2724213"/>
            <a:ext cx="7802521" cy="2875607"/>
            <a:chOff x="4389479" y="3026182"/>
            <a:chExt cx="7802521" cy="2875607"/>
          </a:xfrm>
        </p:grpSpPr>
        <p:sp>
          <p:nvSpPr>
            <p:cNvPr id="7" name="TextBox 6">
              <a:extLst>
                <a:ext uri="{FF2B5EF4-FFF2-40B4-BE49-F238E27FC236}">
                  <a16:creationId xmlns:a16="http://schemas.microsoft.com/office/drawing/2014/main" id="{48B48B9E-64D2-2CD7-B1F5-0DD360815D55}"/>
                </a:ext>
              </a:extLst>
            </p:cNvPr>
            <p:cNvSpPr txBox="1"/>
            <p:nvPr/>
          </p:nvSpPr>
          <p:spPr>
            <a:xfrm>
              <a:off x="4404946" y="3026182"/>
              <a:ext cx="7787054" cy="1446550"/>
            </a:xfrm>
            <a:prstGeom prst="rect">
              <a:avLst/>
            </a:prstGeom>
            <a:noFill/>
          </p:spPr>
          <p:txBody>
            <a:bodyPr wrap="square" rtlCol="0">
              <a:spAutoFit/>
            </a:bodyPr>
            <a:lstStyle/>
            <a:p>
              <a:r>
                <a:rPr lang="en-US" sz="2800" b="1" dirty="0">
                  <a:solidFill>
                    <a:srgbClr val="283C95"/>
                  </a:solidFill>
                  <a:latin typeface="+mj-lt"/>
                </a:rPr>
                <a:t>Models Used</a:t>
              </a:r>
              <a:r>
                <a:rPr lang="en-US" sz="2400" b="0" i="0" dirty="0">
                  <a:solidFill>
                    <a:srgbClr val="F8FAFF"/>
                  </a:solidFill>
                  <a:effectLst/>
                  <a:latin typeface="Inter"/>
                </a:rPr>
                <a:t>:</a:t>
              </a:r>
            </a:p>
            <a:p>
              <a:pPr marL="342900" indent="-342900" algn="l">
                <a:buFont typeface="Arial" panose="020B0604020202020204" pitchFamily="34" charset="0"/>
                <a:buChar char="•"/>
              </a:pPr>
              <a:r>
                <a:rPr lang="en-US" sz="2000" b="1" dirty="0"/>
                <a:t>Linear Regression</a:t>
              </a:r>
            </a:p>
            <a:p>
              <a:pPr marL="342900" indent="-342900" algn="l">
                <a:buFont typeface="Arial" panose="020B0604020202020204" pitchFamily="34" charset="0"/>
                <a:buChar char="•"/>
              </a:pPr>
              <a:r>
                <a:rPr lang="en-US" sz="2000" b="1" dirty="0"/>
                <a:t>Decision Tree Regressor</a:t>
              </a:r>
              <a:endParaRPr lang="en-US" sz="2000" b="1" i="0" dirty="0">
                <a:effectLst/>
                <a:latin typeface="+mj-lt"/>
              </a:endParaRPr>
            </a:p>
            <a:p>
              <a:pPr marL="342900" indent="-342900">
                <a:buFont typeface="Arial" panose="020B0604020202020204" pitchFamily="34" charset="0"/>
                <a:buChar char="•"/>
              </a:pPr>
              <a:r>
                <a:rPr lang="en-US" sz="2000" b="1" dirty="0"/>
                <a:t>Random Forest Regressor</a:t>
              </a:r>
              <a:endParaRPr lang="en-US" sz="2000" b="1" dirty="0">
                <a:solidFill>
                  <a:srgbClr val="283C95"/>
                </a:solidFill>
                <a:latin typeface="+mj-lt"/>
              </a:endParaRPr>
            </a:p>
          </p:txBody>
        </p:sp>
        <p:sp>
          <p:nvSpPr>
            <p:cNvPr id="11" name="TextBox 10">
              <a:extLst>
                <a:ext uri="{FF2B5EF4-FFF2-40B4-BE49-F238E27FC236}">
                  <a16:creationId xmlns:a16="http://schemas.microsoft.com/office/drawing/2014/main" id="{5DFBDA21-87E3-6AD4-91CF-6D8247260409}"/>
                </a:ext>
              </a:extLst>
            </p:cNvPr>
            <p:cNvSpPr txBox="1"/>
            <p:nvPr/>
          </p:nvSpPr>
          <p:spPr>
            <a:xfrm>
              <a:off x="4389479" y="4724544"/>
              <a:ext cx="7531580" cy="1177245"/>
            </a:xfrm>
            <a:prstGeom prst="rect">
              <a:avLst/>
            </a:prstGeom>
            <a:noFill/>
          </p:spPr>
          <p:txBody>
            <a:bodyPr wrap="square" rtlCol="0">
              <a:spAutoFit/>
            </a:bodyPr>
            <a:lstStyle/>
            <a:p>
              <a:r>
                <a:rPr lang="en-US" sz="2800" b="1" i="0" dirty="0">
                  <a:solidFill>
                    <a:srgbClr val="283C95"/>
                  </a:solidFill>
                  <a:effectLst/>
                  <a:latin typeface="+mj-lt"/>
                </a:rPr>
                <a:t>Evaluation Metrics</a:t>
              </a:r>
              <a:endParaRPr lang="en-US" sz="2400" b="0" i="0" dirty="0">
                <a:solidFill>
                  <a:srgbClr val="F8FAFF"/>
                </a:solidFill>
                <a:effectLst/>
                <a:latin typeface="Inter"/>
              </a:endParaRPr>
            </a:p>
            <a:p>
              <a:pPr marL="342900" indent="-342900" algn="l">
                <a:buFont typeface="Arial" panose="020B0604020202020204" pitchFamily="34" charset="0"/>
                <a:buChar char="•"/>
              </a:pPr>
              <a:r>
                <a:rPr lang="en-US" sz="2000" b="1" i="0" dirty="0">
                  <a:effectLst/>
                  <a:latin typeface="+mj-lt"/>
                </a:rPr>
                <a:t>MAE, MSE, RMSE: Measure prediction error</a:t>
              </a:r>
            </a:p>
            <a:p>
              <a:pPr marL="342900" indent="-342900" algn="l">
                <a:spcBef>
                  <a:spcPts val="300"/>
                </a:spcBef>
                <a:buFont typeface="Arial" panose="020B0604020202020204" pitchFamily="34" charset="0"/>
                <a:buChar char="•"/>
              </a:pPr>
              <a:r>
                <a:rPr lang="en-US" sz="2000" b="1" dirty="0">
                  <a:latin typeface="+mj-lt"/>
                </a:rPr>
                <a:t>RMSLE: Accounts for relative error, useful for skewed sales data</a:t>
              </a:r>
              <a:endParaRPr lang="en-US" sz="2000" b="1" i="0" dirty="0">
                <a:effectLst/>
                <a:latin typeface="+mj-lt"/>
              </a:endParaRPr>
            </a:p>
          </p:txBody>
        </p:sp>
      </p:grpSp>
      <p:sp>
        <p:nvSpPr>
          <p:cNvPr id="4" name="TextBox 3">
            <a:extLst>
              <a:ext uri="{FF2B5EF4-FFF2-40B4-BE49-F238E27FC236}">
                <a16:creationId xmlns:a16="http://schemas.microsoft.com/office/drawing/2014/main" id="{C2310C6E-53C8-8140-1187-BFE8044A1D5B}"/>
              </a:ext>
            </a:extLst>
          </p:cNvPr>
          <p:cNvSpPr txBox="1"/>
          <p:nvPr/>
        </p:nvSpPr>
        <p:spPr>
          <a:xfrm>
            <a:off x="304414" y="1144066"/>
            <a:ext cx="7787054" cy="1446550"/>
          </a:xfrm>
          <a:prstGeom prst="rect">
            <a:avLst/>
          </a:prstGeom>
          <a:noFill/>
        </p:spPr>
        <p:txBody>
          <a:bodyPr wrap="square" rtlCol="0">
            <a:spAutoFit/>
          </a:bodyPr>
          <a:lstStyle/>
          <a:p>
            <a:r>
              <a:rPr lang="en-US" sz="2800" b="1" dirty="0">
                <a:solidFill>
                  <a:srgbClr val="283C95"/>
                </a:solidFill>
                <a:latin typeface="+mj-lt"/>
              </a:rPr>
              <a:t>Objectives</a:t>
            </a:r>
            <a:r>
              <a:rPr lang="en-US" sz="2400" b="0" i="0" dirty="0">
                <a:solidFill>
                  <a:srgbClr val="F8FAFF"/>
                </a:solidFill>
                <a:effectLst/>
                <a:latin typeface="Inter"/>
              </a:rPr>
              <a:t>:</a:t>
            </a:r>
          </a:p>
          <a:p>
            <a:pPr marL="342900" indent="-342900" algn="l">
              <a:buFont typeface="Arial" panose="020B0604020202020204" pitchFamily="34" charset="0"/>
              <a:buChar char="•"/>
            </a:pPr>
            <a:r>
              <a:rPr lang="en-US" sz="2000" b="1" dirty="0"/>
              <a:t>Select appropriate regression models</a:t>
            </a:r>
          </a:p>
          <a:p>
            <a:pPr marL="342900" indent="-342900" algn="l">
              <a:buFont typeface="Arial" panose="020B0604020202020204" pitchFamily="34" charset="0"/>
              <a:buChar char="•"/>
            </a:pPr>
            <a:r>
              <a:rPr lang="en-US" sz="2000" b="1" dirty="0"/>
              <a:t>Evaluate their performance using key metrics</a:t>
            </a:r>
            <a:endParaRPr lang="en-US" sz="2000" b="1" i="0" dirty="0">
              <a:effectLst/>
              <a:latin typeface="+mj-lt"/>
            </a:endParaRPr>
          </a:p>
          <a:p>
            <a:pPr marL="342900" indent="-342900">
              <a:buFont typeface="Arial" panose="020B0604020202020204" pitchFamily="34" charset="0"/>
              <a:buChar char="•"/>
            </a:pPr>
            <a:r>
              <a:rPr lang="en-US" sz="2000" b="1" dirty="0"/>
              <a:t>Apply cross-validation to ensure model reliability</a:t>
            </a:r>
            <a:endParaRPr lang="en-US" sz="2000" b="1" dirty="0">
              <a:solidFill>
                <a:srgbClr val="283C95"/>
              </a:solidFill>
              <a:latin typeface="+mj-lt"/>
            </a:endParaRPr>
          </a:p>
        </p:txBody>
      </p:sp>
      <p:pic>
        <p:nvPicPr>
          <p:cNvPr id="14" name="Picture 13" descr="A graph on a screen&#10;&#10;AI-generated content may be incorrect.">
            <a:extLst>
              <a:ext uri="{FF2B5EF4-FFF2-40B4-BE49-F238E27FC236}">
                <a16:creationId xmlns:a16="http://schemas.microsoft.com/office/drawing/2014/main" id="{7F84FF2A-065B-4CE0-FFDE-6044D67C93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49574" y="0"/>
            <a:ext cx="3842426" cy="6858000"/>
          </a:xfrm>
          <a:prstGeom prst="rect">
            <a:avLst/>
          </a:prstGeom>
          <a:ln>
            <a:noFill/>
          </a:ln>
        </p:spPr>
      </p:pic>
      <p:sp>
        <p:nvSpPr>
          <p:cNvPr id="9" name="Rectangle 8">
            <a:extLst>
              <a:ext uri="{FF2B5EF4-FFF2-40B4-BE49-F238E27FC236}">
                <a16:creationId xmlns:a16="http://schemas.microsoft.com/office/drawing/2014/main" id="{266CBD9C-BA65-747A-BFDE-9D8986C112A1}"/>
              </a:ext>
            </a:extLst>
          </p:cNvPr>
          <p:cNvSpPr/>
          <p:nvPr/>
        </p:nvSpPr>
        <p:spPr>
          <a:xfrm rot="20111035">
            <a:off x="7892327" y="-6145973"/>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0462AF-705F-6602-0148-21F067639A3F}"/>
              </a:ext>
            </a:extLst>
          </p:cNvPr>
          <p:cNvSpPr/>
          <p:nvPr/>
        </p:nvSpPr>
        <p:spPr>
          <a:xfrm rot="20111035">
            <a:off x="8474282" y="-6145973"/>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9C79297-788A-B380-B20E-32598ED8709F}"/>
              </a:ext>
            </a:extLst>
          </p:cNvPr>
          <p:cNvSpPr/>
          <p:nvPr/>
        </p:nvSpPr>
        <p:spPr>
          <a:xfrm rot="20111035">
            <a:off x="9056237" y="-6145973"/>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6F77EA6-82DF-2A05-D760-454B59415A1C}"/>
              </a:ext>
            </a:extLst>
          </p:cNvPr>
          <p:cNvSpPr/>
          <p:nvPr/>
        </p:nvSpPr>
        <p:spPr>
          <a:xfrm rot="20111035">
            <a:off x="6590704" y="7814071"/>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DAA1966-3695-9287-AE74-925CFE515A09}"/>
              </a:ext>
            </a:extLst>
          </p:cNvPr>
          <p:cNvSpPr/>
          <p:nvPr/>
        </p:nvSpPr>
        <p:spPr>
          <a:xfrm rot="20111035">
            <a:off x="7172659" y="7814071"/>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918798D-6719-0B85-2AA3-250E5207034F}"/>
              </a:ext>
            </a:extLst>
          </p:cNvPr>
          <p:cNvSpPr/>
          <p:nvPr/>
        </p:nvSpPr>
        <p:spPr>
          <a:xfrm rot="20111035">
            <a:off x="7754614" y="7814071"/>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0167334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8DA6B-7802-5269-82A4-D60CFF5C9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BEB7D-CD6F-AF23-AC14-AC118EA76CE4}"/>
              </a:ext>
            </a:extLst>
          </p:cNvPr>
          <p:cNvSpPr>
            <a:spLocks noGrp="1"/>
          </p:cNvSpPr>
          <p:nvPr>
            <p:ph type="title"/>
          </p:nvPr>
        </p:nvSpPr>
        <p:spPr>
          <a:xfrm>
            <a:off x="90194" y="53240"/>
            <a:ext cx="8700879" cy="1325563"/>
          </a:xfrm>
        </p:spPr>
        <p:txBody>
          <a:bodyPr>
            <a:normAutofit/>
          </a:bodyPr>
          <a:lstStyle/>
          <a:p>
            <a:r>
              <a:rPr lang="en-US" sz="4400" dirty="0">
                <a:solidFill>
                  <a:srgbClr val="283C95"/>
                </a:solidFill>
                <a:latin typeface="Aptos ExtraBold" panose="020B0004020202020204" pitchFamily="34" charset="0"/>
              </a:rPr>
              <a:t>05 Modeling : </a:t>
            </a:r>
            <a:r>
              <a:rPr lang="en-US" sz="4400" b="1" dirty="0">
                <a:solidFill>
                  <a:srgbClr val="283C95"/>
                </a:solidFill>
                <a:latin typeface="+mj-lt"/>
              </a:rPr>
              <a:t>Linear Regression</a:t>
            </a:r>
            <a:endParaRPr lang="en-US" dirty="0">
              <a:solidFill>
                <a:srgbClr val="283C95"/>
              </a:solidFill>
              <a:latin typeface="Aptos ExtraBold" panose="020B0004020202020204" pitchFamily="34" charset="0"/>
            </a:endParaRPr>
          </a:p>
        </p:txBody>
      </p:sp>
      <p:sp>
        <p:nvSpPr>
          <p:cNvPr id="3" name="Title 1">
            <a:extLst>
              <a:ext uri="{FF2B5EF4-FFF2-40B4-BE49-F238E27FC236}">
                <a16:creationId xmlns:a16="http://schemas.microsoft.com/office/drawing/2014/main" id="{01E84C62-3D24-970E-78CA-D17C9C1D15A2}"/>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grpSp>
        <p:nvGrpSpPr>
          <p:cNvPr id="8" name="Group 7">
            <a:extLst>
              <a:ext uri="{FF2B5EF4-FFF2-40B4-BE49-F238E27FC236}">
                <a16:creationId xmlns:a16="http://schemas.microsoft.com/office/drawing/2014/main" id="{E0909537-84ED-BA4E-AF83-F481D827D704}"/>
              </a:ext>
            </a:extLst>
          </p:cNvPr>
          <p:cNvGrpSpPr/>
          <p:nvPr/>
        </p:nvGrpSpPr>
        <p:grpSpPr>
          <a:xfrm>
            <a:off x="428776" y="1651539"/>
            <a:ext cx="7463940" cy="4679998"/>
            <a:chOff x="4404946" y="3026182"/>
            <a:chExt cx="7787054" cy="4679998"/>
          </a:xfrm>
        </p:grpSpPr>
        <p:sp>
          <p:nvSpPr>
            <p:cNvPr id="6" name="TextBox 5">
              <a:extLst>
                <a:ext uri="{FF2B5EF4-FFF2-40B4-BE49-F238E27FC236}">
                  <a16:creationId xmlns:a16="http://schemas.microsoft.com/office/drawing/2014/main" id="{4F782079-AE8E-63F0-86E6-DA9451B50142}"/>
                </a:ext>
              </a:extLst>
            </p:cNvPr>
            <p:cNvSpPr txBox="1"/>
            <p:nvPr/>
          </p:nvSpPr>
          <p:spPr>
            <a:xfrm>
              <a:off x="4404946" y="5028524"/>
              <a:ext cx="6805275" cy="2677656"/>
            </a:xfrm>
            <a:prstGeom prst="rect">
              <a:avLst/>
            </a:prstGeom>
            <a:noFill/>
          </p:spPr>
          <p:txBody>
            <a:bodyPr wrap="square" rtlCol="0">
              <a:spAutoFit/>
            </a:bodyPr>
            <a:lstStyle/>
            <a:p>
              <a:r>
                <a:rPr lang="en-US" sz="2800" b="1" i="0" dirty="0">
                  <a:solidFill>
                    <a:srgbClr val="283C95"/>
                  </a:solidFill>
                  <a:effectLst/>
                  <a:latin typeface="+mj-lt"/>
                </a:rPr>
                <a:t>Conclusion</a:t>
              </a:r>
            </a:p>
            <a:p>
              <a:r>
                <a:rPr lang="en-US" sz="2000" b="1" dirty="0"/>
                <a:t>The linear regression model gave us a decent start, but as seen in the metrics, there’s quite a bit of error — especially noticeable in the RMSLE. This suggests that our sales data might have a skewed or wide distribution, which this linear model doesn’t capture well. That’s why we explored more flexible models next.</a:t>
              </a:r>
            </a:p>
          </p:txBody>
        </p:sp>
        <p:sp>
          <p:nvSpPr>
            <p:cNvPr id="7" name="TextBox 6">
              <a:extLst>
                <a:ext uri="{FF2B5EF4-FFF2-40B4-BE49-F238E27FC236}">
                  <a16:creationId xmlns:a16="http://schemas.microsoft.com/office/drawing/2014/main" id="{DE977A9C-61D7-2A77-ABD2-6B89201B9AED}"/>
                </a:ext>
              </a:extLst>
            </p:cNvPr>
            <p:cNvSpPr txBox="1"/>
            <p:nvPr/>
          </p:nvSpPr>
          <p:spPr>
            <a:xfrm>
              <a:off x="4404946" y="3026182"/>
              <a:ext cx="7787054" cy="1754326"/>
            </a:xfrm>
            <a:prstGeom prst="rect">
              <a:avLst/>
            </a:prstGeom>
            <a:noFill/>
          </p:spPr>
          <p:txBody>
            <a:bodyPr wrap="square" rtlCol="0">
              <a:spAutoFit/>
            </a:bodyPr>
            <a:lstStyle/>
            <a:p>
              <a:r>
                <a:rPr lang="en-US" sz="2800" b="1" dirty="0">
                  <a:solidFill>
                    <a:srgbClr val="283C95"/>
                  </a:solidFill>
                  <a:latin typeface="+mj-lt"/>
                </a:rPr>
                <a:t>Interpretation</a:t>
              </a:r>
              <a:r>
                <a:rPr lang="en-US" sz="2400" b="0" i="0" dirty="0">
                  <a:solidFill>
                    <a:srgbClr val="F8FAFF"/>
                  </a:solidFill>
                  <a:effectLst/>
                  <a:latin typeface="Inter"/>
                </a:rPr>
                <a:t>:</a:t>
              </a:r>
            </a:p>
            <a:p>
              <a:pPr marL="342900" indent="-342900" algn="l">
                <a:buFont typeface="Arial" panose="020B0604020202020204" pitchFamily="34" charset="0"/>
                <a:buChar char="•"/>
              </a:pPr>
              <a:r>
                <a:rPr lang="en-US" sz="2000" b="1" dirty="0"/>
                <a:t>The average error between predicted and actual sales is ~241 units.</a:t>
              </a:r>
            </a:p>
            <a:p>
              <a:pPr marL="342900" indent="-342900" algn="l">
                <a:buFont typeface="Arial" panose="020B0604020202020204" pitchFamily="34" charset="0"/>
                <a:buChar char="•"/>
              </a:pPr>
              <a:r>
                <a:rPr lang="en-US" sz="2000" b="1" dirty="0"/>
                <a:t>A relatively high RMSLE (1.55) suggests the model struggles more with larger sales values.</a:t>
              </a:r>
            </a:p>
          </p:txBody>
        </p:sp>
      </p:grpSp>
      <p:sp>
        <p:nvSpPr>
          <p:cNvPr id="21" name="Rectangle 20">
            <a:extLst>
              <a:ext uri="{FF2B5EF4-FFF2-40B4-BE49-F238E27FC236}">
                <a16:creationId xmlns:a16="http://schemas.microsoft.com/office/drawing/2014/main" id="{B928E12D-E937-7807-483E-E77C6DC185C5}"/>
              </a:ext>
            </a:extLst>
          </p:cNvPr>
          <p:cNvSpPr/>
          <p:nvPr/>
        </p:nvSpPr>
        <p:spPr>
          <a:xfrm rot="20111035">
            <a:off x="7892328" y="-5103822"/>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D0E37AC-A444-1850-D78F-20CA7220FB80}"/>
              </a:ext>
            </a:extLst>
          </p:cNvPr>
          <p:cNvSpPr/>
          <p:nvPr/>
        </p:nvSpPr>
        <p:spPr>
          <a:xfrm rot="20111035">
            <a:off x="8474283" y="-5103822"/>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5AC1DD0E-7429-7D1F-7E14-E583E54454AF}"/>
              </a:ext>
            </a:extLst>
          </p:cNvPr>
          <p:cNvSpPr/>
          <p:nvPr/>
        </p:nvSpPr>
        <p:spPr>
          <a:xfrm rot="20111035">
            <a:off x="9056238" y="-5103822"/>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4" name="Table 3">
            <a:extLst>
              <a:ext uri="{FF2B5EF4-FFF2-40B4-BE49-F238E27FC236}">
                <a16:creationId xmlns:a16="http://schemas.microsoft.com/office/drawing/2014/main" id="{6D195C89-9CA6-DA09-C02C-43AD14C85A37}"/>
              </a:ext>
            </a:extLst>
          </p:cNvPr>
          <p:cNvGraphicFramePr>
            <a:graphicFrameLocks noGrp="1"/>
          </p:cNvGraphicFramePr>
          <p:nvPr>
            <p:extLst>
              <p:ext uri="{D42A27DB-BD31-4B8C-83A1-F6EECF244321}">
                <p14:modId xmlns:p14="http://schemas.microsoft.com/office/powerpoint/2010/main" val="1237895849"/>
              </p:ext>
            </p:extLst>
          </p:nvPr>
        </p:nvGraphicFramePr>
        <p:xfrm>
          <a:off x="7889600" y="2101517"/>
          <a:ext cx="3881486" cy="3104945"/>
        </p:xfrm>
        <a:graphic>
          <a:graphicData uri="http://schemas.openxmlformats.org/drawingml/2006/table">
            <a:tbl>
              <a:tblPr firstRow="1" bandRow="1">
                <a:tableStyleId>{5C22544A-7EE6-4342-B048-85BDC9FD1C3A}</a:tableStyleId>
              </a:tblPr>
              <a:tblGrid>
                <a:gridCol w="1940743">
                  <a:extLst>
                    <a:ext uri="{9D8B030D-6E8A-4147-A177-3AD203B41FA5}">
                      <a16:colId xmlns:a16="http://schemas.microsoft.com/office/drawing/2014/main" val="4078473568"/>
                    </a:ext>
                  </a:extLst>
                </a:gridCol>
                <a:gridCol w="1940743">
                  <a:extLst>
                    <a:ext uri="{9D8B030D-6E8A-4147-A177-3AD203B41FA5}">
                      <a16:colId xmlns:a16="http://schemas.microsoft.com/office/drawing/2014/main" val="4078701055"/>
                    </a:ext>
                  </a:extLst>
                </a:gridCol>
              </a:tblGrid>
              <a:tr h="620989">
                <a:tc gridSpan="2">
                  <a:txBody>
                    <a:bodyPr/>
                    <a:lstStyle/>
                    <a:p>
                      <a:pPr algn="ctr"/>
                      <a:r>
                        <a:rPr lang="en-US" sz="2500" dirty="0"/>
                        <a:t>Performance Metrics</a:t>
                      </a:r>
                    </a:p>
                  </a:txBody>
                  <a:tcPr anchor="ctr"/>
                </a:tc>
                <a:tc hMerge="1">
                  <a:txBody>
                    <a:bodyPr/>
                    <a:lstStyle/>
                    <a:p>
                      <a:endParaRPr lang="en-US" dirty="0"/>
                    </a:p>
                  </a:txBody>
                  <a:tcPr/>
                </a:tc>
                <a:extLst>
                  <a:ext uri="{0D108BD9-81ED-4DB2-BD59-A6C34878D82A}">
                    <a16:rowId xmlns:a16="http://schemas.microsoft.com/office/drawing/2014/main" val="2919094624"/>
                  </a:ext>
                </a:extLst>
              </a:tr>
              <a:tr h="620989">
                <a:tc>
                  <a:txBody>
                    <a:bodyPr/>
                    <a:lstStyle/>
                    <a:p>
                      <a:pPr algn="ctr"/>
                      <a:r>
                        <a:rPr lang="en-US" b="1" dirty="0"/>
                        <a:t>RMSLE</a:t>
                      </a:r>
                    </a:p>
                  </a:txBody>
                  <a:tcPr anchor="ctr"/>
                </a:tc>
                <a:tc>
                  <a:txBody>
                    <a:bodyPr/>
                    <a:lstStyle/>
                    <a:p>
                      <a:pPr algn="ctr"/>
                      <a:r>
                        <a:rPr lang="en-US" b="1" dirty="0"/>
                        <a:t>1.55</a:t>
                      </a:r>
                    </a:p>
                  </a:txBody>
                  <a:tcPr anchor="ctr"/>
                </a:tc>
                <a:extLst>
                  <a:ext uri="{0D108BD9-81ED-4DB2-BD59-A6C34878D82A}">
                    <a16:rowId xmlns:a16="http://schemas.microsoft.com/office/drawing/2014/main" val="23947187"/>
                  </a:ext>
                </a:extLst>
              </a:tr>
              <a:tr h="620989">
                <a:tc>
                  <a:txBody>
                    <a:bodyPr/>
                    <a:lstStyle/>
                    <a:p>
                      <a:pPr algn="ctr"/>
                      <a:r>
                        <a:rPr lang="en-US" b="1" dirty="0"/>
                        <a:t>RMSE</a:t>
                      </a:r>
                    </a:p>
                  </a:txBody>
                  <a:tcPr anchor="ctr"/>
                </a:tc>
                <a:tc>
                  <a:txBody>
                    <a:bodyPr/>
                    <a:lstStyle/>
                    <a:p>
                      <a:pPr algn="ctr"/>
                      <a:r>
                        <a:rPr lang="en-US" b="1" dirty="0"/>
                        <a:t>740.92</a:t>
                      </a:r>
                    </a:p>
                  </a:txBody>
                  <a:tcPr anchor="ctr"/>
                </a:tc>
                <a:extLst>
                  <a:ext uri="{0D108BD9-81ED-4DB2-BD59-A6C34878D82A}">
                    <a16:rowId xmlns:a16="http://schemas.microsoft.com/office/drawing/2014/main" val="2137564356"/>
                  </a:ext>
                </a:extLst>
              </a:tr>
              <a:tr h="620989">
                <a:tc>
                  <a:txBody>
                    <a:bodyPr/>
                    <a:lstStyle/>
                    <a:p>
                      <a:pPr algn="ctr"/>
                      <a:r>
                        <a:rPr lang="en-US" b="1" dirty="0"/>
                        <a:t>MSE</a:t>
                      </a:r>
                    </a:p>
                  </a:txBody>
                  <a:tcPr anchor="ctr"/>
                </a:tc>
                <a:tc>
                  <a:txBody>
                    <a:bodyPr/>
                    <a:lstStyle/>
                    <a:p>
                      <a:pPr algn="ctr"/>
                      <a:r>
                        <a:rPr lang="en-US" b="1" dirty="0"/>
                        <a:t>548960.22</a:t>
                      </a:r>
                    </a:p>
                  </a:txBody>
                  <a:tcPr anchor="ctr"/>
                </a:tc>
                <a:extLst>
                  <a:ext uri="{0D108BD9-81ED-4DB2-BD59-A6C34878D82A}">
                    <a16:rowId xmlns:a16="http://schemas.microsoft.com/office/drawing/2014/main" val="1878555358"/>
                  </a:ext>
                </a:extLst>
              </a:tr>
              <a:tr h="620989">
                <a:tc>
                  <a:txBody>
                    <a:bodyPr/>
                    <a:lstStyle/>
                    <a:p>
                      <a:pPr algn="ctr"/>
                      <a:r>
                        <a:rPr lang="en-US" b="1" dirty="0"/>
                        <a:t>MAE</a:t>
                      </a:r>
                    </a:p>
                  </a:txBody>
                  <a:tcPr anchor="ctr"/>
                </a:tc>
                <a:tc>
                  <a:txBody>
                    <a:bodyPr/>
                    <a:lstStyle/>
                    <a:p>
                      <a:pPr algn="ctr"/>
                      <a:r>
                        <a:rPr lang="en-US" b="1" dirty="0"/>
                        <a:t>240.86</a:t>
                      </a:r>
                    </a:p>
                  </a:txBody>
                  <a:tcPr anchor="ctr"/>
                </a:tc>
                <a:extLst>
                  <a:ext uri="{0D108BD9-81ED-4DB2-BD59-A6C34878D82A}">
                    <a16:rowId xmlns:a16="http://schemas.microsoft.com/office/drawing/2014/main" val="3709831111"/>
                  </a:ext>
                </a:extLst>
              </a:tr>
            </a:tbl>
          </a:graphicData>
        </a:graphic>
      </p:graphicFrame>
      <p:sp>
        <p:nvSpPr>
          <p:cNvPr id="9" name="Rectangle 8">
            <a:extLst>
              <a:ext uri="{FF2B5EF4-FFF2-40B4-BE49-F238E27FC236}">
                <a16:creationId xmlns:a16="http://schemas.microsoft.com/office/drawing/2014/main" id="{D7F4E979-5EFD-DFA3-73FC-853A4CCCD062}"/>
              </a:ext>
            </a:extLst>
          </p:cNvPr>
          <p:cNvSpPr/>
          <p:nvPr/>
        </p:nvSpPr>
        <p:spPr>
          <a:xfrm rot="20111035">
            <a:off x="6590704" y="6854592"/>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45A8E04-AB53-B24C-B32A-33C2ADDC8048}"/>
              </a:ext>
            </a:extLst>
          </p:cNvPr>
          <p:cNvSpPr/>
          <p:nvPr/>
        </p:nvSpPr>
        <p:spPr>
          <a:xfrm rot="20111035">
            <a:off x="7172659" y="6854592"/>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0E755BB-923D-B77A-4421-C87F47FDAE1A}"/>
              </a:ext>
            </a:extLst>
          </p:cNvPr>
          <p:cNvSpPr/>
          <p:nvPr/>
        </p:nvSpPr>
        <p:spPr>
          <a:xfrm rot="20111035">
            <a:off x="7754614" y="6854592"/>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6768469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0F9A5-70E2-F0B9-6C41-77607D0F75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527E2F-421D-E8D8-9486-5333D050592E}"/>
              </a:ext>
            </a:extLst>
          </p:cNvPr>
          <p:cNvSpPr>
            <a:spLocks noGrp="1"/>
          </p:cNvSpPr>
          <p:nvPr>
            <p:ph type="title"/>
          </p:nvPr>
        </p:nvSpPr>
        <p:spPr>
          <a:xfrm>
            <a:off x="90194" y="53240"/>
            <a:ext cx="10802395" cy="1325563"/>
          </a:xfrm>
        </p:spPr>
        <p:txBody>
          <a:bodyPr>
            <a:normAutofit/>
          </a:bodyPr>
          <a:lstStyle/>
          <a:p>
            <a:r>
              <a:rPr lang="en-US" sz="4400" dirty="0">
                <a:solidFill>
                  <a:srgbClr val="283C95"/>
                </a:solidFill>
                <a:latin typeface="Aptos ExtraBold" panose="020B0004020202020204" pitchFamily="34" charset="0"/>
              </a:rPr>
              <a:t>05 Modeling : </a:t>
            </a:r>
            <a:r>
              <a:rPr lang="en-US" dirty="0">
                <a:solidFill>
                  <a:srgbClr val="283C95"/>
                </a:solidFill>
                <a:latin typeface="Aptos ExtraBold" panose="020B0004020202020204" pitchFamily="34" charset="0"/>
              </a:rPr>
              <a:t>Decision Tree Regressor</a:t>
            </a:r>
          </a:p>
        </p:txBody>
      </p:sp>
      <p:sp>
        <p:nvSpPr>
          <p:cNvPr id="3" name="Title 1">
            <a:extLst>
              <a:ext uri="{FF2B5EF4-FFF2-40B4-BE49-F238E27FC236}">
                <a16:creationId xmlns:a16="http://schemas.microsoft.com/office/drawing/2014/main" id="{B57E2B10-B756-18F2-FEA8-DC7ADBD2AB05}"/>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grpSp>
        <p:nvGrpSpPr>
          <p:cNvPr id="8" name="Group 7">
            <a:extLst>
              <a:ext uri="{FF2B5EF4-FFF2-40B4-BE49-F238E27FC236}">
                <a16:creationId xmlns:a16="http://schemas.microsoft.com/office/drawing/2014/main" id="{9BC98AE5-8768-1436-61B7-FAC4F170DE01}"/>
              </a:ext>
            </a:extLst>
          </p:cNvPr>
          <p:cNvGrpSpPr/>
          <p:nvPr/>
        </p:nvGrpSpPr>
        <p:grpSpPr>
          <a:xfrm>
            <a:off x="428776" y="1651539"/>
            <a:ext cx="7463940" cy="3853473"/>
            <a:chOff x="4404946" y="3026182"/>
            <a:chExt cx="7787054" cy="3853473"/>
          </a:xfrm>
        </p:grpSpPr>
        <p:sp>
          <p:nvSpPr>
            <p:cNvPr id="6" name="TextBox 5">
              <a:extLst>
                <a:ext uri="{FF2B5EF4-FFF2-40B4-BE49-F238E27FC236}">
                  <a16:creationId xmlns:a16="http://schemas.microsoft.com/office/drawing/2014/main" id="{E7D49B51-659C-6C15-88F5-EB8CCC49DA71}"/>
                </a:ext>
              </a:extLst>
            </p:cNvPr>
            <p:cNvSpPr txBox="1"/>
            <p:nvPr/>
          </p:nvSpPr>
          <p:spPr>
            <a:xfrm>
              <a:off x="4404946" y="5433105"/>
              <a:ext cx="6805275" cy="1446550"/>
            </a:xfrm>
            <a:prstGeom prst="rect">
              <a:avLst/>
            </a:prstGeom>
            <a:noFill/>
          </p:spPr>
          <p:txBody>
            <a:bodyPr wrap="square" rtlCol="0">
              <a:spAutoFit/>
            </a:bodyPr>
            <a:lstStyle/>
            <a:p>
              <a:r>
                <a:rPr lang="en-US" sz="2800" b="1" i="0" dirty="0">
                  <a:solidFill>
                    <a:srgbClr val="283C95"/>
                  </a:solidFill>
                  <a:effectLst/>
                  <a:latin typeface="+mj-lt"/>
                </a:rPr>
                <a:t>Conclusion</a:t>
              </a:r>
            </a:p>
            <a:p>
              <a:r>
                <a:rPr lang="en-US" sz="2000" b="1" dirty="0"/>
                <a:t>The Decision Tree didn’t outperform Linear Regression, indicating a need for either better tuning or an ensemble method like Random Forest.</a:t>
              </a:r>
            </a:p>
          </p:txBody>
        </p:sp>
        <p:sp>
          <p:nvSpPr>
            <p:cNvPr id="7" name="TextBox 6">
              <a:extLst>
                <a:ext uri="{FF2B5EF4-FFF2-40B4-BE49-F238E27FC236}">
                  <a16:creationId xmlns:a16="http://schemas.microsoft.com/office/drawing/2014/main" id="{C9972FDC-E54F-D440-05CF-48DF18B5237C}"/>
                </a:ext>
              </a:extLst>
            </p:cNvPr>
            <p:cNvSpPr txBox="1"/>
            <p:nvPr/>
          </p:nvSpPr>
          <p:spPr>
            <a:xfrm>
              <a:off x="4404946" y="3026182"/>
              <a:ext cx="7787054" cy="2062103"/>
            </a:xfrm>
            <a:prstGeom prst="rect">
              <a:avLst/>
            </a:prstGeom>
            <a:noFill/>
          </p:spPr>
          <p:txBody>
            <a:bodyPr wrap="square" rtlCol="0">
              <a:spAutoFit/>
            </a:bodyPr>
            <a:lstStyle/>
            <a:p>
              <a:r>
                <a:rPr lang="en-US" sz="2800" b="1" dirty="0">
                  <a:solidFill>
                    <a:srgbClr val="283C95"/>
                  </a:solidFill>
                  <a:latin typeface="+mj-lt"/>
                </a:rPr>
                <a:t>Interpretation</a:t>
              </a:r>
              <a:r>
                <a:rPr lang="en-US" sz="2400" b="0" i="0" dirty="0">
                  <a:solidFill>
                    <a:srgbClr val="F8FAFF"/>
                  </a:solidFill>
                  <a:effectLst/>
                  <a:latin typeface="Inter"/>
                </a:rPr>
                <a:t>:</a:t>
              </a:r>
            </a:p>
            <a:p>
              <a:pPr marL="342900" indent="-342900" algn="l">
                <a:buFont typeface="Arial" panose="020B0604020202020204" pitchFamily="34" charset="0"/>
                <a:buChar char="•"/>
              </a:pPr>
              <a:r>
                <a:rPr lang="en-US" sz="2000" b="1" dirty="0"/>
                <a:t>The MAE increased to ~326 units compared to Linear Regression's 240.</a:t>
              </a:r>
              <a:endParaRPr lang="ar-EG" sz="2000" b="1" dirty="0"/>
            </a:p>
            <a:p>
              <a:pPr algn="l"/>
              <a:endParaRPr lang="ar-EG" sz="2000" b="1" dirty="0"/>
            </a:p>
            <a:p>
              <a:pPr marL="342900" indent="-342900" algn="l">
                <a:buFont typeface="Arial" panose="020B0604020202020204" pitchFamily="34" charset="0"/>
                <a:buChar char="•"/>
              </a:pPr>
              <a:r>
                <a:rPr lang="en-US" sz="2000" b="1" dirty="0"/>
                <a:t>RMSLE (1.63) is higher than Linear Regression → worse at handling larger sales values.</a:t>
              </a:r>
            </a:p>
          </p:txBody>
        </p:sp>
      </p:grpSp>
      <p:graphicFrame>
        <p:nvGraphicFramePr>
          <p:cNvPr id="4" name="Table 3">
            <a:extLst>
              <a:ext uri="{FF2B5EF4-FFF2-40B4-BE49-F238E27FC236}">
                <a16:creationId xmlns:a16="http://schemas.microsoft.com/office/drawing/2014/main" id="{0C7279A1-5190-8F4E-411A-52693F994DCA}"/>
              </a:ext>
            </a:extLst>
          </p:cNvPr>
          <p:cNvGraphicFramePr>
            <a:graphicFrameLocks noGrp="1"/>
          </p:cNvGraphicFramePr>
          <p:nvPr>
            <p:extLst>
              <p:ext uri="{D42A27DB-BD31-4B8C-83A1-F6EECF244321}">
                <p14:modId xmlns:p14="http://schemas.microsoft.com/office/powerpoint/2010/main" val="791544672"/>
              </p:ext>
            </p:extLst>
          </p:nvPr>
        </p:nvGraphicFramePr>
        <p:xfrm>
          <a:off x="7889600" y="2101517"/>
          <a:ext cx="3881486" cy="3104945"/>
        </p:xfrm>
        <a:graphic>
          <a:graphicData uri="http://schemas.openxmlformats.org/drawingml/2006/table">
            <a:tbl>
              <a:tblPr firstRow="1" bandRow="1">
                <a:tableStyleId>{5C22544A-7EE6-4342-B048-85BDC9FD1C3A}</a:tableStyleId>
              </a:tblPr>
              <a:tblGrid>
                <a:gridCol w="1940743">
                  <a:extLst>
                    <a:ext uri="{9D8B030D-6E8A-4147-A177-3AD203B41FA5}">
                      <a16:colId xmlns:a16="http://schemas.microsoft.com/office/drawing/2014/main" val="4078473568"/>
                    </a:ext>
                  </a:extLst>
                </a:gridCol>
                <a:gridCol w="1940743">
                  <a:extLst>
                    <a:ext uri="{9D8B030D-6E8A-4147-A177-3AD203B41FA5}">
                      <a16:colId xmlns:a16="http://schemas.microsoft.com/office/drawing/2014/main" val="4078701055"/>
                    </a:ext>
                  </a:extLst>
                </a:gridCol>
              </a:tblGrid>
              <a:tr h="620989">
                <a:tc gridSpan="2">
                  <a:txBody>
                    <a:bodyPr/>
                    <a:lstStyle/>
                    <a:p>
                      <a:pPr algn="ctr"/>
                      <a:r>
                        <a:rPr lang="en-US" sz="2500" dirty="0"/>
                        <a:t>Performance Metrics</a:t>
                      </a:r>
                    </a:p>
                  </a:txBody>
                  <a:tcPr anchor="ctr"/>
                </a:tc>
                <a:tc hMerge="1">
                  <a:txBody>
                    <a:bodyPr/>
                    <a:lstStyle/>
                    <a:p>
                      <a:endParaRPr lang="en-US" dirty="0"/>
                    </a:p>
                  </a:txBody>
                  <a:tcPr/>
                </a:tc>
                <a:extLst>
                  <a:ext uri="{0D108BD9-81ED-4DB2-BD59-A6C34878D82A}">
                    <a16:rowId xmlns:a16="http://schemas.microsoft.com/office/drawing/2014/main" val="2919094624"/>
                  </a:ext>
                </a:extLst>
              </a:tr>
              <a:tr h="620989">
                <a:tc>
                  <a:txBody>
                    <a:bodyPr/>
                    <a:lstStyle/>
                    <a:p>
                      <a:pPr algn="ctr"/>
                      <a:r>
                        <a:rPr lang="en-US" b="1" dirty="0"/>
                        <a:t>RMSLE</a:t>
                      </a:r>
                    </a:p>
                  </a:txBody>
                  <a:tcPr anchor="ctr"/>
                </a:tc>
                <a:tc>
                  <a:txBody>
                    <a:bodyPr/>
                    <a:lstStyle/>
                    <a:p>
                      <a:pPr algn="ctr"/>
                      <a:r>
                        <a:rPr lang="ar-EG" b="1" dirty="0"/>
                        <a:t>1.63</a:t>
                      </a:r>
                      <a:endParaRPr lang="en-US" b="1" dirty="0"/>
                    </a:p>
                  </a:txBody>
                  <a:tcPr anchor="ctr"/>
                </a:tc>
                <a:extLst>
                  <a:ext uri="{0D108BD9-81ED-4DB2-BD59-A6C34878D82A}">
                    <a16:rowId xmlns:a16="http://schemas.microsoft.com/office/drawing/2014/main" val="23947187"/>
                  </a:ext>
                </a:extLst>
              </a:tr>
              <a:tr h="620989">
                <a:tc>
                  <a:txBody>
                    <a:bodyPr/>
                    <a:lstStyle/>
                    <a:p>
                      <a:pPr algn="ctr"/>
                      <a:r>
                        <a:rPr lang="en-US" b="1" dirty="0"/>
                        <a:t>RMSE</a:t>
                      </a:r>
                    </a:p>
                  </a:txBody>
                  <a:tcPr anchor="ctr"/>
                </a:tc>
                <a:tc>
                  <a:txBody>
                    <a:bodyPr/>
                    <a:lstStyle/>
                    <a:p>
                      <a:pPr algn="ctr"/>
                      <a:r>
                        <a:rPr lang="ar-EG" b="1" dirty="0"/>
                        <a:t>1053.69</a:t>
                      </a:r>
                      <a:endParaRPr lang="en-US" b="1" dirty="0"/>
                    </a:p>
                  </a:txBody>
                  <a:tcPr anchor="ctr"/>
                </a:tc>
                <a:extLst>
                  <a:ext uri="{0D108BD9-81ED-4DB2-BD59-A6C34878D82A}">
                    <a16:rowId xmlns:a16="http://schemas.microsoft.com/office/drawing/2014/main" val="2137564356"/>
                  </a:ext>
                </a:extLst>
              </a:tr>
              <a:tr h="620989">
                <a:tc>
                  <a:txBody>
                    <a:bodyPr/>
                    <a:lstStyle/>
                    <a:p>
                      <a:pPr algn="ctr"/>
                      <a:r>
                        <a:rPr lang="en-US" b="1" dirty="0"/>
                        <a:t>MSE</a:t>
                      </a:r>
                    </a:p>
                  </a:txBody>
                  <a:tcPr anchor="ctr"/>
                </a:tc>
                <a:tc>
                  <a:txBody>
                    <a:bodyPr/>
                    <a:lstStyle/>
                    <a:p>
                      <a:pPr algn="ctr"/>
                      <a:r>
                        <a:rPr lang="ar-EG" b="1" dirty="0"/>
                        <a:t>1110271.53</a:t>
                      </a:r>
                      <a:endParaRPr lang="en-US" b="1" dirty="0"/>
                    </a:p>
                  </a:txBody>
                  <a:tcPr anchor="ctr"/>
                </a:tc>
                <a:extLst>
                  <a:ext uri="{0D108BD9-81ED-4DB2-BD59-A6C34878D82A}">
                    <a16:rowId xmlns:a16="http://schemas.microsoft.com/office/drawing/2014/main" val="1878555358"/>
                  </a:ext>
                </a:extLst>
              </a:tr>
              <a:tr h="620989">
                <a:tc>
                  <a:txBody>
                    <a:bodyPr/>
                    <a:lstStyle/>
                    <a:p>
                      <a:pPr algn="ctr"/>
                      <a:r>
                        <a:rPr lang="en-US" b="1" dirty="0"/>
                        <a:t>MAE</a:t>
                      </a:r>
                    </a:p>
                  </a:txBody>
                  <a:tcPr anchor="ctr"/>
                </a:tc>
                <a:tc>
                  <a:txBody>
                    <a:bodyPr/>
                    <a:lstStyle/>
                    <a:p>
                      <a:pPr algn="ctr"/>
                      <a:r>
                        <a:rPr lang="ar-EG" b="1" dirty="0"/>
                        <a:t>326.07</a:t>
                      </a:r>
                      <a:endParaRPr lang="en-US" b="1" dirty="0"/>
                    </a:p>
                  </a:txBody>
                  <a:tcPr anchor="ctr"/>
                </a:tc>
                <a:extLst>
                  <a:ext uri="{0D108BD9-81ED-4DB2-BD59-A6C34878D82A}">
                    <a16:rowId xmlns:a16="http://schemas.microsoft.com/office/drawing/2014/main" val="3709831111"/>
                  </a:ext>
                </a:extLst>
              </a:tr>
            </a:tbl>
          </a:graphicData>
        </a:graphic>
      </p:graphicFrame>
      <p:sp>
        <p:nvSpPr>
          <p:cNvPr id="5" name="Rectangle 4">
            <a:extLst>
              <a:ext uri="{FF2B5EF4-FFF2-40B4-BE49-F238E27FC236}">
                <a16:creationId xmlns:a16="http://schemas.microsoft.com/office/drawing/2014/main" id="{6265D988-DD7E-9D30-366B-B4E35E1BC992}"/>
              </a:ext>
            </a:extLst>
          </p:cNvPr>
          <p:cNvSpPr/>
          <p:nvPr/>
        </p:nvSpPr>
        <p:spPr>
          <a:xfrm rot="20111035">
            <a:off x="9530628" y="-5014208"/>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0DE607A-6C20-9100-B916-77E00692D0F8}"/>
              </a:ext>
            </a:extLst>
          </p:cNvPr>
          <p:cNvSpPr/>
          <p:nvPr/>
        </p:nvSpPr>
        <p:spPr>
          <a:xfrm rot="20111035">
            <a:off x="10112583" y="-5014208"/>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F1C3A6B-54C7-017F-55CD-D7B94674919E}"/>
              </a:ext>
            </a:extLst>
          </p:cNvPr>
          <p:cNvSpPr/>
          <p:nvPr/>
        </p:nvSpPr>
        <p:spPr>
          <a:xfrm rot="20111035">
            <a:off x="10694538" y="-5014208"/>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622DF151-23B8-C6D3-A9EC-EA8990C65616}"/>
              </a:ext>
            </a:extLst>
          </p:cNvPr>
          <p:cNvSpPr/>
          <p:nvPr/>
        </p:nvSpPr>
        <p:spPr>
          <a:xfrm rot="20111035">
            <a:off x="6266854" y="6918832"/>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44E0C72-0275-FD8F-4D5D-E79F2EC90AB8}"/>
              </a:ext>
            </a:extLst>
          </p:cNvPr>
          <p:cNvSpPr/>
          <p:nvPr/>
        </p:nvSpPr>
        <p:spPr>
          <a:xfrm rot="20111035">
            <a:off x="6848809" y="6918832"/>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B20577BC-0C05-EE24-5E69-F63A49678929}"/>
              </a:ext>
            </a:extLst>
          </p:cNvPr>
          <p:cNvSpPr/>
          <p:nvPr/>
        </p:nvSpPr>
        <p:spPr>
          <a:xfrm rot="20111035">
            <a:off x="7430764" y="6918832"/>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4371202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3042D-D3D9-5DEF-38A6-B00E91CA24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33491-3A91-8B21-7571-BB960C02E229}"/>
              </a:ext>
            </a:extLst>
          </p:cNvPr>
          <p:cNvSpPr>
            <a:spLocks noGrp="1"/>
          </p:cNvSpPr>
          <p:nvPr>
            <p:ph type="title"/>
          </p:nvPr>
        </p:nvSpPr>
        <p:spPr>
          <a:xfrm>
            <a:off x="90194" y="53240"/>
            <a:ext cx="10802395" cy="1325563"/>
          </a:xfrm>
        </p:spPr>
        <p:txBody>
          <a:bodyPr>
            <a:normAutofit/>
          </a:bodyPr>
          <a:lstStyle/>
          <a:p>
            <a:r>
              <a:rPr lang="en-US" sz="4400" dirty="0">
                <a:solidFill>
                  <a:srgbClr val="283C95"/>
                </a:solidFill>
                <a:latin typeface="Aptos ExtraBold" panose="020B0004020202020204" pitchFamily="34" charset="0"/>
              </a:rPr>
              <a:t>05 Modeling : </a:t>
            </a:r>
            <a:r>
              <a:rPr lang="en-US" dirty="0">
                <a:solidFill>
                  <a:srgbClr val="283C95"/>
                </a:solidFill>
                <a:latin typeface="Aptos ExtraBold" panose="020B0004020202020204" pitchFamily="34" charset="0"/>
              </a:rPr>
              <a:t>Random Forest</a:t>
            </a:r>
          </a:p>
        </p:txBody>
      </p:sp>
      <p:sp>
        <p:nvSpPr>
          <p:cNvPr id="3" name="Title 1">
            <a:extLst>
              <a:ext uri="{FF2B5EF4-FFF2-40B4-BE49-F238E27FC236}">
                <a16:creationId xmlns:a16="http://schemas.microsoft.com/office/drawing/2014/main" id="{5BEFE46B-B3E9-FC95-B6DF-37973AF88E8B}"/>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grpSp>
        <p:nvGrpSpPr>
          <p:cNvPr id="8" name="Group 7">
            <a:extLst>
              <a:ext uri="{FF2B5EF4-FFF2-40B4-BE49-F238E27FC236}">
                <a16:creationId xmlns:a16="http://schemas.microsoft.com/office/drawing/2014/main" id="{230D888D-F20C-0EDB-21D5-AACABD798FB8}"/>
              </a:ext>
            </a:extLst>
          </p:cNvPr>
          <p:cNvGrpSpPr/>
          <p:nvPr/>
        </p:nvGrpSpPr>
        <p:grpSpPr>
          <a:xfrm>
            <a:off x="428776" y="1651539"/>
            <a:ext cx="7463940" cy="4161249"/>
            <a:chOff x="4404946" y="3026182"/>
            <a:chExt cx="7787054" cy="4161249"/>
          </a:xfrm>
        </p:grpSpPr>
        <p:sp>
          <p:nvSpPr>
            <p:cNvPr id="6" name="TextBox 5">
              <a:extLst>
                <a:ext uri="{FF2B5EF4-FFF2-40B4-BE49-F238E27FC236}">
                  <a16:creationId xmlns:a16="http://schemas.microsoft.com/office/drawing/2014/main" id="{A3384167-1707-469D-A6BB-0128B30A36AF}"/>
                </a:ext>
              </a:extLst>
            </p:cNvPr>
            <p:cNvSpPr txBox="1"/>
            <p:nvPr/>
          </p:nvSpPr>
          <p:spPr>
            <a:xfrm>
              <a:off x="4404946" y="5433105"/>
              <a:ext cx="6805275" cy="1754326"/>
            </a:xfrm>
            <a:prstGeom prst="rect">
              <a:avLst/>
            </a:prstGeom>
            <a:noFill/>
          </p:spPr>
          <p:txBody>
            <a:bodyPr wrap="square" rtlCol="0">
              <a:spAutoFit/>
            </a:bodyPr>
            <a:lstStyle/>
            <a:p>
              <a:r>
                <a:rPr lang="en-US" sz="2800" b="1" i="0" dirty="0">
                  <a:solidFill>
                    <a:srgbClr val="283C95"/>
                  </a:solidFill>
                  <a:effectLst/>
                  <a:latin typeface="+mj-lt"/>
                </a:rPr>
                <a:t>Conclusion</a:t>
              </a:r>
            </a:p>
            <a:p>
              <a:r>
                <a:rPr lang="en-US" sz="2000" b="1" dirty="0"/>
                <a:t>Random Forest offers the most consistent performance across all metrics. It handles complexity better than a single Decision Tree and reduces overfitting while capturing non-linear patterns.</a:t>
              </a:r>
            </a:p>
          </p:txBody>
        </p:sp>
        <p:sp>
          <p:nvSpPr>
            <p:cNvPr id="7" name="TextBox 6">
              <a:extLst>
                <a:ext uri="{FF2B5EF4-FFF2-40B4-BE49-F238E27FC236}">
                  <a16:creationId xmlns:a16="http://schemas.microsoft.com/office/drawing/2014/main" id="{D9208DD5-EB10-BF52-3373-15D5CD63F361}"/>
                </a:ext>
              </a:extLst>
            </p:cNvPr>
            <p:cNvSpPr txBox="1"/>
            <p:nvPr/>
          </p:nvSpPr>
          <p:spPr>
            <a:xfrm>
              <a:off x="4404946" y="3026182"/>
              <a:ext cx="7787054" cy="2369880"/>
            </a:xfrm>
            <a:prstGeom prst="rect">
              <a:avLst/>
            </a:prstGeom>
            <a:noFill/>
          </p:spPr>
          <p:txBody>
            <a:bodyPr wrap="square" rtlCol="0">
              <a:spAutoFit/>
            </a:bodyPr>
            <a:lstStyle/>
            <a:p>
              <a:r>
                <a:rPr lang="en-US" sz="2800" b="1" dirty="0">
                  <a:solidFill>
                    <a:srgbClr val="283C95"/>
                  </a:solidFill>
                  <a:latin typeface="+mj-lt"/>
                </a:rPr>
                <a:t>Interpretation</a:t>
              </a:r>
              <a:r>
                <a:rPr lang="en-US" sz="2400" b="0" i="0" dirty="0">
                  <a:solidFill>
                    <a:srgbClr val="F8FAFF"/>
                  </a:solidFill>
                  <a:effectLst/>
                  <a:latin typeface="Inter"/>
                </a:rPr>
                <a:t>:</a:t>
              </a:r>
            </a:p>
            <a:p>
              <a:pPr marL="342900" indent="-342900" algn="l">
                <a:buFont typeface="Arial" panose="020B0604020202020204" pitchFamily="34" charset="0"/>
                <a:buChar char="•"/>
              </a:pPr>
              <a:r>
                <a:rPr lang="en-US" sz="2000" b="1" dirty="0"/>
                <a:t>Best RMSLE of all models (1.52), suggesting it's better at predicting both low and high sales values.</a:t>
              </a:r>
              <a:endParaRPr lang="ar-EG" sz="2000" b="1" dirty="0"/>
            </a:p>
            <a:p>
              <a:pPr marL="342900" indent="-342900" algn="l">
                <a:buFont typeface="Arial" panose="020B0604020202020204" pitchFamily="34" charset="0"/>
                <a:buChar char="•"/>
              </a:pPr>
              <a:r>
                <a:rPr lang="en-US" sz="2000" b="1" dirty="0"/>
                <a:t>Lower RMSE and MSE than Decision Tree → better generalization.</a:t>
              </a:r>
              <a:endParaRPr lang="ar-EG" sz="2000" b="1" dirty="0"/>
            </a:p>
            <a:p>
              <a:pPr marL="342900" indent="-342900" algn="l">
                <a:buFont typeface="Arial" panose="020B0604020202020204" pitchFamily="34" charset="0"/>
                <a:buChar char="•"/>
              </a:pPr>
              <a:r>
                <a:rPr lang="en-US" sz="2000" b="1" dirty="0"/>
                <a:t>Slightly higher MAE than Linear Regression, but overall more balanced performance.</a:t>
              </a:r>
            </a:p>
          </p:txBody>
        </p:sp>
      </p:grpSp>
      <p:graphicFrame>
        <p:nvGraphicFramePr>
          <p:cNvPr id="4" name="Table 3">
            <a:extLst>
              <a:ext uri="{FF2B5EF4-FFF2-40B4-BE49-F238E27FC236}">
                <a16:creationId xmlns:a16="http://schemas.microsoft.com/office/drawing/2014/main" id="{221C9801-5E38-4E41-2C1E-D9EB1D4DB312}"/>
              </a:ext>
            </a:extLst>
          </p:cNvPr>
          <p:cNvGraphicFramePr>
            <a:graphicFrameLocks noGrp="1"/>
          </p:cNvGraphicFramePr>
          <p:nvPr>
            <p:extLst>
              <p:ext uri="{D42A27DB-BD31-4B8C-83A1-F6EECF244321}">
                <p14:modId xmlns:p14="http://schemas.microsoft.com/office/powerpoint/2010/main" val="584756842"/>
              </p:ext>
            </p:extLst>
          </p:nvPr>
        </p:nvGraphicFramePr>
        <p:xfrm>
          <a:off x="7889600" y="2101517"/>
          <a:ext cx="3881486" cy="3104945"/>
        </p:xfrm>
        <a:graphic>
          <a:graphicData uri="http://schemas.openxmlformats.org/drawingml/2006/table">
            <a:tbl>
              <a:tblPr firstRow="1" bandRow="1">
                <a:tableStyleId>{5C22544A-7EE6-4342-B048-85BDC9FD1C3A}</a:tableStyleId>
              </a:tblPr>
              <a:tblGrid>
                <a:gridCol w="1940743">
                  <a:extLst>
                    <a:ext uri="{9D8B030D-6E8A-4147-A177-3AD203B41FA5}">
                      <a16:colId xmlns:a16="http://schemas.microsoft.com/office/drawing/2014/main" val="4078473568"/>
                    </a:ext>
                  </a:extLst>
                </a:gridCol>
                <a:gridCol w="1940743">
                  <a:extLst>
                    <a:ext uri="{9D8B030D-6E8A-4147-A177-3AD203B41FA5}">
                      <a16:colId xmlns:a16="http://schemas.microsoft.com/office/drawing/2014/main" val="4078701055"/>
                    </a:ext>
                  </a:extLst>
                </a:gridCol>
              </a:tblGrid>
              <a:tr h="620989">
                <a:tc gridSpan="2">
                  <a:txBody>
                    <a:bodyPr/>
                    <a:lstStyle/>
                    <a:p>
                      <a:pPr algn="ctr"/>
                      <a:r>
                        <a:rPr lang="en-US" sz="2500" dirty="0"/>
                        <a:t>Performance Metrics</a:t>
                      </a:r>
                    </a:p>
                  </a:txBody>
                  <a:tcPr anchor="ctr"/>
                </a:tc>
                <a:tc hMerge="1">
                  <a:txBody>
                    <a:bodyPr/>
                    <a:lstStyle/>
                    <a:p>
                      <a:endParaRPr lang="en-US" dirty="0"/>
                    </a:p>
                  </a:txBody>
                  <a:tcPr/>
                </a:tc>
                <a:extLst>
                  <a:ext uri="{0D108BD9-81ED-4DB2-BD59-A6C34878D82A}">
                    <a16:rowId xmlns:a16="http://schemas.microsoft.com/office/drawing/2014/main" val="2919094624"/>
                  </a:ext>
                </a:extLst>
              </a:tr>
              <a:tr h="620989">
                <a:tc>
                  <a:txBody>
                    <a:bodyPr/>
                    <a:lstStyle/>
                    <a:p>
                      <a:pPr algn="ctr"/>
                      <a:r>
                        <a:rPr lang="en-US" b="1" dirty="0"/>
                        <a:t>RMSLE</a:t>
                      </a:r>
                    </a:p>
                  </a:txBody>
                  <a:tcPr anchor="ctr"/>
                </a:tc>
                <a:tc>
                  <a:txBody>
                    <a:bodyPr/>
                    <a:lstStyle/>
                    <a:p>
                      <a:pPr algn="ctr"/>
                      <a:r>
                        <a:rPr lang="ar-EG" b="1" dirty="0"/>
                        <a:t>1.52</a:t>
                      </a:r>
                      <a:endParaRPr lang="en-US" b="1" dirty="0"/>
                    </a:p>
                  </a:txBody>
                  <a:tcPr anchor="ctr"/>
                </a:tc>
                <a:extLst>
                  <a:ext uri="{0D108BD9-81ED-4DB2-BD59-A6C34878D82A}">
                    <a16:rowId xmlns:a16="http://schemas.microsoft.com/office/drawing/2014/main" val="23947187"/>
                  </a:ext>
                </a:extLst>
              </a:tr>
              <a:tr h="620989">
                <a:tc>
                  <a:txBody>
                    <a:bodyPr/>
                    <a:lstStyle/>
                    <a:p>
                      <a:pPr algn="ctr"/>
                      <a:r>
                        <a:rPr lang="en-US" b="1" dirty="0"/>
                        <a:t>RMSE</a:t>
                      </a:r>
                    </a:p>
                  </a:txBody>
                  <a:tcPr anchor="ctr"/>
                </a:tc>
                <a:tc>
                  <a:txBody>
                    <a:bodyPr/>
                    <a:lstStyle/>
                    <a:p>
                      <a:pPr algn="ctr"/>
                      <a:r>
                        <a:rPr lang="ar-EG" b="1" dirty="0"/>
                        <a:t>783.14</a:t>
                      </a:r>
                      <a:endParaRPr lang="en-US" b="1" dirty="0"/>
                    </a:p>
                  </a:txBody>
                  <a:tcPr anchor="ctr"/>
                </a:tc>
                <a:extLst>
                  <a:ext uri="{0D108BD9-81ED-4DB2-BD59-A6C34878D82A}">
                    <a16:rowId xmlns:a16="http://schemas.microsoft.com/office/drawing/2014/main" val="2137564356"/>
                  </a:ext>
                </a:extLst>
              </a:tr>
              <a:tr h="620989">
                <a:tc>
                  <a:txBody>
                    <a:bodyPr/>
                    <a:lstStyle/>
                    <a:p>
                      <a:pPr algn="ctr"/>
                      <a:r>
                        <a:rPr lang="en-US" b="1" dirty="0"/>
                        <a:t>MSE</a:t>
                      </a:r>
                    </a:p>
                  </a:txBody>
                  <a:tcPr anchor="ctr"/>
                </a:tc>
                <a:tc>
                  <a:txBody>
                    <a:bodyPr/>
                    <a:lstStyle/>
                    <a:p>
                      <a:pPr algn="ctr"/>
                      <a:r>
                        <a:rPr lang="ar-EG" b="1" dirty="0"/>
                        <a:t>613309.2</a:t>
                      </a:r>
                      <a:endParaRPr lang="en-US" b="1" dirty="0"/>
                    </a:p>
                  </a:txBody>
                  <a:tcPr anchor="ctr"/>
                </a:tc>
                <a:extLst>
                  <a:ext uri="{0D108BD9-81ED-4DB2-BD59-A6C34878D82A}">
                    <a16:rowId xmlns:a16="http://schemas.microsoft.com/office/drawing/2014/main" val="1878555358"/>
                  </a:ext>
                </a:extLst>
              </a:tr>
              <a:tr h="620989">
                <a:tc>
                  <a:txBody>
                    <a:bodyPr/>
                    <a:lstStyle/>
                    <a:p>
                      <a:pPr algn="ctr"/>
                      <a:r>
                        <a:rPr lang="en-US" b="1" dirty="0"/>
                        <a:t>MAE</a:t>
                      </a:r>
                    </a:p>
                  </a:txBody>
                  <a:tcPr anchor="ctr"/>
                </a:tc>
                <a:tc>
                  <a:txBody>
                    <a:bodyPr/>
                    <a:lstStyle/>
                    <a:p>
                      <a:pPr algn="ctr"/>
                      <a:r>
                        <a:rPr lang="ar-EG" b="1" dirty="0"/>
                        <a:t>265.67</a:t>
                      </a:r>
                      <a:endParaRPr lang="en-US" b="1" dirty="0"/>
                    </a:p>
                  </a:txBody>
                  <a:tcPr anchor="ctr"/>
                </a:tc>
                <a:extLst>
                  <a:ext uri="{0D108BD9-81ED-4DB2-BD59-A6C34878D82A}">
                    <a16:rowId xmlns:a16="http://schemas.microsoft.com/office/drawing/2014/main" val="3709831111"/>
                  </a:ext>
                </a:extLst>
              </a:tr>
            </a:tbl>
          </a:graphicData>
        </a:graphic>
      </p:graphicFrame>
      <p:sp>
        <p:nvSpPr>
          <p:cNvPr id="5" name="Rectangle 4">
            <a:extLst>
              <a:ext uri="{FF2B5EF4-FFF2-40B4-BE49-F238E27FC236}">
                <a16:creationId xmlns:a16="http://schemas.microsoft.com/office/drawing/2014/main" id="{DF39FC77-CD70-E12D-84B5-DE00D9C7535F}"/>
              </a:ext>
            </a:extLst>
          </p:cNvPr>
          <p:cNvSpPr/>
          <p:nvPr/>
        </p:nvSpPr>
        <p:spPr>
          <a:xfrm rot="20111035">
            <a:off x="7892328" y="-5006704"/>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958004E-EDB0-FD1D-4C24-5C2C689E712B}"/>
              </a:ext>
            </a:extLst>
          </p:cNvPr>
          <p:cNvSpPr/>
          <p:nvPr/>
        </p:nvSpPr>
        <p:spPr>
          <a:xfrm rot="20111035">
            <a:off x="8474283" y="-5006704"/>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F16623E-35F7-2057-4901-550C88B7F9D0}"/>
              </a:ext>
            </a:extLst>
          </p:cNvPr>
          <p:cNvSpPr/>
          <p:nvPr/>
        </p:nvSpPr>
        <p:spPr>
          <a:xfrm rot="20111035">
            <a:off x="9056238" y="-5006704"/>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911EA02-EF5B-CC38-0DD6-C9E27FBCEB62}"/>
              </a:ext>
            </a:extLst>
          </p:cNvPr>
          <p:cNvSpPr/>
          <p:nvPr/>
        </p:nvSpPr>
        <p:spPr>
          <a:xfrm rot="20111035">
            <a:off x="6590704" y="6913206"/>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B4A2731-9930-29C1-B72F-3CE273B3CF49}"/>
              </a:ext>
            </a:extLst>
          </p:cNvPr>
          <p:cNvSpPr/>
          <p:nvPr/>
        </p:nvSpPr>
        <p:spPr>
          <a:xfrm rot="20111035">
            <a:off x="7172659" y="6913206"/>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95C5AD9-7F75-AF8F-9585-9278BA08C9B5}"/>
              </a:ext>
            </a:extLst>
          </p:cNvPr>
          <p:cNvSpPr/>
          <p:nvPr/>
        </p:nvSpPr>
        <p:spPr>
          <a:xfrm rot="20111035">
            <a:off x="7754614" y="6913206"/>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6721918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E32C5-EB5D-C610-CB63-3FB13AC60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926D5-06DC-CB19-8F02-937E2AD369BE}"/>
              </a:ext>
            </a:extLst>
          </p:cNvPr>
          <p:cNvSpPr>
            <a:spLocks noGrp="1"/>
          </p:cNvSpPr>
          <p:nvPr>
            <p:ph type="title"/>
          </p:nvPr>
        </p:nvSpPr>
        <p:spPr>
          <a:xfrm>
            <a:off x="90194" y="53240"/>
            <a:ext cx="10802395" cy="1325563"/>
          </a:xfrm>
        </p:spPr>
        <p:txBody>
          <a:bodyPr>
            <a:normAutofit/>
          </a:bodyPr>
          <a:lstStyle/>
          <a:p>
            <a:r>
              <a:rPr lang="en-US" sz="4400" dirty="0">
                <a:solidFill>
                  <a:srgbClr val="283C95"/>
                </a:solidFill>
                <a:latin typeface="Aptos ExtraBold" panose="020B0004020202020204" pitchFamily="34" charset="0"/>
              </a:rPr>
              <a:t>05 Modeling : </a:t>
            </a:r>
            <a:r>
              <a:rPr lang="ar-EG" dirty="0">
                <a:solidFill>
                  <a:srgbClr val="283C95"/>
                </a:solidFill>
                <a:latin typeface="Aptos ExtraBold" panose="020B0004020202020204" pitchFamily="34" charset="0"/>
              </a:rPr>
              <a:t>	</a:t>
            </a:r>
            <a:r>
              <a:rPr lang="en-US" dirty="0">
                <a:solidFill>
                  <a:srgbClr val="283C95"/>
                </a:solidFill>
                <a:latin typeface="Aptos ExtraBold" panose="020B0004020202020204" pitchFamily="34" charset="0"/>
              </a:rPr>
              <a:t>Cross-Validation</a:t>
            </a:r>
          </a:p>
        </p:txBody>
      </p:sp>
      <p:sp>
        <p:nvSpPr>
          <p:cNvPr id="3" name="Title 1">
            <a:extLst>
              <a:ext uri="{FF2B5EF4-FFF2-40B4-BE49-F238E27FC236}">
                <a16:creationId xmlns:a16="http://schemas.microsoft.com/office/drawing/2014/main" id="{7B73EA9C-8B14-6F24-43F4-474A58780B34}"/>
              </a:ext>
            </a:extLst>
          </p:cNvPr>
          <p:cNvSpPr txBox="1">
            <a:spLocks/>
          </p:cNvSpPr>
          <p:nvPr/>
        </p:nvSpPr>
        <p:spPr>
          <a:xfrm>
            <a:off x="838200" y="34485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283C95"/>
              </a:solidFill>
              <a:latin typeface="Aptos ExtraBold" panose="020B0004020202020204" pitchFamily="34" charset="0"/>
            </a:endParaRPr>
          </a:p>
        </p:txBody>
      </p:sp>
      <p:graphicFrame>
        <p:nvGraphicFramePr>
          <p:cNvPr id="4" name="Table 3">
            <a:extLst>
              <a:ext uri="{FF2B5EF4-FFF2-40B4-BE49-F238E27FC236}">
                <a16:creationId xmlns:a16="http://schemas.microsoft.com/office/drawing/2014/main" id="{8F780BD3-F6DD-AEA2-77F9-76011242A91D}"/>
              </a:ext>
            </a:extLst>
          </p:cNvPr>
          <p:cNvGraphicFramePr>
            <a:graphicFrameLocks noGrp="1"/>
          </p:cNvGraphicFramePr>
          <p:nvPr>
            <p:extLst>
              <p:ext uri="{D42A27DB-BD31-4B8C-83A1-F6EECF244321}">
                <p14:modId xmlns:p14="http://schemas.microsoft.com/office/powerpoint/2010/main" val="263293637"/>
              </p:ext>
            </p:extLst>
          </p:nvPr>
        </p:nvGraphicFramePr>
        <p:xfrm>
          <a:off x="5499058" y="2158385"/>
          <a:ext cx="6323705" cy="2541229"/>
        </p:xfrm>
        <a:graphic>
          <a:graphicData uri="http://schemas.openxmlformats.org/drawingml/2006/table">
            <a:tbl>
              <a:tblPr firstRow="1" bandRow="1">
                <a:tableStyleId>{5C22544A-7EE6-4342-B048-85BDC9FD1C3A}</a:tableStyleId>
              </a:tblPr>
              <a:tblGrid>
                <a:gridCol w="1350654">
                  <a:extLst>
                    <a:ext uri="{9D8B030D-6E8A-4147-A177-3AD203B41FA5}">
                      <a16:colId xmlns:a16="http://schemas.microsoft.com/office/drawing/2014/main" val="2131199604"/>
                    </a:ext>
                  </a:extLst>
                </a:gridCol>
                <a:gridCol w="1251284">
                  <a:extLst>
                    <a:ext uri="{9D8B030D-6E8A-4147-A177-3AD203B41FA5}">
                      <a16:colId xmlns:a16="http://schemas.microsoft.com/office/drawing/2014/main" val="4078473568"/>
                    </a:ext>
                  </a:extLst>
                </a:gridCol>
                <a:gridCol w="1283368">
                  <a:extLst>
                    <a:ext uri="{9D8B030D-6E8A-4147-A177-3AD203B41FA5}">
                      <a16:colId xmlns:a16="http://schemas.microsoft.com/office/drawing/2014/main" val="4078701055"/>
                    </a:ext>
                  </a:extLst>
                </a:gridCol>
                <a:gridCol w="1475874">
                  <a:extLst>
                    <a:ext uri="{9D8B030D-6E8A-4147-A177-3AD203B41FA5}">
                      <a16:colId xmlns:a16="http://schemas.microsoft.com/office/drawing/2014/main" val="2646876911"/>
                    </a:ext>
                  </a:extLst>
                </a:gridCol>
                <a:gridCol w="962525">
                  <a:extLst>
                    <a:ext uri="{9D8B030D-6E8A-4147-A177-3AD203B41FA5}">
                      <a16:colId xmlns:a16="http://schemas.microsoft.com/office/drawing/2014/main" val="3670492668"/>
                    </a:ext>
                  </a:extLst>
                </a:gridCol>
              </a:tblGrid>
              <a:tr h="620989">
                <a:tc>
                  <a:txBody>
                    <a:bodyPr/>
                    <a:lstStyle/>
                    <a:p>
                      <a:pPr algn="ctr"/>
                      <a:r>
                        <a:rPr lang="en-US" sz="2500" dirty="0"/>
                        <a:t>Model</a:t>
                      </a:r>
                    </a:p>
                  </a:txBody>
                  <a:tcPr anchor="ctr">
                    <a:solidFill>
                      <a:schemeClr val="accent1"/>
                    </a:solidFill>
                  </a:tcPr>
                </a:tc>
                <a:tc>
                  <a:txBody>
                    <a:bodyPr/>
                    <a:lstStyle/>
                    <a:p>
                      <a:pPr algn="ctr"/>
                      <a:r>
                        <a:rPr lang="en-US" sz="2500" dirty="0"/>
                        <a:t>RMSLE</a:t>
                      </a:r>
                    </a:p>
                  </a:txBody>
                  <a:tcPr anchor="ctr"/>
                </a:tc>
                <a:tc>
                  <a:txBody>
                    <a:bodyPr/>
                    <a:lstStyle/>
                    <a:p>
                      <a:pPr algn="ctr"/>
                      <a:r>
                        <a:rPr lang="en-US" sz="2500" dirty="0"/>
                        <a:t>RMSE</a:t>
                      </a:r>
                    </a:p>
                  </a:txBody>
                  <a:tcPr anchor="ctr"/>
                </a:tc>
                <a:tc>
                  <a:txBody>
                    <a:bodyPr/>
                    <a:lstStyle/>
                    <a:p>
                      <a:pPr algn="ctr"/>
                      <a:r>
                        <a:rPr lang="en-US" sz="2500" dirty="0"/>
                        <a:t>MSE</a:t>
                      </a:r>
                    </a:p>
                  </a:txBody>
                  <a:tcPr anchor="ctr"/>
                </a:tc>
                <a:tc>
                  <a:txBody>
                    <a:bodyPr/>
                    <a:lstStyle/>
                    <a:p>
                      <a:pPr algn="ctr"/>
                      <a:r>
                        <a:rPr lang="en-US" sz="2500" dirty="0"/>
                        <a:t>MAE</a:t>
                      </a:r>
                    </a:p>
                  </a:txBody>
                  <a:tcPr anchor="ctr"/>
                </a:tc>
                <a:extLst>
                  <a:ext uri="{0D108BD9-81ED-4DB2-BD59-A6C34878D82A}">
                    <a16:rowId xmlns:a16="http://schemas.microsoft.com/office/drawing/2014/main" val="2919094624"/>
                  </a:ext>
                </a:extLst>
              </a:tr>
              <a:tr h="620989">
                <a:tc>
                  <a:txBody>
                    <a:bodyPr/>
                    <a:lstStyle/>
                    <a:p>
                      <a:pPr algn="ctr"/>
                      <a:r>
                        <a:rPr lang="en-US" b="1" dirty="0">
                          <a:solidFill>
                            <a:schemeClr val="bg1"/>
                          </a:solidFill>
                        </a:rPr>
                        <a:t>Linear Regression</a:t>
                      </a:r>
                    </a:p>
                  </a:txBody>
                  <a:tcPr anchor="ctr">
                    <a:solidFill>
                      <a:schemeClr val="accent1"/>
                    </a:solidFill>
                  </a:tcPr>
                </a:tc>
                <a:tc>
                  <a:txBody>
                    <a:bodyPr/>
                    <a:lstStyle/>
                    <a:p>
                      <a:pPr algn="ctr"/>
                      <a:r>
                        <a:rPr lang="en-US" b="1" dirty="0"/>
                        <a:t>1.552</a:t>
                      </a:r>
                    </a:p>
                  </a:txBody>
                  <a:tcPr anchor="ctr"/>
                </a:tc>
                <a:tc>
                  <a:txBody>
                    <a:bodyPr/>
                    <a:lstStyle/>
                    <a:p>
                      <a:pPr algn="ctr"/>
                      <a:r>
                        <a:rPr lang="en-US" b="1" dirty="0"/>
                        <a:t>569.81</a:t>
                      </a:r>
                    </a:p>
                  </a:txBody>
                  <a:tcPr anchor="ctr"/>
                </a:tc>
                <a:tc>
                  <a:txBody>
                    <a:bodyPr/>
                    <a:lstStyle/>
                    <a:p>
                      <a:pPr algn="ctr"/>
                      <a:r>
                        <a:rPr lang="en-US" b="1" dirty="0"/>
                        <a:t>324685.17</a:t>
                      </a:r>
                    </a:p>
                  </a:txBody>
                  <a:tcPr anchor="ctr"/>
                </a:tc>
                <a:tc>
                  <a:txBody>
                    <a:bodyPr/>
                    <a:lstStyle/>
                    <a:p>
                      <a:pPr algn="ctr"/>
                      <a:r>
                        <a:rPr lang="en-US" b="1" dirty="0"/>
                        <a:t>213.69</a:t>
                      </a:r>
                    </a:p>
                  </a:txBody>
                  <a:tcPr anchor="ctr"/>
                </a:tc>
                <a:extLst>
                  <a:ext uri="{0D108BD9-81ED-4DB2-BD59-A6C34878D82A}">
                    <a16:rowId xmlns:a16="http://schemas.microsoft.com/office/drawing/2014/main" val="23947187"/>
                  </a:ext>
                </a:extLst>
              </a:tr>
              <a:tr h="620989">
                <a:tc>
                  <a:txBody>
                    <a:bodyPr/>
                    <a:lstStyle/>
                    <a:p>
                      <a:pPr algn="ctr"/>
                      <a:r>
                        <a:rPr lang="en-US" b="1" dirty="0">
                          <a:solidFill>
                            <a:schemeClr val="bg1"/>
                          </a:solidFill>
                        </a:rPr>
                        <a:t>Decision Tree</a:t>
                      </a:r>
                    </a:p>
                  </a:txBody>
                  <a:tcPr anchor="ctr">
                    <a:solidFill>
                      <a:schemeClr val="accent1"/>
                    </a:solidFill>
                  </a:tcPr>
                </a:tc>
                <a:tc>
                  <a:txBody>
                    <a:bodyPr/>
                    <a:lstStyle/>
                    <a:p>
                      <a:pPr algn="ctr"/>
                      <a:r>
                        <a:rPr lang="en-US" b="1" dirty="0"/>
                        <a:t>1.682</a:t>
                      </a:r>
                    </a:p>
                  </a:txBody>
                  <a:tcPr anchor="ctr"/>
                </a:tc>
                <a:tc>
                  <a:txBody>
                    <a:bodyPr/>
                    <a:lstStyle/>
                    <a:p>
                      <a:pPr algn="ctr"/>
                      <a:r>
                        <a:rPr lang="en-US" b="1" dirty="0"/>
                        <a:t>832.26</a:t>
                      </a:r>
                    </a:p>
                  </a:txBody>
                  <a:tcPr anchor="ctr"/>
                </a:tc>
                <a:tc>
                  <a:txBody>
                    <a:bodyPr/>
                    <a:lstStyle/>
                    <a:p>
                      <a:pPr algn="ctr"/>
                      <a:r>
                        <a:rPr lang="en-US" b="1" dirty="0"/>
                        <a:t>692660.93</a:t>
                      </a:r>
                    </a:p>
                  </a:txBody>
                  <a:tcPr anchor="ctr"/>
                </a:tc>
                <a:tc>
                  <a:txBody>
                    <a:bodyPr/>
                    <a:lstStyle/>
                    <a:p>
                      <a:pPr algn="ctr"/>
                      <a:r>
                        <a:rPr lang="en-US" b="1" dirty="0"/>
                        <a:t>289.28</a:t>
                      </a:r>
                    </a:p>
                  </a:txBody>
                  <a:tcPr anchor="ctr"/>
                </a:tc>
                <a:extLst>
                  <a:ext uri="{0D108BD9-81ED-4DB2-BD59-A6C34878D82A}">
                    <a16:rowId xmlns:a16="http://schemas.microsoft.com/office/drawing/2014/main" val="2137564356"/>
                  </a:ext>
                </a:extLst>
              </a:tr>
              <a:tr h="620989">
                <a:tc>
                  <a:txBody>
                    <a:bodyPr/>
                    <a:lstStyle/>
                    <a:p>
                      <a:pPr algn="ctr"/>
                      <a:r>
                        <a:rPr lang="en-US" b="1" dirty="0">
                          <a:solidFill>
                            <a:schemeClr val="bg1"/>
                          </a:solidFill>
                        </a:rPr>
                        <a:t>Random Forest</a:t>
                      </a:r>
                    </a:p>
                  </a:txBody>
                  <a:tcPr anchor="ctr">
                    <a:solidFill>
                      <a:schemeClr val="accent1"/>
                    </a:solidFill>
                  </a:tcPr>
                </a:tc>
                <a:tc>
                  <a:txBody>
                    <a:bodyPr/>
                    <a:lstStyle/>
                    <a:p>
                      <a:pPr algn="ctr"/>
                      <a:r>
                        <a:rPr lang="en-US" b="1" dirty="0"/>
                        <a:t>1.554</a:t>
                      </a:r>
                    </a:p>
                  </a:txBody>
                  <a:tcPr anchor="ctr"/>
                </a:tc>
                <a:tc>
                  <a:txBody>
                    <a:bodyPr/>
                    <a:lstStyle/>
                    <a:p>
                      <a:pPr algn="ctr"/>
                      <a:r>
                        <a:rPr lang="en-US" b="1" dirty="0"/>
                        <a:t>668.04</a:t>
                      </a:r>
                    </a:p>
                  </a:txBody>
                  <a:tcPr anchor="ctr"/>
                </a:tc>
                <a:tc>
                  <a:txBody>
                    <a:bodyPr/>
                    <a:lstStyle/>
                    <a:p>
                      <a:pPr algn="ctr"/>
                      <a:r>
                        <a:rPr lang="en-US" b="1" dirty="0"/>
                        <a:t>4446271.71</a:t>
                      </a:r>
                    </a:p>
                  </a:txBody>
                  <a:tcPr anchor="ctr"/>
                </a:tc>
                <a:tc>
                  <a:txBody>
                    <a:bodyPr/>
                    <a:lstStyle/>
                    <a:p>
                      <a:pPr algn="ctr"/>
                      <a:r>
                        <a:rPr lang="en-US" b="1" dirty="0"/>
                        <a:t>248.64</a:t>
                      </a:r>
                    </a:p>
                  </a:txBody>
                  <a:tcPr anchor="ctr"/>
                </a:tc>
                <a:extLst>
                  <a:ext uri="{0D108BD9-81ED-4DB2-BD59-A6C34878D82A}">
                    <a16:rowId xmlns:a16="http://schemas.microsoft.com/office/drawing/2014/main" val="1878555358"/>
                  </a:ext>
                </a:extLst>
              </a:tr>
            </a:tbl>
          </a:graphicData>
        </a:graphic>
      </p:graphicFrame>
      <p:grpSp>
        <p:nvGrpSpPr>
          <p:cNvPr id="5" name="Group 4">
            <a:extLst>
              <a:ext uri="{FF2B5EF4-FFF2-40B4-BE49-F238E27FC236}">
                <a16:creationId xmlns:a16="http://schemas.microsoft.com/office/drawing/2014/main" id="{FE9814EA-5E35-AD1C-3F4E-F7C54CB2DA6B}"/>
              </a:ext>
            </a:extLst>
          </p:cNvPr>
          <p:cNvGrpSpPr/>
          <p:nvPr/>
        </p:nvGrpSpPr>
        <p:grpSpPr>
          <a:xfrm>
            <a:off x="369237" y="1378803"/>
            <a:ext cx="7359316" cy="4873595"/>
            <a:chOff x="4404946" y="3026182"/>
            <a:chExt cx="11598853" cy="4171509"/>
          </a:xfrm>
        </p:grpSpPr>
        <p:sp>
          <p:nvSpPr>
            <p:cNvPr id="9" name="TextBox 8">
              <a:extLst>
                <a:ext uri="{FF2B5EF4-FFF2-40B4-BE49-F238E27FC236}">
                  <a16:creationId xmlns:a16="http://schemas.microsoft.com/office/drawing/2014/main" id="{34646F92-271B-9274-5265-0A5CB14EC712}"/>
                </a:ext>
              </a:extLst>
            </p:cNvPr>
            <p:cNvSpPr txBox="1"/>
            <p:nvPr/>
          </p:nvSpPr>
          <p:spPr>
            <a:xfrm>
              <a:off x="4404946" y="5959530"/>
              <a:ext cx="11598853" cy="1238161"/>
            </a:xfrm>
            <a:prstGeom prst="rect">
              <a:avLst/>
            </a:prstGeom>
            <a:noFill/>
          </p:spPr>
          <p:txBody>
            <a:bodyPr wrap="square" rtlCol="0">
              <a:spAutoFit/>
            </a:bodyPr>
            <a:lstStyle/>
            <a:p>
              <a:r>
                <a:rPr lang="en-US" sz="2800" b="1" i="0" dirty="0">
                  <a:solidFill>
                    <a:srgbClr val="283C95"/>
                  </a:solidFill>
                  <a:effectLst/>
                  <a:latin typeface="+mj-lt"/>
                </a:rPr>
                <a:t>Conclusion</a:t>
              </a:r>
            </a:p>
            <a:p>
              <a:r>
                <a:rPr lang="en-US" sz="2000" b="1" dirty="0"/>
                <a:t>Cross-validation confirms that Random Forest is the most robust overall, while Linear Regression is still surprisingly strong as a baseline.</a:t>
              </a:r>
            </a:p>
          </p:txBody>
        </p:sp>
        <p:sp>
          <p:nvSpPr>
            <p:cNvPr id="10" name="TextBox 9">
              <a:extLst>
                <a:ext uri="{FF2B5EF4-FFF2-40B4-BE49-F238E27FC236}">
                  <a16:creationId xmlns:a16="http://schemas.microsoft.com/office/drawing/2014/main" id="{662474E2-95D3-6C33-DD52-69A00A351228}"/>
                </a:ext>
              </a:extLst>
            </p:cNvPr>
            <p:cNvSpPr txBox="1"/>
            <p:nvPr/>
          </p:nvSpPr>
          <p:spPr>
            <a:xfrm>
              <a:off x="4404946" y="3026182"/>
              <a:ext cx="7787054" cy="2818792"/>
            </a:xfrm>
            <a:prstGeom prst="rect">
              <a:avLst/>
            </a:prstGeom>
            <a:noFill/>
          </p:spPr>
          <p:txBody>
            <a:bodyPr wrap="square" rtlCol="0">
              <a:spAutoFit/>
            </a:bodyPr>
            <a:lstStyle/>
            <a:p>
              <a:r>
                <a:rPr lang="en-US" sz="2800" b="1" dirty="0">
                  <a:solidFill>
                    <a:srgbClr val="283C95"/>
                  </a:solidFill>
                  <a:latin typeface="+mj-lt"/>
                </a:rPr>
                <a:t>Interpretation</a:t>
              </a:r>
              <a:r>
                <a:rPr lang="en-US" sz="2400" b="0" i="0" dirty="0">
                  <a:solidFill>
                    <a:srgbClr val="F8FAFF"/>
                  </a:solidFill>
                  <a:effectLst/>
                  <a:latin typeface="Inter"/>
                </a:rPr>
                <a:t>:</a:t>
              </a:r>
            </a:p>
            <a:p>
              <a:pPr marL="342900" indent="-342900" algn="l">
                <a:buFont typeface="Arial" panose="020B0604020202020204" pitchFamily="34" charset="0"/>
                <a:buChar char="•"/>
              </a:pPr>
              <a:r>
                <a:rPr lang="en-US" sz="2000" b="1" dirty="0"/>
                <a:t>Linear Regression</a:t>
              </a:r>
              <a:r>
                <a:rPr lang="en-US" sz="2000" dirty="0"/>
                <a:t> has the lowest average MAE, indicating the most consistent performance across folds.</a:t>
              </a:r>
            </a:p>
            <a:p>
              <a:pPr marL="342900" indent="-342900" algn="l">
                <a:buFont typeface="Arial" panose="020B0604020202020204" pitchFamily="34" charset="0"/>
                <a:buChar char="•"/>
              </a:pPr>
              <a:r>
                <a:rPr lang="en-US" sz="2000" b="1" dirty="0"/>
                <a:t>Random Forest</a:t>
              </a:r>
              <a:r>
                <a:rPr lang="en-US" sz="2000" dirty="0"/>
                <a:t> provides a good tradeoff: lower RMSLE and RMSE than Decision Tree while keeping MAE close to Linear Regression.</a:t>
              </a:r>
            </a:p>
            <a:p>
              <a:pPr marL="342900" indent="-342900" algn="l">
                <a:buFont typeface="Arial" panose="020B0604020202020204" pitchFamily="34" charset="0"/>
                <a:buChar char="•"/>
              </a:pPr>
              <a:r>
                <a:rPr lang="en-US" sz="2000" b="1" dirty="0"/>
                <a:t>Decision Tree</a:t>
              </a:r>
              <a:r>
                <a:rPr lang="en-US" sz="2000" dirty="0"/>
                <a:t> performs the worst, confirming its tendency to overfit.</a:t>
              </a:r>
              <a:endParaRPr lang="en-US" sz="2000" b="1" dirty="0"/>
            </a:p>
          </p:txBody>
        </p:sp>
      </p:grpSp>
      <p:sp>
        <p:nvSpPr>
          <p:cNvPr id="11" name="Rectangle 10">
            <a:extLst>
              <a:ext uri="{FF2B5EF4-FFF2-40B4-BE49-F238E27FC236}">
                <a16:creationId xmlns:a16="http://schemas.microsoft.com/office/drawing/2014/main" id="{F93E461F-0917-1443-CBFB-591D68DA2F62}"/>
              </a:ext>
            </a:extLst>
          </p:cNvPr>
          <p:cNvSpPr/>
          <p:nvPr/>
        </p:nvSpPr>
        <p:spPr>
          <a:xfrm rot="20111035">
            <a:off x="7892328" y="-5055192"/>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BC80EA-7928-0AE8-83D6-2E63404202F8}"/>
              </a:ext>
            </a:extLst>
          </p:cNvPr>
          <p:cNvSpPr/>
          <p:nvPr/>
        </p:nvSpPr>
        <p:spPr>
          <a:xfrm rot="20111035">
            <a:off x="8474283" y="-5055192"/>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D11ED55-E885-9BAE-C02C-1D09CA190143}"/>
              </a:ext>
            </a:extLst>
          </p:cNvPr>
          <p:cNvSpPr/>
          <p:nvPr/>
        </p:nvSpPr>
        <p:spPr>
          <a:xfrm rot="20111035">
            <a:off x="9056238" y="-5055192"/>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EF83524-8B88-2198-018B-147B3725B0F4}"/>
              </a:ext>
            </a:extLst>
          </p:cNvPr>
          <p:cNvSpPr/>
          <p:nvPr/>
        </p:nvSpPr>
        <p:spPr>
          <a:xfrm rot="20111035">
            <a:off x="6590703" y="6792879"/>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A2339D0-71CA-D39D-0D6B-1E3F119EF5B4}"/>
              </a:ext>
            </a:extLst>
          </p:cNvPr>
          <p:cNvSpPr/>
          <p:nvPr/>
        </p:nvSpPr>
        <p:spPr>
          <a:xfrm rot="20111035">
            <a:off x="7172658" y="6792879"/>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15B4C97-393C-D56A-8D0E-71AEB98E1DBF}"/>
              </a:ext>
            </a:extLst>
          </p:cNvPr>
          <p:cNvSpPr/>
          <p:nvPr/>
        </p:nvSpPr>
        <p:spPr>
          <a:xfrm rot="20111035">
            <a:off x="7754613" y="6792879"/>
            <a:ext cx="5097767" cy="5189901"/>
          </a:xfrm>
          <a:prstGeom prst="rect">
            <a:avLst/>
          </a:prstGeom>
          <a:noFill/>
          <a:ln>
            <a:solidFill>
              <a:srgbClr val="283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9631657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ECA9D-644A-2635-269C-65C0FFB1C35C}"/>
              </a:ext>
            </a:extLst>
          </p:cNvPr>
          <p:cNvSpPr>
            <a:spLocks noGrp="1"/>
          </p:cNvSpPr>
          <p:nvPr>
            <p:ph type="title"/>
          </p:nvPr>
        </p:nvSpPr>
        <p:spPr>
          <a:xfrm>
            <a:off x="838200" y="2766218"/>
            <a:ext cx="10515600" cy="1325563"/>
          </a:xfrm>
        </p:spPr>
        <p:txBody>
          <a:bodyPr>
            <a:normAutofit/>
          </a:bodyPr>
          <a:lstStyle/>
          <a:p>
            <a:pPr algn="ctr"/>
            <a:r>
              <a:rPr lang="en-US" sz="8000" b="1" dirty="0">
                <a:solidFill>
                  <a:srgbClr val="283C95"/>
                </a:solidFill>
                <a:latin typeface="Aptos ExtraBold" panose="020B0004020202020204" pitchFamily="34" charset="0"/>
              </a:rPr>
              <a:t>Questions</a:t>
            </a:r>
          </a:p>
        </p:txBody>
      </p:sp>
    </p:spTree>
    <p:extLst>
      <p:ext uri="{BB962C8B-B14F-4D97-AF65-F5344CB8AC3E}">
        <p14:creationId xmlns:p14="http://schemas.microsoft.com/office/powerpoint/2010/main" val="293664798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D644D-A96D-51F9-09BB-835A74EADB9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5002779-1F19-ECFC-53D2-8FAF131FF577}"/>
              </a:ext>
            </a:extLst>
          </p:cNvPr>
          <p:cNvSpPr txBox="1"/>
          <p:nvPr/>
        </p:nvSpPr>
        <p:spPr>
          <a:xfrm>
            <a:off x="1817077" y="422030"/>
            <a:ext cx="7959969" cy="1446550"/>
          </a:xfrm>
          <a:prstGeom prst="rect">
            <a:avLst/>
          </a:prstGeom>
          <a:noFill/>
        </p:spPr>
        <p:txBody>
          <a:bodyPr wrap="square" rtlCol="0">
            <a:spAutoFit/>
          </a:bodyPr>
          <a:lstStyle/>
          <a:p>
            <a:pPr algn="ctr"/>
            <a:r>
              <a:rPr lang="en-US" sz="8800" dirty="0">
                <a:solidFill>
                  <a:srgbClr val="283C95"/>
                </a:solidFill>
                <a:latin typeface="Aptos ExtraBold" panose="020B0004020202020204" pitchFamily="34" charset="0"/>
              </a:rPr>
              <a:t>Thank You</a:t>
            </a:r>
          </a:p>
        </p:txBody>
      </p:sp>
      <p:sp>
        <p:nvSpPr>
          <p:cNvPr id="2" name="TextBox 1">
            <a:extLst>
              <a:ext uri="{FF2B5EF4-FFF2-40B4-BE49-F238E27FC236}">
                <a16:creationId xmlns:a16="http://schemas.microsoft.com/office/drawing/2014/main" id="{5AF4E5A0-0ADB-28B0-F5FD-54B470DD420B}"/>
              </a:ext>
            </a:extLst>
          </p:cNvPr>
          <p:cNvSpPr txBox="1"/>
          <p:nvPr/>
        </p:nvSpPr>
        <p:spPr>
          <a:xfrm>
            <a:off x="574428" y="2202005"/>
            <a:ext cx="3317631" cy="523220"/>
          </a:xfrm>
          <a:prstGeom prst="rect">
            <a:avLst/>
          </a:prstGeom>
          <a:noFill/>
        </p:spPr>
        <p:txBody>
          <a:bodyPr wrap="square" rtlCol="0">
            <a:spAutoFit/>
          </a:bodyPr>
          <a:lstStyle/>
          <a:p>
            <a:r>
              <a:rPr lang="en-US" sz="2800" b="1" dirty="0">
                <a:solidFill>
                  <a:schemeClr val="tx1">
                    <a:lumMod val="65000"/>
                    <a:lumOff val="35000"/>
                  </a:schemeClr>
                </a:solidFill>
              </a:rPr>
              <a:t>Presented By</a:t>
            </a:r>
          </a:p>
        </p:txBody>
      </p:sp>
      <p:grpSp>
        <p:nvGrpSpPr>
          <p:cNvPr id="20" name="Group 19">
            <a:extLst>
              <a:ext uri="{FF2B5EF4-FFF2-40B4-BE49-F238E27FC236}">
                <a16:creationId xmlns:a16="http://schemas.microsoft.com/office/drawing/2014/main" id="{C03469A2-FC05-D0C0-1341-AEC630C0F8A7}"/>
              </a:ext>
            </a:extLst>
          </p:cNvPr>
          <p:cNvGrpSpPr/>
          <p:nvPr/>
        </p:nvGrpSpPr>
        <p:grpSpPr>
          <a:xfrm>
            <a:off x="574428" y="2729093"/>
            <a:ext cx="8768861" cy="1148276"/>
            <a:chOff x="574431" y="2714582"/>
            <a:chExt cx="8768861" cy="1148276"/>
          </a:xfrm>
        </p:grpSpPr>
        <p:sp>
          <p:nvSpPr>
            <p:cNvPr id="4" name="TextBox 3">
              <a:extLst>
                <a:ext uri="{FF2B5EF4-FFF2-40B4-BE49-F238E27FC236}">
                  <a16:creationId xmlns:a16="http://schemas.microsoft.com/office/drawing/2014/main" id="{F3D2CFF8-8489-A639-CE73-88CDAA13F204}"/>
                </a:ext>
              </a:extLst>
            </p:cNvPr>
            <p:cNvSpPr txBox="1"/>
            <p:nvPr/>
          </p:nvSpPr>
          <p:spPr>
            <a:xfrm>
              <a:off x="574431" y="2714582"/>
              <a:ext cx="3165231" cy="461665"/>
            </a:xfrm>
            <a:prstGeom prst="rect">
              <a:avLst/>
            </a:prstGeom>
            <a:noFill/>
          </p:spPr>
          <p:txBody>
            <a:bodyPr wrap="square" rtlCol="0">
              <a:spAutoFit/>
            </a:bodyPr>
            <a:lstStyle/>
            <a:p>
              <a:r>
                <a:rPr lang="en-US" sz="2400" b="1" dirty="0"/>
                <a:t>Abdallah Gasem</a:t>
              </a:r>
            </a:p>
          </p:txBody>
        </p:sp>
        <p:sp>
          <p:nvSpPr>
            <p:cNvPr id="6" name="TextBox 5">
              <a:extLst>
                <a:ext uri="{FF2B5EF4-FFF2-40B4-BE49-F238E27FC236}">
                  <a16:creationId xmlns:a16="http://schemas.microsoft.com/office/drawing/2014/main" id="{FC80BAE8-7C06-8603-56D8-900B065204C2}"/>
                </a:ext>
              </a:extLst>
            </p:cNvPr>
            <p:cNvSpPr txBox="1"/>
            <p:nvPr/>
          </p:nvSpPr>
          <p:spPr>
            <a:xfrm>
              <a:off x="6178061" y="2732746"/>
              <a:ext cx="3165231" cy="461665"/>
            </a:xfrm>
            <a:prstGeom prst="rect">
              <a:avLst/>
            </a:prstGeom>
            <a:noFill/>
          </p:spPr>
          <p:txBody>
            <a:bodyPr wrap="square" rtlCol="0">
              <a:spAutoFit/>
            </a:bodyPr>
            <a:lstStyle/>
            <a:p>
              <a:r>
                <a:rPr lang="en-US" sz="2400" b="1" dirty="0"/>
                <a:t>Abdallah Sayed</a:t>
              </a:r>
            </a:p>
          </p:txBody>
        </p:sp>
        <p:sp>
          <p:nvSpPr>
            <p:cNvPr id="7" name="TextBox 6">
              <a:extLst>
                <a:ext uri="{FF2B5EF4-FFF2-40B4-BE49-F238E27FC236}">
                  <a16:creationId xmlns:a16="http://schemas.microsoft.com/office/drawing/2014/main" id="{4C6DA637-E2FF-6C93-EBBA-B5C9C6E21C15}"/>
                </a:ext>
              </a:extLst>
            </p:cNvPr>
            <p:cNvSpPr txBox="1"/>
            <p:nvPr/>
          </p:nvSpPr>
          <p:spPr>
            <a:xfrm>
              <a:off x="3739660" y="3397643"/>
              <a:ext cx="2192217" cy="461665"/>
            </a:xfrm>
            <a:prstGeom prst="rect">
              <a:avLst/>
            </a:prstGeom>
            <a:noFill/>
          </p:spPr>
          <p:txBody>
            <a:bodyPr wrap="square" rtlCol="0">
              <a:spAutoFit/>
            </a:bodyPr>
            <a:lstStyle/>
            <a:p>
              <a:r>
                <a:rPr lang="en-US" sz="2400" b="1" dirty="0"/>
                <a:t>Micheal Emad</a:t>
              </a:r>
            </a:p>
          </p:txBody>
        </p:sp>
        <p:sp>
          <p:nvSpPr>
            <p:cNvPr id="8" name="TextBox 7">
              <a:extLst>
                <a:ext uri="{FF2B5EF4-FFF2-40B4-BE49-F238E27FC236}">
                  <a16:creationId xmlns:a16="http://schemas.microsoft.com/office/drawing/2014/main" id="{8DFE9635-D698-8C34-5D72-8353434B6218}"/>
                </a:ext>
              </a:extLst>
            </p:cNvPr>
            <p:cNvSpPr txBox="1"/>
            <p:nvPr/>
          </p:nvSpPr>
          <p:spPr>
            <a:xfrm>
              <a:off x="3739661" y="2732746"/>
              <a:ext cx="3165231" cy="461665"/>
            </a:xfrm>
            <a:prstGeom prst="rect">
              <a:avLst/>
            </a:prstGeom>
            <a:noFill/>
          </p:spPr>
          <p:txBody>
            <a:bodyPr wrap="square" rtlCol="0">
              <a:spAutoFit/>
            </a:bodyPr>
            <a:lstStyle/>
            <a:p>
              <a:r>
                <a:rPr lang="en-US" sz="2400" b="1" dirty="0"/>
                <a:t>Mazen Karam</a:t>
              </a:r>
            </a:p>
          </p:txBody>
        </p:sp>
        <p:sp>
          <p:nvSpPr>
            <p:cNvPr id="9" name="TextBox 8">
              <a:extLst>
                <a:ext uri="{FF2B5EF4-FFF2-40B4-BE49-F238E27FC236}">
                  <a16:creationId xmlns:a16="http://schemas.microsoft.com/office/drawing/2014/main" id="{7C384D07-68A9-3357-FA18-6CE3B9FDDC9A}"/>
                </a:ext>
              </a:extLst>
            </p:cNvPr>
            <p:cNvSpPr txBox="1"/>
            <p:nvPr/>
          </p:nvSpPr>
          <p:spPr>
            <a:xfrm>
              <a:off x="574432" y="3383608"/>
              <a:ext cx="1946028" cy="461665"/>
            </a:xfrm>
            <a:prstGeom prst="rect">
              <a:avLst/>
            </a:prstGeom>
            <a:noFill/>
          </p:spPr>
          <p:txBody>
            <a:bodyPr wrap="square" rtlCol="0">
              <a:spAutoFit/>
            </a:bodyPr>
            <a:lstStyle/>
            <a:p>
              <a:r>
                <a:rPr lang="en-US" sz="2400" b="1" dirty="0"/>
                <a:t>Youseff Ali</a:t>
              </a:r>
            </a:p>
          </p:txBody>
        </p:sp>
        <p:sp>
          <p:nvSpPr>
            <p:cNvPr id="10" name="TextBox 9">
              <a:extLst>
                <a:ext uri="{FF2B5EF4-FFF2-40B4-BE49-F238E27FC236}">
                  <a16:creationId xmlns:a16="http://schemas.microsoft.com/office/drawing/2014/main" id="{CB44635D-5F2B-6577-A865-0167C07C37C2}"/>
                </a:ext>
              </a:extLst>
            </p:cNvPr>
            <p:cNvSpPr txBox="1"/>
            <p:nvPr/>
          </p:nvSpPr>
          <p:spPr>
            <a:xfrm>
              <a:off x="6178061" y="3401193"/>
              <a:ext cx="2414954" cy="461665"/>
            </a:xfrm>
            <a:prstGeom prst="rect">
              <a:avLst/>
            </a:prstGeom>
            <a:noFill/>
          </p:spPr>
          <p:txBody>
            <a:bodyPr wrap="square" rtlCol="0">
              <a:spAutoFit/>
            </a:bodyPr>
            <a:lstStyle/>
            <a:p>
              <a:r>
                <a:rPr lang="en-US" sz="2400" b="1" dirty="0"/>
                <a:t>Mostafa Ahmed</a:t>
              </a:r>
            </a:p>
          </p:txBody>
        </p:sp>
      </p:grpSp>
      <p:grpSp>
        <p:nvGrpSpPr>
          <p:cNvPr id="15" name="Group 14">
            <a:extLst>
              <a:ext uri="{FF2B5EF4-FFF2-40B4-BE49-F238E27FC236}">
                <a16:creationId xmlns:a16="http://schemas.microsoft.com/office/drawing/2014/main" id="{BC289DFF-07DD-7323-FB64-6A43B0F07F91}"/>
              </a:ext>
            </a:extLst>
          </p:cNvPr>
          <p:cNvGrpSpPr/>
          <p:nvPr/>
        </p:nvGrpSpPr>
        <p:grpSpPr>
          <a:xfrm>
            <a:off x="574428" y="4128907"/>
            <a:ext cx="3317631" cy="998084"/>
            <a:chOff x="574429" y="4447183"/>
            <a:chExt cx="3317631" cy="998084"/>
          </a:xfrm>
        </p:grpSpPr>
        <p:sp>
          <p:nvSpPr>
            <p:cNvPr id="13" name="TextBox 12">
              <a:extLst>
                <a:ext uri="{FF2B5EF4-FFF2-40B4-BE49-F238E27FC236}">
                  <a16:creationId xmlns:a16="http://schemas.microsoft.com/office/drawing/2014/main" id="{AF0457BE-1343-A6A6-5C69-9AB91FC2B194}"/>
                </a:ext>
              </a:extLst>
            </p:cNvPr>
            <p:cNvSpPr txBox="1"/>
            <p:nvPr/>
          </p:nvSpPr>
          <p:spPr>
            <a:xfrm>
              <a:off x="574429" y="4447183"/>
              <a:ext cx="3317631" cy="523220"/>
            </a:xfrm>
            <a:prstGeom prst="rect">
              <a:avLst/>
            </a:prstGeom>
            <a:noFill/>
          </p:spPr>
          <p:txBody>
            <a:bodyPr wrap="square" rtlCol="0">
              <a:spAutoFit/>
            </a:bodyPr>
            <a:lstStyle/>
            <a:p>
              <a:r>
                <a:rPr lang="en-US" sz="2800" b="1" dirty="0">
                  <a:solidFill>
                    <a:schemeClr val="tx1">
                      <a:lumMod val="65000"/>
                      <a:lumOff val="35000"/>
                    </a:schemeClr>
                  </a:solidFill>
                </a:rPr>
                <a:t>Group</a:t>
              </a:r>
            </a:p>
          </p:txBody>
        </p:sp>
        <p:sp>
          <p:nvSpPr>
            <p:cNvPr id="14" name="TextBox 13">
              <a:extLst>
                <a:ext uri="{FF2B5EF4-FFF2-40B4-BE49-F238E27FC236}">
                  <a16:creationId xmlns:a16="http://schemas.microsoft.com/office/drawing/2014/main" id="{022B85BC-1580-C5CD-3C8A-653A49C77720}"/>
                </a:ext>
              </a:extLst>
            </p:cNvPr>
            <p:cNvSpPr txBox="1"/>
            <p:nvPr/>
          </p:nvSpPr>
          <p:spPr>
            <a:xfrm>
              <a:off x="574431" y="4983602"/>
              <a:ext cx="3165231" cy="461665"/>
            </a:xfrm>
            <a:prstGeom prst="rect">
              <a:avLst/>
            </a:prstGeom>
            <a:noFill/>
          </p:spPr>
          <p:txBody>
            <a:bodyPr wrap="square" rtlCol="0">
              <a:spAutoFit/>
            </a:bodyPr>
            <a:lstStyle/>
            <a:p>
              <a:r>
                <a:rPr lang="en-US" sz="2400" b="1" dirty="0"/>
                <a:t>GIZ2_AIS4_S9</a:t>
              </a:r>
            </a:p>
          </p:txBody>
        </p:sp>
      </p:grpSp>
      <p:pic>
        <p:nvPicPr>
          <p:cNvPr id="18" name="Picture 17">
            <a:extLst>
              <a:ext uri="{FF2B5EF4-FFF2-40B4-BE49-F238E27FC236}">
                <a16:creationId xmlns:a16="http://schemas.microsoft.com/office/drawing/2014/main" id="{1E19300B-FB2B-DA42-F409-628CB4016F98}"/>
              </a:ext>
            </a:extLst>
          </p:cNvPr>
          <p:cNvPicPr>
            <a:picLocks noChangeAspect="1"/>
          </p:cNvPicPr>
          <p:nvPr/>
        </p:nvPicPr>
        <p:blipFill>
          <a:blip r:embed="rId2"/>
          <a:stretch>
            <a:fillRect/>
          </a:stretch>
        </p:blipFill>
        <p:spPr>
          <a:xfrm>
            <a:off x="574431" y="5841713"/>
            <a:ext cx="5521569" cy="739389"/>
          </a:xfrm>
          <a:prstGeom prst="rect">
            <a:avLst/>
          </a:prstGeom>
        </p:spPr>
      </p:pic>
      <p:sp>
        <p:nvSpPr>
          <p:cNvPr id="19" name="TextBox 18">
            <a:extLst>
              <a:ext uri="{FF2B5EF4-FFF2-40B4-BE49-F238E27FC236}">
                <a16:creationId xmlns:a16="http://schemas.microsoft.com/office/drawing/2014/main" id="{C7D88A49-E34E-7D0B-0788-AAA5A2C6BA83}"/>
              </a:ext>
            </a:extLst>
          </p:cNvPr>
          <p:cNvSpPr txBox="1"/>
          <p:nvPr/>
        </p:nvSpPr>
        <p:spPr>
          <a:xfrm>
            <a:off x="574428" y="5383198"/>
            <a:ext cx="3317631" cy="523220"/>
          </a:xfrm>
          <a:prstGeom prst="rect">
            <a:avLst/>
          </a:prstGeom>
          <a:noFill/>
        </p:spPr>
        <p:txBody>
          <a:bodyPr wrap="square" rtlCol="0">
            <a:spAutoFit/>
          </a:bodyPr>
          <a:lstStyle/>
          <a:p>
            <a:r>
              <a:rPr lang="en-US" sz="2800" b="1" dirty="0">
                <a:solidFill>
                  <a:schemeClr val="tx1">
                    <a:lumMod val="65000"/>
                    <a:lumOff val="35000"/>
                  </a:schemeClr>
                </a:solidFill>
              </a:rPr>
              <a:t>Contact</a:t>
            </a:r>
          </a:p>
        </p:txBody>
      </p:sp>
    </p:spTree>
    <p:extLst>
      <p:ext uri="{BB962C8B-B14F-4D97-AF65-F5344CB8AC3E}">
        <p14:creationId xmlns:p14="http://schemas.microsoft.com/office/powerpoint/2010/main" val="333878826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2169</TotalTime>
  <Words>1181</Words>
  <Application>Microsoft Office PowerPoint</Application>
  <PresentationFormat>Widescreen</PresentationFormat>
  <Paragraphs>205</Paragraphs>
  <Slides>27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Aptos ExtraBold</vt:lpstr>
      <vt:lpstr>Arial</vt:lpstr>
      <vt:lpstr>Inter</vt:lpstr>
      <vt:lpstr>Office Theme</vt:lpstr>
      <vt:lpstr>PowerPoint Presentation</vt:lpstr>
      <vt:lpstr>CONTENT</vt:lpstr>
      <vt:lpstr>01 Introduction</vt:lpstr>
      <vt:lpstr>Project Statement</vt:lpstr>
      <vt:lpstr>Stakeholders</vt:lpstr>
      <vt:lpstr>Related Projects</vt:lpstr>
      <vt:lpstr>02 Dataset Overview</vt:lpstr>
      <vt:lpstr>03 Data Cleaning and Preprocessing</vt:lpstr>
      <vt:lpstr>03 Data Cleaning and Preprocessing</vt:lpstr>
      <vt:lpstr>03 Data Cleaning and Preprocessing</vt:lpstr>
      <vt:lpstr>04 EDA Insights</vt:lpstr>
      <vt:lpstr>04 EDA Insights</vt:lpstr>
      <vt:lpstr>04 EDA Insights</vt:lpstr>
      <vt:lpstr>04 EDA Insights</vt:lpstr>
      <vt:lpstr>04 EDA Insights</vt:lpstr>
      <vt:lpstr>04 EDA Insights</vt:lpstr>
      <vt:lpstr>04 EDA Insights</vt:lpstr>
      <vt:lpstr>04 EDA Insights</vt:lpstr>
      <vt:lpstr>04 EDA Insights</vt:lpstr>
      <vt:lpstr>04 EDA Insights</vt:lpstr>
      <vt:lpstr>05 Modeling</vt:lpstr>
      <vt:lpstr>05 Modeling : Linear Regression</vt:lpstr>
      <vt:lpstr>05 Modeling : Decision Tree Regressor</vt:lpstr>
      <vt:lpstr>05 Modeling : Random Forest</vt:lpstr>
      <vt:lpstr>05 Modeling :  Cross-Validation</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Abdallah Gasem</dc:creator>
  <cp:lastModifiedBy>Abdallah Gasem</cp:lastModifiedBy>
  <cp:revision>164</cp:revision>
  <dcterms:created xsi:type="dcterms:W3CDTF">2025-03-01T04:39:54Z</dcterms:created>
  <dcterms:modified xsi:type="dcterms:W3CDTF">2025-05-03T16:39:57Z</dcterms:modified>
</cp:coreProperties>
</file>