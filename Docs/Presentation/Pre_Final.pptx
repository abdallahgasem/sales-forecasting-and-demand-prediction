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71" r:id="rId2"/>
    <p:sldId id="272" r:id="rId3"/>
    <p:sldId id="274" r:id="rId4"/>
    <p:sldId id="277" r:id="rId5"/>
    <p:sldId id="280" r:id="rId6"/>
    <p:sldId id="279" r:id="rId7"/>
    <p:sldId id="278" r:id="rId8"/>
    <p:sldId id="281" r:id="rId9"/>
    <p:sldId id="282" r:id="rId10"/>
    <p:sldId id="283" r:id="rId11"/>
    <p:sldId id="284" r:id="rId12"/>
    <p:sldId id="285" r:id="rId13"/>
    <p:sldId id="286" r:id="rId14"/>
    <p:sldId id="288" r:id="rId15"/>
    <p:sldId id="290" r:id="rId16"/>
    <p:sldId id="291" r:id="rId17"/>
    <p:sldId id="292" r:id="rId18"/>
    <p:sldId id="293" r:id="rId19"/>
    <p:sldId id="294" r:id="rId20"/>
    <p:sldId id="297" r:id="rId21"/>
    <p:sldId id="307" r:id="rId22"/>
    <p:sldId id="298" r:id="rId23"/>
    <p:sldId id="302" r:id="rId24"/>
    <p:sldId id="303" r:id="rId25"/>
    <p:sldId id="304" r:id="rId26"/>
    <p:sldId id="305" r:id="rId27"/>
    <p:sldId id="306" r:id="rId28"/>
    <p:sldId id="299" r:id="rId29"/>
    <p:sldId id="308" r:id="rId30"/>
    <p:sldId id="309" r:id="rId31"/>
  </p:sldIdLst>
  <p:sldSz cx="12192000" cy="6858000"/>
  <p:notesSz cx="6858000" cy="9144000"/>
  <p:embeddedFontLst>
    <p:embeddedFont>
      <p:font typeface="Aptos ExtraBold" panose="020B0004020202020204" pitchFamily="34" charset="0"/>
      <p:bold r:id="rId33"/>
      <p:boldItalic r:id="rId34"/>
    </p:embeddedFont>
    <p:embeddedFont>
      <p:font typeface="Eras Bold ITC" panose="020B0907030504020204" pitchFamily="3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AB7D"/>
    <a:srgbClr val="1869A6"/>
    <a:srgbClr val="CDE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t>Model Deployment</a:t>
          </a:r>
        </a:p>
      </dgm:t>
    </dgm:pt>
    <dgm:pt modelId="{1B942CF1-B45E-4D81-BBEA-3982B48048C3}" type="parTrans" cxnId="{D3EE7DE5-D341-4E6E-BEE9-33FA73930033}">
      <dgm:prSet/>
      <dgm:spPr/>
      <dgm:t>
        <a:bodyPr/>
        <a:lstStyle/>
        <a:p>
          <a:endParaRPr lang="en-US" b="1"/>
        </a:p>
      </dgm:t>
    </dgm:pt>
    <dgm:pt modelId="{ABFCD20A-1C9A-4F59-ABED-66D5A804526B}" type="sib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bg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bg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bg1"/>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bg1"/>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bg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bg1"/>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bg1"/>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bg1"/>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bg1"/>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bg1"/>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bg1"/>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bg1"/>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bg1"/>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tx1">
                  <a:lumMod val="65000"/>
                  <a:lumOff val="35000"/>
                </a:schemeClr>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tx1">
                  <a:lumMod val="65000"/>
                  <a:lumOff val="35000"/>
                </a:schemeClr>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tx1">
                  <a:lumMod val="65000"/>
                  <a:lumOff val="35000"/>
                </a:schemeClr>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tx1">
                  <a:lumMod val="65000"/>
                  <a:lumOff val="35000"/>
                </a:schemeClr>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bg1"/>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solidFill>
                <a:schemeClr val="tx1"/>
              </a:solidFill>
            </a:rPr>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solidFill>
                <a:schemeClr val="tx1"/>
              </a:solidFill>
            </a:rPr>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solidFill>
                <a:schemeClr val="tx1">
                  <a:lumMod val="65000"/>
                  <a:lumOff val="35000"/>
                </a:schemeClr>
              </a:solidFill>
            </a:rPr>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solidFill>
                <a:schemeClr val="tx1">
                  <a:lumMod val="65000"/>
                  <a:lumOff val="35000"/>
                </a:schemeClr>
              </a:solidFill>
            </a:rPr>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solidFill>
                <a:schemeClr val="tx1">
                  <a:lumMod val="65000"/>
                  <a:lumOff val="35000"/>
                </a:schemeClr>
              </a:solidFill>
            </a:rPr>
            <a:t>Model Deployment</a:t>
          </a:r>
        </a:p>
      </dgm:t>
    </dgm:pt>
    <dgm:pt modelId="{ABFCD20A-1C9A-4F59-ABED-66D5A804526B}" type="sibTrans" cxnId="{D3EE7DE5-D341-4E6E-BEE9-33FA73930033}">
      <dgm:prSet/>
      <dgm:spPr/>
      <dgm:t>
        <a:bodyPr/>
        <a:lstStyle/>
        <a:p>
          <a:endParaRPr lang="en-US" b="1"/>
        </a:p>
      </dgm:t>
    </dgm:pt>
    <dgm:pt modelId="{1B942CF1-B45E-4D81-BBEA-3982B48048C3}" type="par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Model Deployment</a:t>
          </a:r>
        </a:p>
      </dsp:txBody>
      <dsp:txXfrm>
        <a:off x="1663395" y="4370928"/>
        <a:ext cx="752674" cy="3760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bg1"/>
              </a:solidFill>
            </a:rPr>
            <a:t>Model Deployment</a:t>
          </a:r>
        </a:p>
      </dsp:txBody>
      <dsp:txXfrm>
        <a:off x="1663395" y="4370928"/>
        <a:ext cx="752674" cy="3760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rPr>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65000"/>
                  <a:lumOff val="35000"/>
                </a:schemeClr>
              </a:solidFill>
            </a:rPr>
            <a:t>Model Deployment</a:t>
          </a:r>
        </a:p>
      </dsp:txBody>
      <dsp:txXfrm>
        <a:off x="1663395" y="4370928"/>
        <a:ext cx="752674" cy="37608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E02055-F1A6-831A-7351-91805F329FE1}"/>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18AFC41-DB00-48D0-AE24-46767335A0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9034496C-0390-0943-E040-0C285B7B97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193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2DB4F67-50EA-72FB-2D33-9864CC342605}"/>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DF2A12DD-ACA0-925C-6BEE-50CEC6091F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B0AA40DB-D374-76A7-54CF-99C96B1CD4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9897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81FB50C-0A52-649C-776D-1F441722A5B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15BB626-8642-31FB-501E-C60CE35961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BB6135E-B4EF-0BFA-9D6A-F6AD82F6A8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16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4CDBFE-2682-2B42-B850-D4EFCD941D6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251FE33-7846-897C-CB7B-FC4CCE5948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DBEBA4F-9413-BFE7-86B1-7CC86CD6FF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1894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09A905A-B0D4-4009-2C15-C037A3BD0DBC}"/>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F71D31F4-9880-03E0-E7EB-59B687D055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B9A011F6-EE70-EB62-B76C-6890D3E592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6057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9554CB-2150-E100-E8B9-97B75998815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121B1CC8-6CDC-4D82-1E59-B87ECB1E4C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318A3FFC-C569-D222-2354-477525B8B9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9220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4622E8-DBC2-820B-4351-E2B4CB41E6DB}"/>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F4C7B56-C0CD-55B9-A97D-074BEC47B44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0CD34B09-F685-6339-2520-80A8B39607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449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1DB5E57-3439-9D5F-D8F8-2AEABE6E1AA5}"/>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AF36FFD-8341-27E9-2A9D-42B7BFE8FB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0FC96459-7182-4DB2-41D0-F620705DD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1446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2FF41AC-C67A-B41F-1245-CA544AE4BD1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58B88E0-39B4-6FFA-6F3A-D3C3AD8D40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C9DE4AD-6DFB-A23C-7DD1-539DB1017D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1979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7FE366-5A44-349A-F6FC-4D28D3EAD97D}"/>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91AC00F-EBF6-A8B5-1EC4-89246B2FB4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26A30DF-60C3-F0E0-B788-A2D23BA9D3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088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794292-4218-65E2-4CCB-72D07AEC6566}"/>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0481FA1-7C66-7A84-75A9-95FFEE6902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824B47E-525F-7953-3A05-4E6EFAC3A6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663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17C6DED-4FEB-B68A-CCFB-F8C3DC6C5AB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AFE47770-057B-EA4D-16AE-0E8C3F0668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862ACBC-4D84-445D-A588-3DAAA40B9C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14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66B395-3505-B5E0-7498-8CDCDBC0772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2AF5798-2875-EA29-1A3A-B6AD018A89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33595F9-CA8E-1110-ACC5-38EB92C568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104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D1515D-D1DE-2DB2-2D37-4684EF09C0D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5D6B860-9186-DF7C-BA2F-54901A6E51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B85A47D2-94C1-313B-4EDD-F77F02A322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469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1EE03F-2FD0-E714-F8B6-67167FCC125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04A6085E-FEDA-91BC-FB6D-87E1F7D08E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A2A74D2A-A090-98A1-AAFF-1C56AD4E4B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35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D131F2-9116-1AD0-3408-199510867882}"/>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9842C26-4667-1195-0117-4537F10A34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940234A-6D04-2D4A-6778-B4CAC51814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578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FAFF4E0-7ABA-A3A2-BBF5-56648015341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A633F372-E944-CED1-822B-C4B3E3A567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A9FD15EE-2496-5C79-F1C7-761580120E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6002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510907D-BA24-747A-FA28-DFF35A7AC9E8}"/>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36C9501-068B-675B-F960-C66A0FB7A5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9B47580-EF40-927F-75E9-4A4804573E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0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9328BE3-A7F7-0202-31A6-AC7DC6ADB4D4}"/>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C5C100D5-894A-8402-CAD7-E7DB290F3B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58E99D91-3FB2-E209-D6AA-87B34D8280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927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5924D29-F6E0-0550-FB96-02A12EF6BEC1}"/>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05529004-3383-BBBC-6147-0B9DB34A69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34B0E1DB-4476-BA43-BE17-A466E947A9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2114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F5EF2B7-9F35-6A94-4ECA-C18A511BED4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BA9A079-E19B-8235-D4AE-C079FABD0A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D2391C2F-3619-BBC7-C073-A2C2E153A7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7217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371DADE-95C3-4B87-13D5-643BE016F186}"/>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8212AAC-A1BF-FEA1-9D6B-88D216F680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8E96CCD7-842B-F166-87B4-314381B210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235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984D0AA-AF98-F1FA-0C02-9D697DCE1218}"/>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FD714E9-4A4D-C209-31A4-3E91E03002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8652858-7AD0-EC38-0499-1BCD7AD609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3286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E66160-433A-5B83-48D6-10A193A7DDC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92C251B-EB59-EBE0-6C84-3AC2EFD032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5D4FB2FF-7664-D702-F66D-CB5B70B333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7470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25DF847-FF0A-C3A1-F187-138A1FE49524}"/>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2678D21-C2EE-2D27-BA2A-C9CC605FE1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9EB162CC-C76C-0BE2-16B9-0424AF8CFA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999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C057EDA-D400-CB66-6129-51483C6E2DA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86B5F039-EE0C-B5FE-7840-290789D147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EBEBBF27-4788-3561-6023-14CA405082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3943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E32D361-590E-1435-D943-30734B46CBBD}"/>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A094DEC-9E4E-AA58-3D2E-AB978992BA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716EA9C-A4DA-418E-DD4F-BB46DB2EFE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3995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8C6233-5422-F13E-7449-2C000FAED43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A97B0E5-3241-B9DD-3AFD-581C8210C6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1D4A849-2015-68D5-8B59-14CBB1168D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477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52349BC-F2B9-01C9-1D14-3A284E4E33A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D2604F4D-AFB5-CF43-8A29-81724B6D87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22B5AD8C-100E-7562-993A-8E1184B101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305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5608A2-7FDB-6A51-27F4-25BA4414689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43F26078-1C7C-833E-AB82-F04BF9F693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741ECB2-0F59-41AB-1105-BB338AA33B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844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1">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2">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pic>
        <p:nvPicPr>
          <p:cNvPr id="13" name="Google Shape;13;p13"/>
          <p:cNvPicPr preferRelativeResize="0"/>
          <p:nvPr/>
        </p:nvPicPr>
        <p:blipFill rotWithShape="1">
          <a:blip r:embed="rId13">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png"/><Relationship Id="rId7" Type="http://schemas.openxmlformats.org/officeDocument/2006/relationships/diagramColors" Target="../diagrams/colors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4.png"/><Relationship Id="rId7" Type="http://schemas.openxmlformats.org/officeDocument/2006/relationships/diagramColors" Target="../diagrams/colors6.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4.png"/><Relationship Id="rId7" Type="http://schemas.openxmlformats.org/officeDocument/2006/relationships/diagramColors" Target="../diagrams/colors7.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4.png"/><Relationship Id="rId7" Type="http://schemas.openxmlformats.org/officeDocument/2006/relationships/diagramColors" Target="../diagrams/colors8.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4.png"/><Relationship Id="rId7" Type="http://schemas.openxmlformats.org/officeDocument/2006/relationships/diagramColors" Target="../diagrams/colors9.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0281689-6E78-3D33-B708-BB4DB098E292}"/>
            </a:ext>
          </a:extLst>
        </p:cNvPr>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0EE75E5B-24C3-7AA9-8E27-D318A0121CE8}"/>
              </a:ext>
            </a:extLst>
          </p:cNvPr>
          <p:cNvCxnSpPr>
            <a:cxnSpLocks/>
          </p:cNvCxnSpPr>
          <p:nvPr/>
        </p:nvCxnSpPr>
        <p:spPr>
          <a:xfrm flipH="1" flipV="1">
            <a:off x="678656" y="6431756"/>
            <a:ext cx="545307" cy="502444"/>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sp>
        <p:nvSpPr>
          <p:cNvPr id="105" name="Google Shape;105;p1">
            <a:extLst>
              <a:ext uri="{FF2B5EF4-FFF2-40B4-BE49-F238E27FC236}">
                <a16:creationId xmlns:a16="http://schemas.microsoft.com/office/drawing/2014/main" id="{F9B2C133-E4E3-277E-533E-EA6F417514C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ar-EG" b="1" dirty="0"/>
              <a:t>0</a:t>
            </a:r>
            <a:r>
              <a:rPr lang="en-US" b="1" dirty="0"/>
              <a:t>5/</a:t>
            </a:r>
            <a:r>
              <a:rPr lang="ar-EG" b="1" dirty="0"/>
              <a:t>0</a:t>
            </a:r>
            <a:r>
              <a:rPr lang="en-US" b="1" dirty="0"/>
              <a:t>8/</a:t>
            </a:r>
            <a:r>
              <a:rPr lang="ar-EG" b="1" dirty="0"/>
              <a:t>20</a:t>
            </a:r>
            <a:r>
              <a:rPr lang="en-US" b="1" dirty="0"/>
              <a:t>25</a:t>
            </a:r>
            <a:endParaRPr b="1" dirty="0"/>
          </a:p>
        </p:txBody>
      </p:sp>
      <p:sp>
        <p:nvSpPr>
          <p:cNvPr id="107" name="Google Shape;107;p1">
            <a:extLst>
              <a:ext uri="{FF2B5EF4-FFF2-40B4-BE49-F238E27FC236}">
                <a16:creationId xmlns:a16="http://schemas.microsoft.com/office/drawing/2014/main" id="{8D84486D-C90F-6457-5822-FCDA8522BA5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dirty="0"/>
          </a:p>
        </p:txBody>
      </p:sp>
      <p:pic>
        <p:nvPicPr>
          <p:cNvPr id="110" name="Google Shape;110;p1" title="download.png">
            <a:extLst>
              <a:ext uri="{FF2B5EF4-FFF2-40B4-BE49-F238E27FC236}">
                <a16:creationId xmlns:a16="http://schemas.microsoft.com/office/drawing/2014/main" id="{2E20CB84-0CD4-148A-E7EA-1F97ED53153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cxnSp>
        <p:nvCxnSpPr>
          <p:cNvPr id="3" name="Straight Connector 2">
            <a:extLst>
              <a:ext uri="{FF2B5EF4-FFF2-40B4-BE49-F238E27FC236}">
                <a16:creationId xmlns:a16="http://schemas.microsoft.com/office/drawing/2014/main" id="{FD6C6B61-44D0-09E6-7AAD-10FE3E7C7901}"/>
              </a:ext>
            </a:extLst>
          </p:cNvPr>
          <p:cNvCxnSpPr>
            <a:cxnSpLocks/>
          </p:cNvCxnSpPr>
          <p:nvPr/>
        </p:nvCxnSpPr>
        <p:spPr>
          <a:xfrm flipH="1" flipV="1">
            <a:off x="57150" y="2305050"/>
            <a:ext cx="126206" cy="373856"/>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3D019019-E3F9-F20C-2214-15E41FE80A28}"/>
              </a:ext>
            </a:extLst>
          </p:cNvPr>
          <p:cNvCxnSpPr>
            <a:cxnSpLocks/>
          </p:cNvCxnSpPr>
          <p:nvPr/>
        </p:nvCxnSpPr>
        <p:spPr>
          <a:xfrm flipH="1" flipV="1">
            <a:off x="57150" y="2140744"/>
            <a:ext cx="357188" cy="538162"/>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6E7443C4-1156-4F19-9434-4F7F40BDD4F6}"/>
              </a:ext>
            </a:extLst>
          </p:cNvPr>
          <p:cNvCxnSpPr>
            <a:cxnSpLocks/>
          </p:cNvCxnSpPr>
          <p:nvPr/>
        </p:nvCxnSpPr>
        <p:spPr>
          <a:xfrm flipH="1" flipV="1">
            <a:off x="57150" y="2071687"/>
            <a:ext cx="545306" cy="607219"/>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1361D939-3AF7-2743-AD32-3177E98971C1}"/>
              </a:ext>
            </a:extLst>
          </p:cNvPr>
          <p:cNvCxnSpPr>
            <a:cxnSpLocks/>
          </p:cNvCxnSpPr>
          <p:nvPr/>
        </p:nvCxnSpPr>
        <p:spPr>
          <a:xfrm flipH="1" flipV="1">
            <a:off x="57150" y="2071687"/>
            <a:ext cx="781050" cy="607219"/>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20" name="Straight Connector 19">
            <a:extLst>
              <a:ext uri="{FF2B5EF4-FFF2-40B4-BE49-F238E27FC236}">
                <a16:creationId xmlns:a16="http://schemas.microsoft.com/office/drawing/2014/main" id="{6719858D-C47B-5B5E-FF39-D3D367D254DB}"/>
              </a:ext>
            </a:extLst>
          </p:cNvPr>
          <p:cNvCxnSpPr>
            <a:cxnSpLocks/>
          </p:cNvCxnSpPr>
          <p:nvPr/>
        </p:nvCxnSpPr>
        <p:spPr>
          <a:xfrm flipH="1" flipV="1">
            <a:off x="552999" y="6402387"/>
            <a:ext cx="228051" cy="531813"/>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sp>
        <p:nvSpPr>
          <p:cNvPr id="29" name="Rectangle 28">
            <a:extLst>
              <a:ext uri="{FF2B5EF4-FFF2-40B4-BE49-F238E27FC236}">
                <a16:creationId xmlns:a16="http://schemas.microsoft.com/office/drawing/2014/main" id="{D887A4A5-1682-BF15-43A6-EF34C716EDE3}"/>
              </a:ext>
            </a:extLst>
          </p:cNvPr>
          <p:cNvSpPr/>
          <p:nvPr/>
        </p:nvSpPr>
        <p:spPr>
          <a:xfrm>
            <a:off x="839349" y="6561931"/>
            <a:ext cx="309749" cy="159544"/>
          </a:xfrm>
          <a:prstGeom prst="rect">
            <a:avLst/>
          </a:prstGeom>
          <a:solidFill>
            <a:srgbClr val="1869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AB5DC6-0BF3-6B49-88BF-EF0EF93FC7B3}"/>
              </a:ext>
            </a:extLst>
          </p:cNvPr>
          <p:cNvSpPr txBox="1"/>
          <p:nvPr/>
        </p:nvSpPr>
        <p:spPr>
          <a:xfrm>
            <a:off x="3786188" y="4314825"/>
            <a:ext cx="5599352"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Supervised by: Eng. Mahmoud Talaat</a:t>
            </a:r>
          </a:p>
        </p:txBody>
      </p:sp>
      <p:sp>
        <p:nvSpPr>
          <p:cNvPr id="2" name="TextBox 1">
            <a:extLst>
              <a:ext uri="{FF2B5EF4-FFF2-40B4-BE49-F238E27FC236}">
                <a16:creationId xmlns:a16="http://schemas.microsoft.com/office/drawing/2014/main" id="{3BC678B8-8148-FA97-ED34-92FC1A907CCA}"/>
              </a:ext>
            </a:extLst>
          </p:cNvPr>
          <p:cNvSpPr txBox="1"/>
          <p:nvPr/>
        </p:nvSpPr>
        <p:spPr>
          <a:xfrm>
            <a:off x="1149098" y="2071687"/>
            <a:ext cx="9252202" cy="2123658"/>
          </a:xfrm>
          <a:prstGeom prst="rect">
            <a:avLst/>
          </a:prstGeom>
          <a:noFill/>
        </p:spPr>
        <p:txBody>
          <a:bodyPr wrap="square" rtlCol="0">
            <a:spAutoFit/>
          </a:bodyPr>
          <a:lstStyle/>
          <a:p>
            <a:r>
              <a:rPr lang="en-US" sz="4400" b="1" dirty="0">
                <a:solidFill>
                  <a:srgbClr val="1869A6"/>
                </a:solidFill>
                <a:latin typeface="Eras Bold ITC" panose="020B0907030504020204" pitchFamily="34" charset="0"/>
              </a:rPr>
              <a:t>SALES FORECASTING </a:t>
            </a:r>
          </a:p>
          <a:p>
            <a:r>
              <a:rPr lang="en-US" sz="4400" b="1" dirty="0">
                <a:latin typeface="Eras Bold ITC" panose="020B0907030504020204" pitchFamily="34" charset="0"/>
              </a:rPr>
              <a:t>	</a:t>
            </a:r>
            <a:r>
              <a:rPr lang="en-US" sz="4400" b="1" dirty="0">
                <a:solidFill>
                  <a:srgbClr val="0FAB7D"/>
                </a:solidFill>
                <a:latin typeface="Eras Bold ITC" panose="020B0907030504020204" pitchFamily="34" charset="0"/>
              </a:rPr>
              <a:t>and</a:t>
            </a:r>
            <a:r>
              <a:rPr lang="en-US" sz="4400" b="1" dirty="0">
                <a:latin typeface="Eras Bold ITC" panose="020B0907030504020204" pitchFamily="34" charset="0"/>
              </a:rPr>
              <a:t> </a:t>
            </a:r>
          </a:p>
          <a:p>
            <a:r>
              <a:rPr lang="en-US" sz="4400" b="1" dirty="0">
                <a:latin typeface="Eras Bold ITC" panose="020B0907030504020204" pitchFamily="34" charset="0"/>
              </a:rPr>
              <a:t>		</a:t>
            </a:r>
            <a:r>
              <a:rPr lang="en-US" sz="4400" b="1" dirty="0">
                <a:solidFill>
                  <a:srgbClr val="1869A6"/>
                </a:solidFill>
                <a:latin typeface="Eras Bold ITC" panose="020B0907030504020204" pitchFamily="34" charset="0"/>
              </a:rPr>
              <a:t>DEMAND PREDICTION</a:t>
            </a:r>
          </a:p>
        </p:txBody>
      </p:sp>
      <p:sp>
        <p:nvSpPr>
          <p:cNvPr id="4" name="Google Shape;105;p1">
            <a:extLst>
              <a:ext uri="{FF2B5EF4-FFF2-40B4-BE49-F238E27FC236}">
                <a16:creationId xmlns:a16="http://schemas.microsoft.com/office/drawing/2014/main" id="{00949235-4C92-A538-87B9-171FF8865D88}"/>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a:t>
            </a:r>
            <a:endParaRPr lang="ar-EG" b="1" dirty="0"/>
          </a:p>
        </p:txBody>
      </p:sp>
    </p:spTree>
    <p:extLst>
      <p:ext uri="{BB962C8B-B14F-4D97-AF65-F5344CB8AC3E}">
        <p14:creationId xmlns:p14="http://schemas.microsoft.com/office/powerpoint/2010/main" val="30003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7B4C9C-EE55-88C3-FAB9-BD8602DAF9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B3CA0C-3D47-C631-CE13-EB2B2AEDCBD5}"/>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4DF7E6F9-5C3C-4D91-B714-386DFB5C222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E26378E-4BEE-C704-9EFA-FB0068E891FA}"/>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dirty="0"/>
          </a:p>
        </p:txBody>
      </p:sp>
      <p:pic>
        <p:nvPicPr>
          <p:cNvPr id="110" name="Google Shape;110;p1" title="download.png">
            <a:extLst>
              <a:ext uri="{FF2B5EF4-FFF2-40B4-BE49-F238E27FC236}">
                <a16:creationId xmlns:a16="http://schemas.microsoft.com/office/drawing/2014/main" id="{AFA4551C-4C3A-407E-0560-9DED58E41791}"/>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AB4F76D4-FC18-6E5B-8875-6BEBCE70C83E}"/>
              </a:ext>
            </a:extLst>
          </p:cNvPr>
          <p:cNvSpPr txBox="1"/>
          <p:nvPr/>
        </p:nvSpPr>
        <p:spPr>
          <a:xfrm>
            <a:off x="748109" y="1933595"/>
            <a:ext cx="10264327" cy="4554517"/>
          </a:xfrm>
          <a:prstGeom prst="rect">
            <a:avLst/>
          </a:prstGeom>
          <a:noFill/>
        </p:spPr>
        <p:txBody>
          <a:bodyPr wrap="square" rtlCol="0">
            <a:spAutoFit/>
          </a:bodyPr>
          <a:lstStyle/>
          <a:p>
            <a:pPr>
              <a:lnSpc>
                <a:spcPct val="150000"/>
              </a:lnSpc>
            </a:pPr>
            <a:r>
              <a:rPr lang="en-US" sz="2800" dirty="0">
                <a:solidFill>
                  <a:schemeClr val="tx1">
                    <a:lumMod val="65000"/>
                    <a:lumOff val="35000"/>
                  </a:schemeClr>
                </a:solidFill>
                <a:latin typeface="Aptos ExtraBold" panose="020B0004020202020204" pitchFamily="34" charset="0"/>
              </a:rPr>
              <a:t>01 Introduction</a:t>
            </a:r>
          </a:p>
          <a:p>
            <a:pPr>
              <a:lnSpc>
                <a:spcPct val="150000"/>
              </a:lnSpc>
            </a:pPr>
            <a:r>
              <a:rPr lang="en-US" sz="2800" dirty="0">
                <a:solidFill>
                  <a:schemeClr val="tx1">
                    <a:lumMod val="65000"/>
                    <a:lumOff val="35000"/>
                  </a:schemeClr>
                </a:solidFill>
                <a:latin typeface="Aptos ExtraBold" panose="020B0004020202020204" pitchFamily="34" charset="0"/>
              </a:rPr>
              <a:t>02 Problem Statement</a:t>
            </a:r>
          </a:p>
          <a:p>
            <a:pPr>
              <a:lnSpc>
                <a:spcPct val="150000"/>
              </a:lnSpc>
            </a:pPr>
            <a:r>
              <a:rPr lang="en-US" sz="2800" dirty="0">
                <a:solidFill>
                  <a:schemeClr val="tx1">
                    <a:lumMod val="65000"/>
                    <a:lumOff val="35000"/>
                  </a:schemeClr>
                </a:solidFill>
                <a:latin typeface="Aptos ExtraBold" panose="020B0004020202020204" pitchFamily="34" charset="0"/>
              </a:rPr>
              <a:t>03 Related Work</a:t>
            </a:r>
          </a:p>
          <a:p>
            <a:pPr>
              <a:lnSpc>
                <a:spcPct val="150000"/>
              </a:lnSpc>
            </a:pPr>
            <a:r>
              <a:rPr lang="en-US" sz="2800" dirty="0">
                <a:solidFill>
                  <a:schemeClr val="tx1">
                    <a:lumMod val="65000"/>
                    <a:lumOff val="35000"/>
                  </a:schemeClr>
                </a:solidFill>
                <a:latin typeface="Aptos ExtraBold" panose="020B0004020202020204" pitchFamily="34" charset="0"/>
              </a:rPr>
              <a:t>04 Proposed solution</a:t>
            </a:r>
          </a:p>
          <a:p>
            <a:pPr>
              <a:lnSpc>
                <a:spcPct val="150000"/>
              </a:lnSpc>
            </a:pPr>
            <a:r>
              <a:rPr lang="en-US" sz="2800" dirty="0">
                <a:solidFill>
                  <a:schemeClr val="tx1">
                    <a:lumMod val="65000"/>
                    <a:lumOff val="35000"/>
                  </a:schemeClr>
                </a:solidFill>
                <a:latin typeface="Aptos ExtraBold" panose="020B0004020202020204" pitchFamily="34" charset="0"/>
              </a:rPr>
              <a:t>05 Methodology</a:t>
            </a:r>
          </a:p>
          <a:p>
            <a:pPr>
              <a:lnSpc>
                <a:spcPct val="150000"/>
              </a:lnSpc>
            </a:pPr>
            <a:r>
              <a:rPr lang="en-US" sz="2800" dirty="0">
                <a:solidFill>
                  <a:schemeClr val="tx1">
                    <a:lumMod val="65000"/>
                    <a:lumOff val="35000"/>
                  </a:schemeClr>
                </a:solidFill>
                <a:latin typeface="Aptos ExtraBold" panose="020B0004020202020204" pitchFamily="34" charset="0"/>
              </a:rPr>
              <a:t>06 Conclusion</a:t>
            </a:r>
          </a:p>
          <a:p>
            <a:pPr>
              <a:lnSpc>
                <a:spcPct val="150000"/>
              </a:lnSpc>
            </a:pPr>
            <a:endParaRPr lang="en-US" sz="2800" dirty="0">
              <a:solidFill>
                <a:schemeClr val="tx1">
                  <a:lumMod val="65000"/>
                  <a:lumOff val="35000"/>
                </a:schemeClr>
              </a:solidFill>
              <a:latin typeface="Aptos ExtraBold" panose="020B0004020202020204" pitchFamily="34" charset="0"/>
            </a:endParaRPr>
          </a:p>
        </p:txBody>
      </p:sp>
      <p:sp>
        <p:nvSpPr>
          <p:cNvPr id="2" name="TextBox 1">
            <a:extLst>
              <a:ext uri="{FF2B5EF4-FFF2-40B4-BE49-F238E27FC236}">
                <a16:creationId xmlns:a16="http://schemas.microsoft.com/office/drawing/2014/main" id="{C0D69689-8268-D800-27E6-BE9A4C1B46D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Table of Content</a:t>
            </a:r>
          </a:p>
        </p:txBody>
      </p:sp>
      <p:sp>
        <p:nvSpPr>
          <p:cNvPr id="8" name="Google Shape;105;p1">
            <a:extLst>
              <a:ext uri="{FF2B5EF4-FFF2-40B4-BE49-F238E27FC236}">
                <a16:creationId xmlns:a16="http://schemas.microsoft.com/office/drawing/2014/main" id="{7E6AA106-AA08-4EA6-86F3-8D8904B905B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9" name="Google Shape;105;p1">
            <a:extLst>
              <a:ext uri="{FF2B5EF4-FFF2-40B4-BE49-F238E27FC236}">
                <a16:creationId xmlns:a16="http://schemas.microsoft.com/office/drawing/2014/main" id="{AD19C3F7-A46F-EB1A-0496-34F0E6207A18}"/>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a:t>
            </a:r>
            <a:endParaRPr lang="ar-EG" b="1" dirty="0"/>
          </a:p>
        </p:txBody>
      </p:sp>
    </p:spTree>
    <p:extLst>
      <p:ext uri="{BB962C8B-B14F-4D97-AF65-F5344CB8AC3E}">
        <p14:creationId xmlns:p14="http://schemas.microsoft.com/office/powerpoint/2010/main" val="2411250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5D30197-9FF7-8349-3F6E-859D0E4A1A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9F6C11-30AD-5059-2635-534D665008DC}"/>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F941840A-4DE8-E894-402A-1C73978FAA08}"/>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8552A6D-C60A-7702-1967-336364F259C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pic>
        <p:nvPicPr>
          <p:cNvPr id="110" name="Google Shape;110;p1" title="download.png">
            <a:extLst>
              <a:ext uri="{FF2B5EF4-FFF2-40B4-BE49-F238E27FC236}">
                <a16:creationId xmlns:a16="http://schemas.microsoft.com/office/drawing/2014/main" id="{08C43CF5-B3A8-C943-C64E-99BFA2501788}"/>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F1B2B041-4CC1-9E4E-823F-DCF00F8AA3D1}"/>
              </a:ext>
            </a:extLst>
          </p:cNvPr>
          <p:cNvSpPr txBox="1"/>
          <p:nvPr/>
        </p:nvSpPr>
        <p:spPr>
          <a:xfrm>
            <a:off x="203372" y="1854200"/>
            <a:ext cx="11353800" cy="3539430"/>
          </a:xfrm>
          <a:prstGeom prst="rect">
            <a:avLst/>
          </a:prstGeom>
          <a:noFill/>
        </p:spPr>
        <p:txBody>
          <a:bodyPr wrap="square" rtlCol="0">
            <a:spAutoFit/>
          </a:bodyPr>
          <a:lstStyle/>
          <a:p>
            <a:pPr algn="just"/>
            <a:r>
              <a:rPr lang="en-US" sz="2800" dirty="0">
                <a:solidFill>
                  <a:srgbClr val="0FAB7D"/>
                </a:solidFill>
                <a:latin typeface="Aptos ExtraBold" panose="020B0004020202020204" pitchFamily="34" charset="0"/>
              </a:rPr>
              <a:t>Sales Forecasting &amp; Demand Prediction </a:t>
            </a:r>
            <a:r>
              <a:rPr lang="en-US" sz="2800" dirty="0">
                <a:solidFill>
                  <a:schemeClr val="tx1">
                    <a:lumMod val="65000"/>
                    <a:lumOff val="35000"/>
                  </a:schemeClr>
                </a:solidFill>
                <a:latin typeface="Aptos ExtraBold" panose="020B0004020202020204" pitchFamily="34" charset="0"/>
              </a:rPr>
              <a:t>is a data science project aimed at building a pred</a:t>
            </a:r>
            <a:r>
              <a:rPr lang="en-US" sz="2800" b="1" dirty="0">
                <a:solidFill>
                  <a:schemeClr val="tx1">
                    <a:lumMod val="65000"/>
                    <a:lumOff val="35000"/>
                  </a:schemeClr>
                </a:solidFill>
                <a:latin typeface="Aptos ExtraBold" panose="020B0004020202020204" pitchFamily="34" charset="0"/>
              </a:rPr>
              <a:t>ictive system </a:t>
            </a:r>
            <a:r>
              <a:rPr lang="en-US" sz="2800" dirty="0">
                <a:solidFill>
                  <a:schemeClr val="tx1">
                    <a:lumMod val="65000"/>
                    <a:lumOff val="35000"/>
                  </a:schemeClr>
                </a:solidFill>
                <a:latin typeface="Aptos ExtraBold" panose="020B0004020202020204" pitchFamily="34" charset="0"/>
              </a:rPr>
              <a:t>that accurately forecasts future product demand using historical sales data and external variables such as promotions, holidays, and weather conditions. The objective is to help businesses reduce stockouts and overstocking, improve operational and financial planning, and enable more effective, data-driven decisions across marketing, supply chain, and inventory management. </a:t>
            </a:r>
          </a:p>
        </p:txBody>
      </p:sp>
      <p:sp>
        <p:nvSpPr>
          <p:cNvPr id="2" name="TextBox 1">
            <a:extLst>
              <a:ext uri="{FF2B5EF4-FFF2-40B4-BE49-F238E27FC236}">
                <a16:creationId xmlns:a16="http://schemas.microsoft.com/office/drawing/2014/main" id="{42A14EB2-ABFD-AD5E-E080-50D3D81D408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Introduction</a:t>
            </a:r>
          </a:p>
        </p:txBody>
      </p:sp>
      <p:sp>
        <p:nvSpPr>
          <p:cNvPr id="8" name="Google Shape;105;p1">
            <a:extLst>
              <a:ext uri="{FF2B5EF4-FFF2-40B4-BE49-F238E27FC236}">
                <a16:creationId xmlns:a16="http://schemas.microsoft.com/office/drawing/2014/main" id="{22F65CAB-4E3F-ABEA-C2B9-5B716B93F79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6" name="Google Shape;105;p1">
            <a:extLst>
              <a:ext uri="{FF2B5EF4-FFF2-40B4-BE49-F238E27FC236}">
                <a16:creationId xmlns:a16="http://schemas.microsoft.com/office/drawing/2014/main" id="{DDD9A0B0-9D2B-F535-C8F5-1FE37CED09F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3</a:t>
            </a:r>
            <a:endParaRPr lang="ar-EG" b="1" dirty="0"/>
          </a:p>
        </p:txBody>
      </p:sp>
    </p:spTree>
    <p:extLst>
      <p:ext uri="{BB962C8B-B14F-4D97-AF65-F5344CB8AC3E}">
        <p14:creationId xmlns:p14="http://schemas.microsoft.com/office/powerpoint/2010/main" val="4019437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7AFFEC8-9835-2C7E-F955-7A3B47E33F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42BE59-D84A-71B5-6878-E0A3AF5757AB}"/>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F87EF5BB-22BE-4CA9-3516-7C433369E64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33E2495-E1F5-A936-9AB7-936822F4EC6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dirty="0"/>
          </a:p>
        </p:txBody>
      </p:sp>
      <p:pic>
        <p:nvPicPr>
          <p:cNvPr id="110" name="Google Shape;110;p1" title="download.png">
            <a:extLst>
              <a:ext uri="{FF2B5EF4-FFF2-40B4-BE49-F238E27FC236}">
                <a16:creationId xmlns:a16="http://schemas.microsoft.com/office/drawing/2014/main" id="{03E317B5-DD2F-753D-F3CA-052A7B5D5F87}"/>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B878F20B-B8C7-9025-E59C-B1C11DABA1EA}"/>
              </a:ext>
            </a:extLst>
          </p:cNvPr>
          <p:cNvSpPr txBox="1"/>
          <p:nvPr/>
        </p:nvSpPr>
        <p:spPr>
          <a:xfrm>
            <a:off x="203372" y="1712009"/>
            <a:ext cx="11353800" cy="4154984"/>
          </a:xfrm>
          <a:prstGeom prst="rect">
            <a:avLst/>
          </a:prstGeom>
          <a:noFill/>
        </p:spPr>
        <p:txBody>
          <a:bodyPr wrap="square" rtlCol="0">
            <a:spAutoFit/>
          </a:bodyPr>
          <a:lstStyle/>
          <a:p>
            <a:pPr marL="514350" indent="-51435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Businesses often struggle to predict demand accurately in a world driven by dynamic factors like promotions, seasonality, and customer behavior. </a:t>
            </a:r>
          </a:p>
          <a:p>
            <a:pPr algn="just"/>
            <a:endParaRPr lang="en-US" sz="2000" dirty="0">
              <a:solidFill>
                <a:schemeClr val="tx1">
                  <a:lumMod val="65000"/>
                  <a:lumOff val="35000"/>
                </a:schemeClr>
              </a:solidFill>
              <a:latin typeface="Aptos ExtraBold" panose="020B0004020202020204" pitchFamily="34" charset="0"/>
            </a:endParaRPr>
          </a:p>
          <a:p>
            <a:pPr marL="457200" indent="-45720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Traditional methods often lead to stockouts, overstocking, and lost opportunities. </a:t>
            </a:r>
          </a:p>
          <a:p>
            <a:pPr algn="just"/>
            <a:endParaRPr lang="en-US" sz="2000" dirty="0">
              <a:solidFill>
                <a:schemeClr val="tx1">
                  <a:lumMod val="65000"/>
                  <a:lumOff val="35000"/>
                </a:schemeClr>
              </a:solidFill>
              <a:latin typeface="Aptos ExtraBold" panose="020B0004020202020204" pitchFamily="34" charset="0"/>
            </a:endParaRPr>
          </a:p>
          <a:p>
            <a:pPr marL="457200" indent="-45720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This creates a critical need for a forecasting system that aligns inventory, marketing, and operations with real-world demand patterns.</a:t>
            </a:r>
          </a:p>
        </p:txBody>
      </p:sp>
      <p:sp>
        <p:nvSpPr>
          <p:cNvPr id="2" name="TextBox 1">
            <a:extLst>
              <a:ext uri="{FF2B5EF4-FFF2-40B4-BE49-F238E27FC236}">
                <a16:creationId xmlns:a16="http://schemas.microsoft.com/office/drawing/2014/main" id="{36879A8B-4271-EA31-1046-00CF48836ABA}"/>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Problem Statement</a:t>
            </a:r>
          </a:p>
        </p:txBody>
      </p:sp>
      <p:sp>
        <p:nvSpPr>
          <p:cNvPr id="8" name="Google Shape;105;p1">
            <a:extLst>
              <a:ext uri="{FF2B5EF4-FFF2-40B4-BE49-F238E27FC236}">
                <a16:creationId xmlns:a16="http://schemas.microsoft.com/office/drawing/2014/main" id="{AABB9451-EC61-6F00-AF6F-5A6FD55F673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6" name="Google Shape;105;p1">
            <a:extLst>
              <a:ext uri="{FF2B5EF4-FFF2-40B4-BE49-F238E27FC236}">
                <a16:creationId xmlns:a16="http://schemas.microsoft.com/office/drawing/2014/main" id="{DE5DC8DD-3D7A-AA86-6936-663CBBC052AF}"/>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4</a:t>
            </a:r>
            <a:endParaRPr lang="ar-EG" b="1" dirty="0"/>
          </a:p>
        </p:txBody>
      </p:sp>
    </p:spTree>
    <p:extLst>
      <p:ext uri="{BB962C8B-B14F-4D97-AF65-F5344CB8AC3E}">
        <p14:creationId xmlns:p14="http://schemas.microsoft.com/office/powerpoint/2010/main" val="18184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A160203-C9A1-B374-E269-E89D70B28A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CB8F23-9FAC-3184-81F5-F1946F9267D0}"/>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B89C0367-6BA9-57B7-F236-7CEB2CE8F23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280907C-5D03-1E01-A6EC-B872CE69D62A}"/>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dirty="0"/>
          </a:p>
        </p:txBody>
      </p:sp>
      <p:pic>
        <p:nvPicPr>
          <p:cNvPr id="110" name="Google Shape;110;p1" title="download.png">
            <a:extLst>
              <a:ext uri="{FF2B5EF4-FFF2-40B4-BE49-F238E27FC236}">
                <a16:creationId xmlns:a16="http://schemas.microsoft.com/office/drawing/2014/main" id="{CB35F2A5-D6EB-4E58-A319-E27FA3C1D5A5}"/>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19A22C69-04A9-5780-D0E2-AD379FE49A73}"/>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Related Work</a:t>
            </a:r>
          </a:p>
        </p:txBody>
      </p:sp>
      <p:sp>
        <p:nvSpPr>
          <p:cNvPr id="8" name="Google Shape;105;p1">
            <a:extLst>
              <a:ext uri="{FF2B5EF4-FFF2-40B4-BE49-F238E27FC236}">
                <a16:creationId xmlns:a16="http://schemas.microsoft.com/office/drawing/2014/main" id="{0FE5B8C3-2ECB-7002-0D6C-F7F3ADBF54B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Google Shape;105;p1">
            <a:extLst>
              <a:ext uri="{FF2B5EF4-FFF2-40B4-BE49-F238E27FC236}">
                <a16:creationId xmlns:a16="http://schemas.microsoft.com/office/drawing/2014/main" id="{173A1F48-8241-8DBA-4F40-2259F5CFD1C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5</a:t>
            </a:r>
            <a:endParaRPr lang="ar-EG" b="1" dirty="0"/>
          </a:p>
        </p:txBody>
      </p:sp>
    </p:spTree>
    <p:extLst>
      <p:ext uri="{BB962C8B-B14F-4D97-AF65-F5344CB8AC3E}">
        <p14:creationId xmlns:p14="http://schemas.microsoft.com/office/powerpoint/2010/main" val="1998603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8DDD6BA-104B-2242-0A95-0F934FF092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C729F2-23E4-0C4C-90D0-F4BB5553EE8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B597DEAF-322E-71BD-D884-0BA4F184D60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EF006AE-A843-0338-9719-C2F50565E77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dirty="0"/>
          </a:p>
        </p:txBody>
      </p:sp>
      <p:pic>
        <p:nvPicPr>
          <p:cNvPr id="110" name="Google Shape;110;p1" title="download.png">
            <a:extLst>
              <a:ext uri="{FF2B5EF4-FFF2-40B4-BE49-F238E27FC236}">
                <a16:creationId xmlns:a16="http://schemas.microsoft.com/office/drawing/2014/main" id="{C0BD863B-29C8-D995-1924-C00FF01541B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6F6CE5D6-BABB-6658-11C6-26BA8FAD871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Proposed Solution</a:t>
            </a:r>
          </a:p>
        </p:txBody>
      </p:sp>
      <p:sp>
        <p:nvSpPr>
          <p:cNvPr id="8" name="Google Shape;105;p1">
            <a:extLst>
              <a:ext uri="{FF2B5EF4-FFF2-40B4-BE49-F238E27FC236}">
                <a16:creationId xmlns:a16="http://schemas.microsoft.com/office/drawing/2014/main" id="{2FAA4FD0-F4AA-3C48-6F62-34B3885AE1A5}"/>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3" name="TextBox 2">
            <a:extLst>
              <a:ext uri="{FF2B5EF4-FFF2-40B4-BE49-F238E27FC236}">
                <a16:creationId xmlns:a16="http://schemas.microsoft.com/office/drawing/2014/main" id="{00A8BE72-839F-9CF6-CC36-E5E63A6F41F8}"/>
              </a:ext>
            </a:extLst>
          </p:cNvPr>
          <p:cNvSpPr txBox="1"/>
          <p:nvPr/>
        </p:nvSpPr>
        <p:spPr>
          <a:xfrm>
            <a:off x="342900" y="1578491"/>
            <a:ext cx="11176000" cy="4739759"/>
          </a:xfrm>
          <a:prstGeom prst="rect">
            <a:avLst/>
          </a:prstGeom>
          <a:noFill/>
        </p:spPr>
        <p:txBody>
          <a:bodyPr wrap="square" rtlCol="0">
            <a:spAutoFit/>
          </a:bodyPr>
          <a:lstStyle/>
          <a:p>
            <a:pPr algn="just">
              <a:buNone/>
            </a:pPr>
            <a:r>
              <a:rPr lang="en-US" sz="2800" dirty="0">
                <a:solidFill>
                  <a:schemeClr val="tx1">
                    <a:lumMod val="65000"/>
                    <a:lumOff val="35000"/>
                  </a:schemeClr>
                </a:solidFill>
                <a:latin typeface="Aptos ExtraBold" panose="020B0004020202020204" pitchFamily="34" charset="0"/>
              </a:rPr>
              <a:t>We built a machine learning model that uses historical sales data and time-based features to forecast future demand. </a:t>
            </a:r>
          </a:p>
          <a:p>
            <a:pPr algn="just">
              <a:buNone/>
            </a:pPr>
            <a:endParaRPr lang="en-US" dirty="0">
              <a:solidFill>
                <a:schemeClr val="tx1">
                  <a:lumMod val="65000"/>
                  <a:lumOff val="35000"/>
                </a:schemeClr>
              </a:solidFill>
              <a:latin typeface="Aptos ExtraBold" panose="020B0004020202020204" pitchFamily="34" charset="0"/>
            </a:endParaRPr>
          </a:p>
          <a:p>
            <a:pPr algn="just">
              <a:buNone/>
            </a:pPr>
            <a:r>
              <a:rPr lang="en-US" sz="2800" dirty="0">
                <a:solidFill>
                  <a:srgbClr val="0FAB7D"/>
                </a:solidFill>
                <a:latin typeface="Aptos ExtraBold" panose="020B0004020202020204" pitchFamily="34" charset="0"/>
              </a:rPr>
              <a:t>Key steps included:</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Segment analysis through EDA.</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Feature engineering (lags, promotions, seasonality).</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Model training with </a:t>
            </a:r>
            <a:r>
              <a:rPr lang="en-US" sz="2400" dirty="0" err="1">
                <a:solidFill>
                  <a:schemeClr val="tx1">
                    <a:lumMod val="65000"/>
                    <a:lumOff val="35000"/>
                  </a:schemeClr>
                </a:solidFill>
                <a:latin typeface="Aptos ExtraBold" panose="020B0004020202020204" pitchFamily="34" charset="0"/>
              </a:rPr>
              <a:t>XGBoost</a:t>
            </a:r>
            <a:r>
              <a:rPr lang="en-US" sz="2400" dirty="0">
                <a:solidFill>
                  <a:schemeClr val="tx1">
                    <a:lumMod val="65000"/>
                    <a:lumOff val="35000"/>
                  </a:schemeClr>
                </a:solidFill>
                <a:latin typeface="Aptos ExtraBold" panose="020B0004020202020204" pitchFamily="34" charset="0"/>
              </a:rPr>
              <a:t> for high accuracy.</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Deployment using Flask to serve forecasts via API.</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Forecast generation to guide inventory and marketing decisions.</a:t>
            </a:r>
          </a:p>
          <a:p>
            <a:pPr algn="just"/>
            <a:endParaRPr lang="en-US" sz="1200" dirty="0">
              <a:solidFill>
                <a:schemeClr val="tx1">
                  <a:lumMod val="65000"/>
                  <a:lumOff val="35000"/>
                </a:schemeClr>
              </a:solidFill>
              <a:latin typeface="Aptos ExtraBold" panose="020B0004020202020204" pitchFamily="34" charset="0"/>
            </a:endParaRPr>
          </a:p>
          <a:p>
            <a:pPr algn="just"/>
            <a:r>
              <a:rPr lang="en-US" sz="2800" dirty="0">
                <a:solidFill>
                  <a:schemeClr val="tx1">
                    <a:lumMod val="65000"/>
                    <a:lumOff val="35000"/>
                  </a:schemeClr>
                </a:solidFill>
                <a:latin typeface="Aptos ExtraBold" panose="020B0004020202020204" pitchFamily="34" charset="0"/>
              </a:rPr>
              <a:t>This solution enables accurate, accessible, and data-driven sales planning.</a:t>
            </a:r>
          </a:p>
          <a:p>
            <a:pPr algn="just"/>
            <a:endParaRPr lang="en-US" dirty="0"/>
          </a:p>
        </p:txBody>
      </p:sp>
      <p:sp>
        <p:nvSpPr>
          <p:cNvPr id="6" name="Google Shape;105;p1">
            <a:extLst>
              <a:ext uri="{FF2B5EF4-FFF2-40B4-BE49-F238E27FC236}">
                <a16:creationId xmlns:a16="http://schemas.microsoft.com/office/drawing/2014/main" id="{DED12042-7DC0-2512-4C2F-5F118A37A07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6</a:t>
            </a:r>
            <a:endParaRPr lang="ar-EG" b="1" dirty="0"/>
          </a:p>
        </p:txBody>
      </p:sp>
    </p:spTree>
    <p:extLst>
      <p:ext uri="{BB962C8B-B14F-4D97-AF65-F5344CB8AC3E}">
        <p14:creationId xmlns:p14="http://schemas.microsoft.com/office/powerpoint/2010/main" val="237821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CAC8F8-5224-3BBB-48A4-4F29BC4FC6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A160A2-FE09-5EFB-E87B-8670F8FE1AE0}"/>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7D68587B-A54B-5D31-3FBD-3AC8CC1666C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84A5446C-4701-DAAA-2FED-4053FEC96831}"/>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dirty="0"/>
          </a:p>
        </p:txBody>
      </p:sp>
      <p:pic>
        <p:nvPicPr>
          <p:cNvPr id="110" name="Google Shape;110;p1" title="download.png">
            <a:extLst>
              <a:ext uri="{FF2B5EF4-FFF2-40B4-BE49-F238E27FC236}">
                <a16:creationId xmlns:a16="http://schemas.microsoft.com/office/drawing/2014/main" id="{E70AE179-9763-BCBF-DB63-41EE4693D8C9}"/>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ADA1C5C-E5FB-7545-0E5D-E078250FDBD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576649C-7771-067F-2186-D05D64C8DA9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738F659B-A907-C9C6-38B0-A7249AC16F1C}"/>
              </a:ext>
            </a:extLst>
          </p:cNvPr>
          <p:cNvGraphicFramePr/>
          <p:nvPr>
            <p:extLst>
              <p:ext uri="{D42A27DB-BD31-4B8C-83A1-F6EECF244321}">
                <p14:modId xmlns:p14="http://schemas.microsoft.com/office/powerpoint/2010/main" val="2635237888"/>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FD9FD81F-4DE2-F498-BE34-95A376A2A5AB}"/>
              </a:ext>
            </a:extLst>
          </p:cNvPr>
          <p:cNvSpPr txBox="1"/>
          <p:nvPr/>
        </p:nvSpPr>
        <p:spPr>
          <a:xfrm>
            <a:off x="554558" y="1531476"/>
            <a:ext cx="7390369" cy="3046988"/>
          </a:xfrm>
          <a:prstGeom prst="rect">
            <a:avLst/>
          </a:prstGeom>
          <a:noFill/>
        </p:spPr>
        <p:txBody>
          <a:bodyPr wrap="square" rtlCol="0">
            <a:spAutoFit/>
          </a:bodyPr>
          <a:lstStyle/>
          <a:p>
            <a:r>
              <a:rPr lang="en-US" sz="1600" b="1" i="0" dirty="0">
                <a:solidFill>
                  <a:srgbClr val="0FAB7D"/>
                </a:solidFill>
                <a:effectLst/>
                <a:latin typeface="Aptos ExtraBold" panose="020B0004020202020204" pitchFamily="34" charset="0"/>
              </a:rPr>
              <a:t>1.Problem Understanding:</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Defined business objective: Improve sales forecasting accuracy to optimize inventory and planning.</a:t>
            </a:r>
            <a:endParaRPr lang="en-US" sz="1600" b="1" i="0" dirty="0">
              <a:solidFill>
                <a:schemeClr val="tx1">
                  <a:lumMod val="65000"/>
                  <a:lumOff val="35000"/>
                </a:schemeClr>
              </a:solidFill>
              <a:effectLst/>
              <a:latin typeface="Aptos ExtraBold" panose="020B0004020202020204" pitchFamily="34" charset="0"/>
            </a:endParaRPr>
          </a:p>
          <a:p>
            <a:r>
              <a:rPr lang="en-US" sz="1600" b="1" i="0" dirty="0">
                <a:solidFill>
                  <a:srgbClr val="0FAB7D"/>
                </a:solidFill>
                <a:effectLst/>
                <a:latin typeface="Aptos ExtraBold" panose="020B0004020202020204" pitchFamily="34" charset="0"/>
              </a:rPr>
              <a:t>2. </a:t>
            </a:r>
            <a:r>
              <a:rPr lang="en-US" sz="1600" b="1" dirty="0">
                <a:solidFill>
                  <a:srgbClr val="0FAB7D"/>
                </a:solidFill>
                <a:latin typeface="Aptos ExtraBold" panose="020B0004020202020204" pitchFamily="34" charset="0"/>
              </a:rPr>
              <a:t>Data Collection:</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Collected historical sales data, customer segments, promotional events, holidays, and weather factors.</a:t>
            </a:r>
            <a:endParaRPr lang="en-US" sz="1600" b="1" dirty="0">
              <a:solidFill>
                <a:schemeClr val="tx1">
                  <a:lumMod val="65000"/>
                  <a:lumOff val="35000"/>
                </a:schemeClr>
              </a:solidFill>
              <a:latin typeface="Aptos ExtraBold" panose="020B0004020202020204" pitchFamily="34" charset="0"/>
            </a:endParaRPr>
          </a:p>
          <a:p>
            <a:r>
              <a:rPr lang="en-US" sz="1600" b="1" i="0" dirty="0">
                <a:solidFill>
                  <a:srgbClr val="0FAB7D"/>
                </a:solidFill>
                <a:effectLst/>
                <a:latin typeface="Aptos ExtraBold" panose="020B0004020202020204" pitchFamily="34" charset="0"/>
              </a:rPr>
              <a:t>3. </a:t>
            </a:r>
            <a:r>
              <a:rPr lang="en-US" sz="1600" b="1" dirty="0">
                <a:solidFill>
                  <a:srgbClr val="0FAB7D"/>
                </a:solidFill>
                <a:latin typeface="Aptos ExtraBold" panose="020B0004020202020204" pitchFamily="34" charset="0"/>
              </a:rPr>
              <a:t>Data Preprocessing:</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Handled missing values, outliers, and duplicates.</a:t>
            </a:r>
            <a:endParaRPr lang="en-US" sz="1600" b="1" dirty="0">
              <a:solidFill>
                <a:schemeClr val="tx1">
                  <a:lumMod val="65000"/>
                  <a:lumOff val="35000"/>
                </a:schemeClr>
              </a:solidFill>
              <a:latin typeface="Aptos ExtraBold" panose="020B0004020202020204" pitchFamily="34" charset="0"/>
            </a:endParaRP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Performed feature engineering</a:t>
            </a:r>
            <a:endParaRPr lang="en-US" sz="1600" b="1" dirty="0">
              <a:solidFill>
                <a:schemeClr val="tx1">
                  <a:lumMod val="65000"/>
                  <a:lumOff val="35000"/>
                </a:schemeClr>
              </a:solidFill>
              <a:latin typeface="Aptos ExtraBold" panose="020B0004020202020204" pitchFamily="34" charset="0"/>
            </a:endParaRPr>
          </a:p>
          <a:p>
            <a:r>
              <a:rPr lang="en-US" sz="1600" b="1" i="0" dirty="0">
                <a:solidFill>
                  <a:srgbClr val="0FAB7D"/>
                </a:solidFill>
                <a:effectLst/>
                <a:latin typeface="Aptos ExtraBold" panose="020B0004020202020204" pitchFamily="34" charset="0"/>
              </a:rPr>
              <a:t>4. </a:t>
            </a:r>
            <a:r>
              <a:rPr lang="en-US" sz="1600" b="1" dirty="0">
                <a:solidFill>
                  <a:srgbClr val="0FAB7D"/>
                </a:solidFill>
                <a:latin typeface="Aptos ExtraBold" panose="020B0004020202020204" pitchFamily="34" charset="0"/>
              </a:rPr>
              <a:t>Exploratory Data Analysis (EDA):</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Identified trends, seasonality, and high-performing segments</a:t>
            </a:r>
            <a:endParaRPr lang="en-US" sz="1600" b="1" dirty="0">
              <a:solidFill>
                <a:schemeClr val="tx1">
                  <a:lumMod val="65000"/>
                  <a:lumOff val="35000"/>
                </a:schemeClr>
              </a:solidFill>
              <a:latin typeface="Aptos ExtraBold" panose="020B0004020202020204" pitchFamily="34" charset="0"/>
            </a:endParaRP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Visualized segment-wise sales and demand behavior.</a:t>
            </a:r>
            <a:endParaRPr lang="en-US" sz="1600" b="1" dirty="0">
              <a:solidFill>
                <a:schemeClr val="tx1">
                  <a:lumMod val="65000"/>
                  <a:lumOff val="35000"/>
                </a:schemeClr>
              </a:solidFill>
              <a:latin typeface="Aptos ExtraBold" panose="020B0004020202020204" pitchFamily="34" charset="0"/>
            </a:endParaRPr>
          </a:p>
        </p:txBody>
      </p:sp>
      <p:sp>
        <p:nvSpPr>
          <p:cNvPr id="7" name="TextBox 6">
            <a:extLst>
              <a:ext uri="{FF2B5EF4-FFF2-40B4-BE49-F238E27FC236}">
                <a16:creationId xmlns:a16="http://schemas.microsoft.com/office/drawing/2014/main" id="{7C6E65F4-00D3-3BC1-8BF3-2E4C0111D6BD}"/>
              </a:ext>
            </a:extLst>
          </p:cNvPr>
          <p:cNvSpPr txBox="1"/>
          <p:nvPr/>
        </p:nvSpPr>
        <p:spPr>
          <a:xfrm>
            <a:off x="554558" y="4555019"/>
            <a:ext cx="7390369" cy="1569660"/>
          </a:xfrm>
          <a:prstGeom prst="rect">
            <a:avLst/>
          </a:prstGeom>
          <a:noFill/>
        </p:spPr>
        <p:txBody>
          <a:bodyPr wrap="square" rtlCol="0">
            <a:spAutoFit/>
          </a:bodyPr>
          <a:lstStyle/>
          <a:p>
            <a:r>
              <a:rPr lang="en-US" sz="1600" b="1" i="0" dirty="0">
                <a:solidFill>
                  <a:srgbClr val="0FAB7D"/>
                </a:solidFill>
                <a:effectLst/>
                <a:latin typeface="Aptos ExtraBold" panose="020B0004020202020204" pitchFamily="34" charset="0"/>
              </a:rPr>
              <a:t>5.</a:t>
            </a:r>
            <a:r>
              <a:rPr lang="en-US" sz="1600" dirty="0">
                <a:solidFill>
                  <a:srgbClr val="0FAB7D"/>
                </a:solidFill>
                <a:latin typeface="Aptos ExtraBold" panose="020B0004020202020204" pitchFamily="34" charset="0"/>
              </a:rPr>
              <a:t> </a:t>
            </a:r>
            <a:r>
              <a:rPr lang="en-US" sz="1600" b="1" dirty="0">
                <a:solidFill>
                  <a:srgbClr val="0FAB7D"/>
                </a:solidFill>
                <a:latin typeface="Aptos ExtraBold" panose="020B0004020202020204" pitchFamily="34" charset="0"/>
              </a:rPr>
              <a:t>Model Development</a:t>
            </a:r>
            <a:r>
              <a:rPr lang="en-US" sz="1600" b="1" i="0" dirty="0">
                <a:solidFill>
                  <a:srgbClr val="0FAB7D"/>
                </a:solidFill>
                <a:effectLst/>
                <a:latin typeface="Aptos ExtraBold" panose="020B0004020202020204" pitchFamily="34" charset="0"/>
              </a:rPr>
              <a:t>:</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Tested multiple models.</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Selected best-performing model based on RMSE and accuracy.</a:t>
            </a:r>
            <a:endParaRPr lang="en-US" sz="1600" b="1" i="0" dirty="0">
              <a:solidFill>
                <a:schemeClr val="tx1">
                  <a:lumMod val="65000"/>
                  <a:lumOff val="35000"/>
                </a:schemeClr>
              </a:solidFill>
              <a:effectLst/>
              <a:latin typeface="Aptos ExtraBold" panose="020B0004020202020204" pitchFamily="34" charset="0"/>
            </a:endParaRPr>
          </a:p>
          <a:p>
            <a:r>
              <a:rPr lang="en-US" sz="1600" b="1" i="0" dirty="0">
                <a:solidFill>
                  <a:srgbClr val="0FAB7D"/>
                </a:solidFill>
                <a:effectLst/>
                <a:latin typeface="Aptos ExtraBold" panose="020B0004020202020204" pitchFamily="34" charset="0"/>
              </a:rPr>
              <a:t>6. </a:t>
            </a:r>
            <a:r>
              <a:rPr lang="en-US" sz="1600" b="1" dirty="0">
                <a:solidFill>
                  <a:srgbClr val="0FAB7D"/>
                </a:solidFill>
                <a:latin typeface="Aptos ExtraBold" panose="020B0004020202020204" pitchFamily="34" charset="0"/>
              </a:rPr>
              <a:t>Model Deployment:</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Deployed model using Flask and IBM Cloud to generate real-time predictions.</a:t>
            </a:r>
            <a:endParaRPr lang="en-US" sz="1600" b="1" dirty="0">
              <a:solidFill>
                <a:schemeClr val="tx1">
                  <a:lumMod val="65000"/>
                  <a:lumOff val="35000"/>
                </a:schemeClr>
              </a:solidFill>
              <a:latin typeface="Aptos ExtraBold" panose="020B0004020202020204" pitchFamily="34" charset="0"/>
            </a:endParaRPr>
          </a:p>
        </p:txBody>
      </p:sp>
      <p:sp>
        <p:nvSpPr>
          <p:cNvPr id="9" name="Google Shape;105;p1">
            <a:extLst>
              <a:ext uri="{FF2B5EF4-FFF2-40B4-BE49-F238E27FC236}">
                <a16:creationId xmlns:a16="http://schemas.microsoft.com/office/drawing/2014/main" id="{19AA6E5B-8A10-60F6-1557-818EF49865D4}"/>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7</a:t>
            </a:r>
            <a:endParaRPr lang="ar-EG" b="1" dirty="0"/>
          </a:p>
        </p:txBody>
      </p:sp>
    </p:spTree>
    <p:extLst>
      <p:ext uri="{BB962C8B-B14F-4D97-AF65-F5344CB8AC3E}">
        <p14:creationId xmlns:p14="http://schemas.microsoft.com/office/powerpoint/2010/main" val="1907825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345ED48-DAA3-15EE-89D3-F48FD489D0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290822-E269-3618-FA82-02CB5C8B664B}"/>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B5E9FE2A-E19D-12AC-E103-8FDA55599CD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BEF122B-DF72-99B8-FAC9-F1AECF2F0ABA}"/>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dirty="0"/>
          </a:p>
        </p:txBody>
      </p:sp>
      <p:pic>
        <p:nvPicPr>
          <p:cNvPr id="110" name="Google Shape;110;p1" title="download.png">
            <a:extLst>
              <a:ext uri="{FF2B5EF4-FFF2-40B4-BE49-F238E27FC236}">
                <a16:creationId xmlns:a16="http://schemas.microsoft.com/office/drawing/2014/main" id="{4CF3216D-CD47-9365-2653-3B8CC1750D2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D0B6EC3-C3BB-6981-4876-46D691AA46B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EA91552-7AC1-E7BD-2E70-8365FEA25AF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9DE4414A-BE0C-107B-D356-2BD0DB868261}"/>
              </a:ext>
            </a:extLst>
          </p:cNvPr>
          <p:cNvGraphicFramePr/>
          <p:nvPr>
            <p:extLst>
              <p:ext uri="{D42A27DB-BD31-4B8C-83A1-F6EECF244321}">
                <p14:modId xmlns:p14="http://schemas.microsoft.com/office/powerpoint/2010/main" val="3301965931"/>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036BD86D-0918-2907-F36C-7B87AB793BF2}"/>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“Problem Understanding”</a:t>
            </a:r>
          </a:p>
        </p:txBody>
      </p:sp>
      <p:sp>
        <p:nvSpPr>
          <p:cNvPr id="10" name="TextBox 9">
            <a:extLst>
              <a:ext uri="{FF2B5EF4-FFF2-40B4-BE49-F238E27FC236}">
                <a16:creationId xmlns:a16="http://schemas.microsoft.com/office/drawing/2014/main" id="{0B7E2ECF-68F6-DE1B-2B5B-F1EFBF16EA3A}"/>
              </a:ext>
            </a:extLst>
          </p:cNvPr>
          <p:cNvSpPr txBox="1"/>
          <p:nvPr/>
        </p:nvSpPr>
        <p:spPr>
          <a:xfrm>
            <a:off x="293299" y="2020927"/>
            <a:ext cx="8160587" cy="3785652"/>
          </a:xfrm>
          <a:prstGeom prst="rect">
            <a:avLst/>
          </a:prstGeom>
          <a:noFill/>
        </p:spPr>
        <p:txBody>
          <a:bodyPr wrap="square">
            <a:spAutoFit/>
          </a:bodyPr>
          <a:lstStyle/>
          <a:p>
            <a:pPr algn="just">
              <a:buNone/>
            </a:pPr>
            <a:r>
              <a:rPr lang="en-US" sz="2400" b="1" dirty="0">
                <a:solidFill>
                  <a:srgbClr val="1869A6"/>
                </a:solidFill>
                <a:latin typeface="Aptos ExtraBold" panose="020B0004020202020204" pitchFamily="34" charset="0"/>
              </a:rPr>
              <a:t>Business Objective:</a:t>
            </a:r>
          </a:p>
          <a:p>
            <a:pPr algn="just">
              <a:buNone/>
            </a:pPr>
            <a:r>
              <a:rPr lang="en-US" sz="2400" dirty="0">
                <a:solidFill>
                  <a:schemeClr val="tx1">
                    <a:lumMod val="65000"/>
                    <a:lumOff val="35000"/>
                  </a:schemeClr>
                </a:solidFill>
                <a:latin typeface="Aptos ExtraBold" panose="020B0004020202020204" pitchFamily="34" charset="0"/>
              </a:rPr>
              <a:t>To enhance the accuracy of sales forecasting in order to optimize inventory levels, reduce waste, and align business operations with real demand.</a:t>
            </a:r>
          </a:p>
          <a:p>
            <a:pPr algn="just"/>
            <a:endParaRPr lang="en-US" sz="2400" b="1" dirty="0">
              <a:solidFill>
                <a:srgbClr val="1869A6"/>
              </a:solidFill>
              <a:latin typeface="Aptos ExtraBold" panose="020B0004020202020204" pitchFamily="34" charset="0"/>
            </a:endParaRPr>
          </a:p>
          <a:p>
            <a:pPr algn="just"/>
            <a:r>
              <a:rPr lang="en-US" sz="2400" b="1" dirty="0">
                <a:solidFill>
                  <a:srgbClr val="1869A6"/>
                </a:solidFill>
                <a:latin typeface="Aptos ExtraBold" panose="020B0004020202020204" pitchFamily="34" charset="0"/>
              </a:rPr>
              <a:t>Challenge:</a:t>
            </a:r>
            <a:endParaRPr lang="en-US" sz="2400" b="1" dirty="0">
              <a:solidFill>
                <a:schemeClr val="tx1">
                  <a:lumMod val="65000"/>
                  <a:lumOff val="35000"/>
                </a:schemeClr>
              </a:solidFill>
              <a:latin typeface="Aptos ExtraBold" panose="020B0004020202020204" pitchFamily="34" charset="0"/>
            </a:endParaRPr>
          </a:p>
          <a:p>
            <a:pPr algn="just"/>
            <a:r>
              <a:rPr lang="en-US" sz="2400" dirty="0">
                <a:solidFill>
                  <a:schemeClr val="tx1">
                    <a:lumMod val="65000"/>
                    <a:lumOff val="35000"/>
                  </a:schemeClr>
                </a:solidFill>
                <a:latin typeface="Aptos ExtraBold" panose="020B0004020202020204" pitchFamily="34" charset="0"/>
              </a:rPr>
              <a:t>Traditional forecasting methods fail to account for time-based patterns and external influences like promotions or customer segment behavior, leading to overstocking or stockouts.</a:t>
            </a:r>
          </a:p>
        </p:txBody>
      </p:sp>
      <p:sp>
        <p:nvSpPr>
          <p:cNvPr id="11" name="Google Shape;105;p1">
            <a:extLst>
              <a:ext uri="{FF2B5EF4-FFF2-40B4-BE49-F238E27FC236}">
                <a16:creationId xmlns:a16="http://schemas.microsoft.com/office/drawing/2014/main" id="{1F51F3C3-6780-B1FD-3142-F94AC9F262A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8</a:t>
            </a:r>
            <a:endParaRPr lang="ar-EG" b="1" dirty="0"/>
          </a:p>
        </p:txBody>
      </p:sp>
    </p:spTree>
    <p:extLst>
      <p:ext uri="{BB962C8B-B14F-4D97-AF65-F5344CB8AC3E}">
        <p14:creationId xmlns:p14="http://schemas.microsoft.com/office/powerpoint/2010/main" val="1270311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F821378-CCFC-1A41-4A9D-DC22C10A6D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0599A9-400E-4DC4-5DA5-80ACACF21134}"/>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D21847C-1CF9-A470-5BAF-0685A6AB9A0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319730B0-34CB-A38A-A38B-D09FA271901D}"/>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dirty="0"/>
          </a:p>
        </p:txBody>
      </p:sp>
      <p:pic>
        <p:nvPicPr>
          <p:cNvPr id="110" name="Google Shape;110;p1" title="download.png">
            <a:extLst>
              <a:ext uri="{FF2B5EF4-FFF2-40B4-BE49-F238E27FC236}">
                <a16:creationId xmlns:a16="http://schemas.microsoft.com/office/drawing/2014/main" id="{76B27CE3-B104-CC29-CF8C-69025F6AFC13}"/>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1A12E40-B152-C38F-1B69-AEFCA4AA0F7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F01BBCCD-F40D-51CE-8A0D-AB7CF65072EF}"/>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DEB091E6-D1D2-14D4-3912-BF7841BA37B5}"/>
              </a:ext>
            </a:extLst>
          </p:cNvPr>
          <p:cNvGraphicFramePr/>
          <p:nvPr>
            <p:extLst>
              <p:ext uri="{D42A27DB-BD31-4B8C-83A1-F6EECF244321}">
                <p14:modId xmlns:p14="http://schemas.microsoft.com/office/powerpoint/2010/main" val="902128664"/>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C28C2B22-1E3B-3E3D-F86F-5F92A862C96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Collection”</a:t>
            </a:r>
          </a:p>
        </p:txBody>
      </p:sp>
      <p:sp>
        <p:nvSpPr>
          <p:cNvPr id="6" name="Rectangle 1">
            <a:extLst>
              <a:ext uri="{FF2B5EF4-FFF2-40B4-BE49-F238E27FC236}">
                <a16:creationId xmlns:a16="http://schemas.microsoft.com/office/drawing/2014/main" id="{595341AB-E7E3-CCD4-4B65-196FB9979654}"/>
              </a:ext>
            </a:extLst>
          </p:cNvPr>
          <p:cNvSpPr>
            <a:spLocks noChangeArrowheads="1"/>
          </p:cNvSpPr>
          <p:nvPr/>
        </p:nvSpPr>
        <p:spPr bwMode="auto">
          <a:xfrm>
            <a:off x="439946" y="2045931"/>
            <a:ext cx="7867291"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869A6"/>
                </a:solidFill>
                <a:effectLst/>
                <a:latin typeface="Aptos ExtraBold" panose="020B0004020202020204" pitchFamily="34" charset="0"/>
              </a:rPr>
              <a:t>Data Source:</a:t>
            </a:r>
            <a:endParaRPr kumimoji="0" lang="en-US" altLang="en-US" sz="2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Historical sales data from Kaggle (CSV dataset).</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Included features: </a:t>
            </a:r>
            <a:r>
              <a:rPr lang="en-US" sz="1600" dirty="0">
                <a:solidFill>
                  <a:srgbClr val="0FAB7D"/>
                </a:solidFill>
                <a:latin typeface="Aptos ExtraBold" panose="020B0004020202020204" pitchFamily="34" charset="0"/>
              </a:rPr>
              <a:t>Row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Order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Order Date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Ship Date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Ship Mode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Customer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Customer Name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Segment, Country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City, State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Postal Code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Region</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Product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Category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Sub-Category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Product Name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Sales</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Quantity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Discount</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Profit</a:t>
            </a:r>
            <a:r>
              <a:rPr lang="en-US" sz="1600" dirty="0">
                <a:solidFill>
                  <a:schemeClr val="tx1">
                    <a:lumMod val="65000"/>
                    <a:lumOff val="35000"/>
                  </a:schemeClr>
                </a:solidFill>
                <a:latin typeface="Aptos ExtraBold" panose="020B0004020202020204" pitchFamily="34" charset="0"/>
              </a:rPr>
              <a:t>.</a:t>
            </a:r>
            <a:endParaRPr kumimoji="0" lang="en-US" altLang="en-US" sz="16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869A6"/>
                </a:solidFill>
                <a:effectLst/>
                <a:latin typeface="Aptos ExtraBold" panose="020B0004020202020204" pitchFamily="34" charset="0"/>
              </a:rPr>
              <a:t>Data Scope:</a:t>
            </a:r>
            <a:endParaRPr kumimoji="0" lang="en-US" altLang="en-US" sz="2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Captures transactions across multiple customer segments and product categories.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Date range spans multiple years, allowing analysis of trends and seasonality.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ptos ExtraBold" panose="020B0004020202020204" pitchFamily="34" charset="0"/>
            </a:endParaRPr>
          </a:p>
        </p:txBody>
      </p:sp>
      <p:sp>
        <p:nvSpPr>
          <p:cNvPr id="7" name="Google Shape;105;p1">
            <a:extLst>
              <a:ext uri="{FF2B5EF4-FFF2-40B4-BE49-F238E27FC236}">
                <a16:creationId xmlns:a16="http://schemas.microsoft.com/office/drawing/2014/main" id="{00020EF1-92E2-03B5-5643-AF2CAFDA3744}"/>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9</a:t>
            </a:r>
            <a:endParaRPr lang="ar-EG" b="1" dirty="0"/>
          </a:p>
        </p:txBody>
      </p:sp>
    </p:spTree>
    <p:extLst>
      <p:ext uri="{BB962C8B-B14F-4D97-AF65-F5344CB8AC3E}">
        <p14:creationId xmlns:p14="http://schemas.microsoft.com/office/powerpoint/2010/main" val="2397935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662B85-B74A-01C8-342E-574077F550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06EB47-FD98-D814-24E6-2C203DF8295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21DA7581-ADDB-EED4-0EFC-851882C6A94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D134B20-47F6-9052-BF1C-9449F100F9D9}"/>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dirty="0"/>
          </a:p>
        </p:txBody>
      </p:sp>
      <p:pic>
        <p:nvPicPr>
          <p:cNvPr id="110" name="Google Shape;110;p1" title="download.png">
            <a:extLst>
              <a:ext uri="{FF2B5EF4-FFF2-40B4-BE49-F238E27FC236}">
                <a16:creationId xmlns:a16="http://schemas.microsoft.com/office/drawing/2014/main" id="{94B8A278-7696-1263-218B-E3C62B5DD09D}"/>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A8AB6C17-6B86-462C-F428-913C45EFE33F}"/>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6942B201-AF91-B424-F051-8C7ABBD054A2}"/>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25D75BCE-FEA5-0C22-E12A-7055C350C605}"/>
              </a:ext>
            </a:extLst>
          </p:cNvPr>
          <p:cNvGraphicFramePr/>
          <p:nvPr>
            <p:extLst>
              <p:ext uri="{D42A27DB-BD31-4B8C-83A1-F6EECF244321}">
                <p14:modId xmlns:p14="http://schemas.microsoft.com/office/powerpoint/2010/main" val="377845627"/>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5DCEAC86-B7E3-F44C-40F5-4578F0689313}"/>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F2D073C4-10FF-7317-7579-C5A43A6F12C4}"/>
              </a:ext>
            </a:extLst>
          </p:cNvPr>
          <p:cNvSpPr>
            <a:spLocks noChangeArrowheads="1"/>
          </p:cNvSpPr>
          <p:nvPr/>
        </p:nvSpPr>
        <p:spPr bwMode="auto">
          <a:xfrm>
            <a:off x="353556" y="2083430"/>
            <a:ext cx="8281359"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1: </a:t>
            </a:r>
            <a:r>
              <a:rPr kumimoji="0" lang="en-US" altLang="en-US" sz="2400" b="1" i="0" u="none" strike="noStrike" cap="none" normalizeH="0" baseline="0" dirty="0">
                <a:ln>
                  <a:noFill/>
                </a:ln>
                <a:solidFill>
                  <a:srgbClr val="1869A6"/>
                </a:solidFill>
                <a:effectLst/>
                <a:latin typeface="Aptos ExtraBold" panose="020B0004020202020204" pitchFamily="34" charset="0"/>
              </a:rPr>
              <a:t>Data Cleaning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Date Conversion: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Converted </a:t>
            </a:r>
            <a:r>
              <a:rPr kumimoji="0" lang="en-US" altLang="en-US" sz="2000" b="0" i="1" u="sng" strike="noStrike" cap="none" normalizeH="0" baseline="0" dirty="0">
                <a:ln>
                  <a:noFill/>
                </a:ln>
                <a:solidFill>
                  <a:schemeClr val="tx1">
                    <a:lumMod val="65000"/>
                    <a:lumOff val="35000"/>
                  </a:schemeClr>
                </a:solidFill>
                <a:effectLst/>
                <a:latin typeface="Aptos ExtraBold" panose="020B0004020202020204" pitchFamily="34" charset="0"/>
              </a:rPr>
              <a:t>Order Date</a:t>
            </a:r>
            <a:r>
              <a:rPr kumimoji="0" lang="en-US" altLang="en-US" sz="2000" b="0"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and </a:t>
            </a:r>
            <a:r>
              <a:rPr kumimoji="0" lang="en-US" altLang="en-US" sz="2000" b="0" i="1" u="sng" strike="noStrike" cap="none" normalizeH="0" baseline="0" dirty="0">
                <a:ln>
                  <a:noFill/>
                </a:ln>
                <a:solidFill>
                  <a:schemeClr val="tx1">
                    <a:lumMod val="65000"/>
                    <a:lumOff val="35000"/>
                  </a:schemeClr>
                </a:solidFill>
                <a:effectLst/>
                <a:latin typeface="Aptos ExtraBold" panose="020B0004020202020204" pitchFamily="34" charset="0"/>
              </a:rPr>
              <a:t>Ship Date</a:t>
            </a:r>
            <a:r>
              <a:rPr kumimoji="0" lang="en-US" altLang="en-US" sz="2000" b="0"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to datetime format for time-based operations.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u="none" strike="noStrike" cap="none" normalizeH="0" baseline="0" dirty="0">
                <a:ln>
                  <a:noFill/>
                </a:ln>
                <a:solidFill>
                  <a:schemeClr val="tx1"/>
                </a:solidFill>
                <a:effectLst/>
                <a:latin typeface="Aptos ExtraBold" panose="020B0004020202020204" pitchFamily="34" charset="0"/>
              </a:rPr>
              <a:t>Removed Unnecessary Columns: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Dropped irrelevant or duplicate columns not useful for modeling (e.g., IDs).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u="none" strike="noStrike" cap="none" normalizeH="0" baseline="0" dirty="0">
                <a:ln>
                  <a:noFill/>
                </a:ln>
                <a:solidFill>
                  <a:schemeClr val="tx1"/>
                </a:solidFill>
                <a:effectLst/>
                <a:latin typeface="Aptos ExtraBold" panose="020B0004020202020204" pitchFamily="34" charset="0"/>
              </a:rPr>
              <a:t>Handled Missing Values:</a:t>
            </a:r>
            <a:r>
              <a:rPr kumimoji="0" lang="en-US" altLang="en-US" sz="2000" b="0" u="none"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Checked for and confirmed the absence of missing values in relevant columns.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Aptos ExtraBold" panose="020B0004020202020204" pitchFamily="34" charset="0"/>
              </a:rPr>
              <a:t>Removed Duplicates &amp; Outliers:</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 Ensured data uniqueness and integrity by removing any duplicated records or outliers.</a:t>
            </a: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9" name="Google Shape;105;p1">
            <a:extLst>
              <a:ext uri="{FF2B5EF4-FFF2-40B4-BE49-F238E27FC236}">
                <a16:creationId xmlns:a16="http://schemas.microsoft.com/office/drawing/2014/main" id="{4770E942-4F63-412A-D1C2-E7657619018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10</a:t>
            </a:r>
            <a:endParaRPr lang="ar-EG" b="1" dirty="0"/>
          </a:p>
        </p:txBody>
      </p:sp>
    </p:spTree>
    <p:extLst>
      <p:ext uri="{BB962C8B-B14F-4D97-AF65-F5344CB8AC3E}">
        <p14:creationId xmlns:p14="http://schemas.microsoft.com/office/powerpoint/2010/main" val="383994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746CFD-CF00-8EDE-936B-6F7BBB9938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55A11B-04D8-20F3-DF54-D414916B592A}"/>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82DDA17-EC32-F025-B197-55F556D0BB8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14DD3BF-DF41-AD25-7697-7D6A48735F9D}"/>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dirty="0"/>
          </a:p>
        </p:txBody>
      </p:sp>
      <p:pic>
        <p:nvPicPr>
          <p:cNvPr id="110" name="Google Shape;110;p1" title="download.png">
            <a:extLst>
              <a:ext uri="{FF2B5EF4-FFF2-40B4-BE49-F238E27FC236}">
                <a16:creationId xmlns:a16="http://schemas.microsoft.com/office/drawing/2014/main" id="{CDE9246A-9040-355B-7C15-8EC04391DDE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F93F5540-AD5E-2C22-5952-ADCC8920DA7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886F11C-9A41-8B2C-7ABA-2D5B6A8D6FD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82C32F8A-E453-21B9-26FF-40926FBCC187}"/>
              </a:ext>
            </a:extLst>
          </p:cNvPr>
          <p:cNvGraphicFramePr/>
          <p:nvPr>
            <p:extLst>
              <p:ext uri="{D42A27DB-BD31-4B8C-83A1-F6EECF244321}">
                <p14:modId xmlns:p14="http://schemas.microsoft.com/office/powerpoint/2010/main" val="3356119836"/>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0B336029-66E9-8919-962D-CF63975E1A4B}"/>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6E9B1B5B-DFDB-BF0E-6E79-93B05245C9D3}"/>
              </a:ext>
            </a:extLst>
          </p:cNvPr>
          <p:cNvSpPr>
            <a:spLocks noChangeArrowheads="1"/>
          </p:cNvSpPr>
          <p:nvPr/>
        </p:nvSpPr>
        <p:spPr bwMode="auto">
          <a:xfrm>
            <a:off x="353556" y="2104869"/>
            <a:ext cx="8281359"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2: </a:t>
            </a:r>
            <a:r>
              <a:rPr kumimoji="0" lang="en-US" altLang="en-US" sz="2400" b="1" i="0" u="none" strike="noStrike" cap="none" normalizeH="0" baseline="0" dirty="0">
                <a:ln>
                  <a:noFill/>
                </a:ln>
                <a:solidFill>
                  <a:srgbClr val="1869A6"/>
                </a:solidFill>
                <a:effectLst/>
                <a:latin typeface="Aptos ExtraBold" panose="020B0004020202020204" pitchFamily="34" charset="0"/>
              </a:rPr>
              <a:t>Feature Engineering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Time-Based Features: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Extracted Year, Month, Day, and Weekday from Order Date.</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Sales Aggregation: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Grouped sales data monthly by Segment to generate a time-series format.</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Lag Features: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Created lag-based features (e.g., previous month’s sales) to capture momentum.</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B370CDF3-7D84-7AD2-C664-4D85CFD3E3A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11</a:t>
            </a:r>
            <a:endParaRPr lang="ar-EG" b="1" dirty="0"/>
          </a:p>
        </p:txBody>
      </p:sp>
    </p:spTree>
    <p:extLst>
      <p:ext uri="{BB962C8B-B14F-4D97-AF65-F5344CB8AC3E}">
        <p14:creationId xmlns:p14="http://schemas.microsoft.com/office/powerpoint/2010/main" val="912802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36D0ECC-7B41-4CB3-7772-F6B3774BCF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A39308-E4D9-C5F1-DB6C-6078C8198843}"/>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4CB5F283-FE60-CF35-17B0-A4117929952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A251133-969E-3F28-70AB-AC93DFD54C3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dirty="0"/>
          </a:p>
        </p:txBody>
      </p:sp>
      <p:pic>
        <p:nvPicPr>
          <p:cNvPr id="110" name="Google Shape;110;p1" title="download.png">
            <a:extLst>
              <a:ext uri="{FF2B5EF4-FFF2-40B4-BE49-F238E27FC236}">
                <a16:creationId xmlns:a16="http://schemas.microsoft.com/office/drawing/2014/main" id="{EC6C05A1-424D-897A-E0B6-FEDFF562A5A3}"/>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E74E335-D004-0802-C033-A3EC46D878DD}"/>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9784CE62-2030-0CC0-935B-B880DA530E1E}"/>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BAA9B40B-3D8A-BFF2-87CF-1A5D084A4D8A}"/>
              </a:ext>
            </a:extLst>
          </p:cNvPr>
          <p:cNvGraphicFramePr/>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0E8B8E5D-BFF8-1244-05A1-3874ECA54668}"/>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53D22B88-F81A-5B2C-1731-101AF0BE8C7B}"/>
              </a:ext>
            </a:extLst>
          </p:cNvPr>
          <p:cNvSpPr>
            <a:spLocks noChangeArrowheads="1"/>
          </p:cNvSpPr>
          <p:nvPr/>
        </p:nvSpPr>
        <p:spPr bwMode="auto">
          <a:xfrm>
            <a:off x="317021" y="2099121"/>
            <a:ext cx="8281359"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3: </a:t>
            </a:r>
            <a:r>
              <a:rPr kumimoji="0" lang="en-US" altLang="en-US" sz="2400" b="1" i="0" u="none" strike="noStrike" cap="none" normalizeH="0" baseline="0" dirty="0">
                <a:ln>
                  <a:noFill/>
                </a:ln>
                <a:solidFill>
                  <a:srgbClr val="1869A6"/>
                </a:solidFill>
                <a:effectLst/>
                <a:latin typeface="Aptos ExtraBold" panose="020B0004020202020204" pitchFamily="34" charset="0"/>
              </a:rPr>
              <a:t>Encoding &amp; Transformation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Categorical Encoding: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Encoded segment and categorical columns where necessary.</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Data Formatting: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Reformatted the grouped data into a structured time series </a:t>
            </a:r>
            <a:r>
              <a:rPr kumimoji="0" lang="en-US" altLang="en-US" sz="2000" u="none" strike="noStrike" cap="none" normalizeH="0" baseline="0" dirty="0" err="1">
                <a:ln>
                  <a:noFill/>
                </a:ln>
                <a:solidFill>
                  <a:schemeClr val="tx1">
                    <a:lumMod val="65000"/>
                    <a:lumOff val="35000"/>
                  </a:schemeClr>
                </a:solidFill>
                <a:effectLst/>
                <a:latin typeface="Aptos ExtraBold" panose="020B0004020202020204" pitchFamily="34" charset="0"/>
              </a:rPr>
              <a:t>dataframe</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 for modeling.</a:t>
            </a: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CA3E728B-E6AB-A59B-92BE-8BE3F44B9DD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12</a:t>
            </a:r>
            <a:endParaRPr lang="ar-EG" b="1" dirty="0"/>
          </a:p>
        </p:txBody>
      </p:sp>
    </p:spTree>
    <p:extLst>
      <p:ext uri="{BB962C8B-B14F-4D97-AF65-F5344CB8AC3E}">
        <p14:creationId xmlns:p14="http://schemas.microsoft.com/office/powerpoint/2010/main" val="3316454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3B2F7AF-CF27-8D47-1E68-1F225D5B4A56}"/>
            </a:ext>
          </a:extLst>
        </p:cNvPr>
        <p:cNvGrpSpPr/>
        <p:nvPr/>
      </p:nvGrpSpPr>
      <p:grpSpPr>
        <a:xfrm>
          <a:off x="0" y="0"/>
          <a:ext cx="0" cy="0"/>
          <a:chOff x="0" y="0"/>
          <a:chExt cx="0" cy="0"/>
        </a:xfrm>
      </p:grpSpPr>
      <p:pic>
        <p:nvPicPr>
          <p:cNvPr id="3082" name="Picture 10">
            <a:extLst>
              <a:ext uri="{FF2B5EF4-FFF2-40B4-BE49-F238E27FC236}">
                <a16:creationId xmlns:a16="http://schemas.microsoft.com/office/drawing/2014/main" id="{28E74B3A-013F-068C-2FF8-B181177DA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326" y="4054297"/>
            <a:ext cx="5176378" cy="219704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476CA67E-7629-B744-4BE0-82149663D6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6616" y="1352590"/>
            <a:ext cx="3748522" cy="2546550"/>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12DB18B-9A23-5C25-0A38-49A89658E40D}"/>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984EBD5E-1C19-EEBB-A9E8-391A8A31B74D}"/>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5144AA2-F103-B6BD-C21C-707A3C58CDF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dirty="0"/>
          </a:p>
        </p:txBody>
      </p:sp>
      <p:pic>
        <p:nvPicPr>
          <p:cNvPr id="110" name="Google Shape;110;p1" title="download.png">
            <a:extLst>
              <a:ext uri="{FF2B5EF4-FFF2-40B4-BE49-F238E27FC236}">
                <a16:creationId xmlns:a16="http://schemas.microsoft.com/office/drawing/2014/main" id="{53E32C47-41D7-73A9-BCEB-F418AFA95509}"/>
              </a:ext>
            </a:extLst>
          </p:cNvPr>
          <p:cNvPicPr preferRelativeResize="0"/>
          <p:nvPr/>
        </p:nvPicPr>
        <p:blipFill>
          <a:blip r:embed="rId5">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CE1AA45-EB2B-2417-7A47-9BFEF9DD947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15202D22-90DD-9BB9-6C59-33ADC69B2A1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37E2FCCE-F978-8125-A0E5-1077C5A3F312}"/>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9" name="TextBox 8">
            <a:extLst>
              <a:ext uri="{FF2B5EF4-FFF2-40B4-BE49-F238E27FC236}">
                <a16:creationId xmlns:a16="http://schemas.microsoft.com/office/drawing/2014/main" id="{145A820A-8C3D-7545-436B-1402E2EE511D}"/>
              </a:ext>
            </a:extLst>
          </p:cNvPr>
          <p:cNvSpPr txBox="1"/>
          <p:nvPr/>
        </p:nvSpPr>
        <p:spPr>
          <a:xfrm>
            <a:off x="10299941" y="1566765"/>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1</a:t>
            </a:r>
          </a:p>
        </p:txBody>
      </p:sp>
      <p:sp>
        <p:nvSpPr>
          <p:cNvPr id="10" name="TextBox 9">
            <a:extLst>
              <a:ext uri="{FF2B5EF4-FFF2-40B4-BE49-F238E27FC236}">
                <a16:creationId xmlns:a16="http://schemas.microsoft.com/office/drawing/2014/main" id="{CF83FD3B-57B1-6A80-DBDB-05040F1DC31C}"/>
              </a:ext>
            </a:extLst>
          </p:cNvPr>
          <p:cNvSpPr txBox="1"/>
          <p:nvPr/>
        </p:nvSpPr>
        <p:spPr>
          <a:xfrm>
            <a:off x="10213675" y="5660567"/>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2</a:t>
            </a:r>
          </a:p>
        </p:txBody>
      </p:sp>
      <p:sp>
        <p:nvSpPr>
          <p:cNvPr id="12" name="TextBox 11">
            <a:extLst>
              <a:ext uri="{FF2B5EF4-FFF2-40B4-BE49-F238E27FC236}">
                <a16:creationId xmlns:a16="http://schemas.microsoft.com/office/drawing/2014/main" id="{FA6E5CA3-D4AD-9508-C18A-95D09A85CF8C}"/>
              </a:ext>
            </a:extLst>
          </p:cNvPr>
          <p:cNvSpPr txBox="1"/>
          <p:nvPr/>
        </p:nvSpPr>
        <p:spPr>
          <a:xfrm>
            <a:off x="273452" y="1820029"/>
            <a:ext cx="7588725"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1: Number of Unique Orders vs. Customers</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compares the total number of unique orders (1764) to the number of unique customers (707 ) in the dataset.</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Customers place multiple orders on average (~2.5 per customer), indicating repeat business or bulk purchasing behavior.</a:t>
            </a:r>
          </a:p>
        </p:txBody>
      </p:sp>
      <p:sp>
        <p:nvSpPr>
          <p:cNvPr id="15" name="TextBox 14">
            <a:extLst>
              <a:ext uri="{FF2B5EF4-FFF2-40B4-BE49-F238E27FC236}">
                <a16:creationId xmlns:a16="http://schemas.microsoft.com/office/drawing/2014/main" id="{A99AB1B6-762E-D498-FE69-8F1BE486AF38}"/>
              </a:ext>
            </a:extLst>
          </p:cNvPr>
          <p:cNvSpPr txBox="1"/>
          <p:nvPr/>
        </p:nvSpPr>
        <p:spPr>
          <a:xfrm>
            <a:off x="273452" y="4075518"/>
            <a:ext cx="6098874"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2: Shipping Mode Distribution</a:t>
            </a:r>
          </a:p>
          <a:p>
            <a:pPr algn="l">
              <a:buNone/>
            </a:pPr>
            <a:endParaRPr lang="en-US" sz="500" b="1" dirty="0">
              <a:solidFill>
                <a:srgbClr val="1869A6"/>
              </a:solidFill>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how often each shipping mode was used.</a:t>
            </a:r>
            <a:endParaRPr lang="en-US" sz="1600" dirty="0">
              <a:solidFill>
                <a:schemeClr val="tx1">
                  <a:lumMod val="65000"/>
                  <a:lumOff val="35000"/>
                </a:schemeClr>
              </a:solidFill>
              <a:latin typeface="Aptos ExtraBold" panose="020B0004020202020204" pitchFamily="34" charset="0"/>
            </a:endParaRPr>
          </a:p>
          <a:p>
            <a:pPr algn="l">
              <a:buNone/>
            </a:pPr>
            <a:endParaRPr lang="en-US" sz="500"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Most customers prefer cost-effective Standard Class , while faster options like Same Day are rarely chosen.</a:t>
            </a:r>
          </a:p>
        </p:txBody>
      </p:sp>
      <p:sp>
        <p:nvSpPr>
          <p:cNvPr id="16" name="Google Shape;105;p1">
            <a:extLst>
              <a:ext uri="{FF2B5EF4-FFF2-40B4-BE49-F238E27FC236}">
                <a16:creationId xmlns:a16="http://schemas.microsoft.com/office/drawing/2014/main" id="{3BE98C08-D5FB-03FE-7BDE-C3AE4760EBD3}"/>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13</a:t>
            </a:r>
            <a:endParaRPr lang="ar-EG" b="1" dirty="0"/>
          </a:p>
        </p:txBody>
      </p:sp>
    </p:spTree>
    <p:extLst>
      <p:ext uri="{BB962C8B-B14F-4D97-AF65-F5344CB8AC3E}">
        <p14:creationId xmlns:p14="http://schemas.microsoft.com/office/powerpoint/2010/main" val="3052065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EC4FA99-612B-5C36-13AE-2747DF53A92C}"/>
            </a:ext>
          </a:extLst>
        </p:cNvPr>
        <p:cNvGrpSpPr/>
        <p:nvPr/>
      </p:nvGrpSpPr>
      <p:grpSpPr>
        <a:xfrm>
          <a:off x="0" y="0"/>
          <a:ext cx="0" cy="0"/>
          <a:chOff x="0" y="0"/>
          <a:chExt cx="0" cy="0"/>
        </a:xfrm>
      </p:grpSpPr>
      <p:pic>
        <p:nvPicPr>
          <p:cNvPr id="4100" name="Picture 4">
            <a:extLst>
              <a:ext uri="{FF2B5EF4-FFF2-40B4-BE49-F238E27FC236}">
                <a16:creationId xmlns:a16="http://schemas.microsoft.com/office/drawing/2014/main" id="{5CD2D435-A79E-4CD5-3B01-FBB67474E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503" y="1586050"/>
            <a:ext cx="4265363" cy="2633834"/>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C28165F-0FC6-7E13-F48D-A1C5E703C7DA}"/>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6D1E4E20-439E-D469-9125-21C9AA21734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BBAF922-1470-A841-3F4E-9CAE14A6790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dirty="0"/>
          </a:p>
        </p:txBody>
      </p:sp>
      <p:pic>
        <p:nvPicPr>
          <p:cNvPr id="110" name="Google Shape;110;p1" title="download.png">
            <a:extLst>
              <a:ext uri="{FF2B5EF4-FFF2-40B4-BE49-F238E27FC236}">
                <a16:creationId xmlns:a16="http://schemas.microsoft.com/office/drawing/2014/main" id="{1C80376E-81B3-3C28-1ECF-4F2B0285286B}"/>
              </a:ext>
            </a:extLst>
          </p:cNvPr>
          <p:cNvPicPr preferRelativeResize="0"/>
          <p:nvPr/>
        </p:nvPicPr>
        <p:blipFill>
          <a:blip r:embed="rId4">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8AD2289-B613-D214-F6A5-32C9E89E8DB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5EA9BD4-4BD1-5D2F-C88F-CAE8E0BE7A7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6976F18-DD66-029D-F5FF-DCFFD67F064E}"/>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AD94EE54-BDF6-BF05-4716-811F23CF83BC}"/>
              </a:ext>
            </a:extLst>
          </p:cNvPr>
          <p:cNvSpPr txBox="1"/>
          <p:nvPr/>
        </p:nvSpPr>
        <p:spPr>
          <a:xfrm>
            <a:off x="273453" y="1656134"/>
            <a:ext cx="6052050"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3: Product Sub-Category Distribution</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how frequently different furniture sub-categories appear in the dataset.</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Customers buy more furniture accessories (Furnishings) and seating (Chairs) than larger items like Tables or Bookcases .</a:t>
            </a:r>
          </a:p>
        </p:txBody>
      </p:sp>
      <p:sp>
        <p:nvSpPr>
          <p:cNvPr id="15" name="TextBox 14">
            <a:extLst>
              <a:ext uri="{FF2B5EF4-FFF2-40B4-BE49-F238E27FC236}">
                <a16:creationId xmlns:a16="http://schemas.microsoft.com/office/drawing/2014/main" id="{11535D39-B040-D423-7CE2-8D0C2BCBE442}"/>
              </a:ext>
            </a:extLst>
          </p:cNvPr>
          <p:cNvSpPr txBox="1"/>
          <p:nvPr/>
        </p:nvSpPr>
        <p:spPr>
          <a:xfrm>
            <a:off x="273452" y="4075518"/>
            <a:ext cx="6098874"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4: Average Order Value by Segment</a:t>
            </a:r>
          </a:p>
          <a:p>
            <a:pPr algn="l">
              <a:buNone/>
            </a:pPr>
            <a:endParaRPr lang="en-US" sz="500" b="1" dirty="0">
              <a:solidFill>
                <a:srgbClr val="1869A6"/>
              </a:solidFill>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the average order value for each customer segment.</a:t>
            </a:r>
            <a:endParaRPr lang="en-US" sz="1600" dirty="0">
              <a:solidFill>
                <a:schemeClr val="tx1">
                  <a:lumMod val="65000"/>
                  <a:lumOff val="35000"/>
                </a:schemeClr>
              </a:solidFill>
              <a:latin typeface="Aptos ExtraBold" panose="020B0004020202020204" pitchFamily="34" charset="0"/>
            </a:endParaRPr>
          </a:p>
          <a:p>
            <a:pPr algn="l">
              <a:buNone/>
            </a:pPr>
            <a:endParaRPr lang="en-US" sz="500"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Consumer and Corporate customers spend about the same per order, while Home Office customers spend slightly less..</a:t>
            </a:r>
          </a:p>
        </p:txBody>
      </p:sp>
      <p:sp>
        <p:nvSpPr>
          <p:cNvPr id="9" name="TextBox 8">
            <a:extLst>
              <a:ext uri="{FF2B5EF4-FFF2-40B4-BE49-F238E27FC236}">
                <a16:creationId xmlns:a16="http://schemas.microsoft.com/office/drawing/2014/main" id="{BF795CB1-AC87-4B17-9F81-F425C0E62BFB}"/>
              </a:ext>
            </a:extLst>
          </p:cNvPr>
          <p:cNvSpPr txBox="1"/>
          <p:nvPr/>
        </p:nvSpPr>
        <p:spPr>
          <a:xfrm>
            <a:off x="10286708" y="3656682"/>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3</a:t>
            </a:r>
          </a:p>
        </p:txBody>
      </p:sp>
      <p:pic>
        <p:nvPicPr>
          <p:cNvPr id="4102" name="Picture 6">
            <a:extLst>
              <a:ext uri="{FF2B5EF4-FFF2-40B4-BE49-F238E27FC236}">
                <a16:creationId xmlns:a16="http://schemas.microsoft.com/office/drawing/2014/main" id="{A2C1A3CE-E63E-08A0-A916-F25A76BCEF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6275" y="4384897"/>
            <a:ext cx="4335591" cy="188049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EED818-6AA1-4FB9-531D-3D4CA4578175}"/>
              </a:ext>
            </a:extLst>
          </p:cNvPr>
          <p:cNvSpPr txBox="1"/>
          <p:nvPr/>
        </p:nvSpPr>
        <p:spPr>
          <a:xfrm rot="16200000">
            <a:off x="10612672" y="5540779"/>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4</a:t>
            </a:r>
          </a:p>
        </p:txBody>
      </p:sp>
      <p:sp>
        <p:nvSpPr>
          <p:cNvPr id="7" name="Google Shape;105;p1">
            <a:extLst>
              <a:ext uri="{FF2B5EF4-FFF2-40B4-BE49-F238E27FC236}">
                <a16:creationId xmlns:a16="http://schemas.microsoft.com/office/drawing/2014/main" id="{D1CD7D4A-DB86-5AFB-B478-05F498ED2E32}"/>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14</a:t>
            </a:r>
            <a:endParaRPr lang="ar-EG" b="1" dirty="0"/>
          </a:p>
        </p:txBody>
      </p:sp>
    </p:spTree>
    <p:extLst>
      <p:ext uri="{BB962C8B-B14F-4D97-AF65-F5344CB8AC3E}">
        <p14:creationId xmlns:p14="http://schemas.microsoft.com/office/powerpoint/2010/main" val="195852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A96F67C-811F-E633-C9AF-7A2781C6C4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9B48F0-17C1-44F0-DC82-A094CEFCFB89}"/>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0D7DCF0-CCE7-77BF-DC79-6557C77DC2B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1C82152-4A3A-89CB-425E-4D8C4AE0DFF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dirty="0"/>
          </a:p>
        </p:txBody>
      </p:sp>
      <p:pic>
        <p:nvPicPr>
          <p:cNvPr id="110" name="Google Shape;110;p1" title="download.png">
            <a:extLst>
              <a:ext uri="{FF2B5EF4-FFF2-40B4-BE49-F238E27FC236}">
                <a16:creationId xmlns:a16="http://schemas.microsoft.com/office/drawing/2014/main" id="{49C5050F-E1EA-3B36-9D60-5D261717B350}"/>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F22C443-0A71-13AE-2199-BA4F2F9C5273}"/>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A56617B-7A48-BA2B-54B5-7C99391B2CBF}"/>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A77EA71E-315E-8DD5-9872-83DEE641661F}"/>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1E4B2607-B900-9667-3F55-BF547EF825C2}"/>
              </a:ext>
            </a:extLst>
          </p:cNvPr>
          <p:cNvSpPr txBox="1"/>
          <p:nvPr/>
        </p:nvSpPr>
        <p:spPr>
          <a:xfrm>
            <a:off x="333838" y="2279953"/>
            <a:ext cx="4928275" cy="2739211"/>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5: Top 10 States by Total Sales</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ranks the top 10 states based on their total sales. The chart shows the following.</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California Dominates Sales : California has significantly higher sales compared to other states, indicating it is a major market for the business .</a:t>
            </a:r>
          </a:p>
        </p:txBody>
      </p:sp>
      <p:pic>
        <p:nvPicPr>
          <p:cNvPr id="6148" name="Picture 4">
            <a:extLst>
              <a:ext uri="{FF2B5EF4-FFF2-40B4-BE49-F238E27FC236}">
                <a16:creationId xmlns:a16="http://schemas.microsoft.com/office/drawing/2014/main" id="{9C5311A4-CFE0-5F57-5EC9-A3A69CA391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7377" y="2368380"/>
            <a:ext cx="6325500" cy="2649626"/>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A7099DB-647D-22AA-88DE-81E68B967A92}"/>
              </a:ext>
            </a:extLst>
          </p:cNvPr>
          <p:cNvSpPr txBox="1"/>
          <p:nvPr/>
        </p:nvSpPr>
        <p:spPr>
          <a:xfrm>
            <a:off x="10506373" y="4419464"/>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5</a:t>
            </a:r>
          </a:p>
        </p:txBody>
      </p:sp>
      <p:sp>
        <p:nvSpPr>
          <p:cNvPr id="6" name="Google Shape;105;p1">
            <a:extLst>
              <a:ext uri="{FF2B5EF4-FFF2-40B4-BE49-F238E27FC236}">
                <a16:creationId xmlns:a16="http://schemas.microsoft.com/office/drawing/2014/main" id="{F6429029-BAFB-3273-3E1E-A12AEF9F9F1C}"/>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15</a:t>
            </a:r>
            <a:endParaRPr lang="ar-EG" b="1" dirty="0"/>
          </a:p>
        </p:txBody>
      </p:sp>
    </p:spTree>
    <p:extLst>
      <p:ext uri="{BB962C8B-B14F-4D97-AF65-F5344CB8AC3E}">
        <p14:creationId xmlns:p14="http://schemas.microsoft.com/office/powerpoint/2010/main" val="1265609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8A2271-C893-B159-2255-1D1550E11B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E2FF2B-5035-AEA5-2520-D6919DAF8052}"/>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851645D7-A019-FD61-7BD3-93F6C77DEE8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3D7422D-2FE0-948B-2D1E-62E8E50DE05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dirty="0"/>
          </a:p>
        </p:txBody>
      </p:sp>
      <p:pic>
        <p:nvPicPr>
          <p:cNvPr id="110" name="Google Shape;110;p1" title="download.png">
            <a:extLst>
              <a:ext uri="{FF2B5EF4-FFF2-40B4-BE49-F238E27FC236}">
                <a16:creationId xmlns:a16="http://schemas.microsoft.com/office/drawing/2014/main" id="{C5599491-9007-DF87-6D52-1C47A507E058}"/>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7092F5A1-1E6B-2ED4-A39B-3E6AF6C1C2AD}"/>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E684301-45F7-B5CE-FEF9-C681B9A6F79D}"/>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8D0C16BF-731D-AB44-CF46-CB25FD10D44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E7901C6C-AD80-C9DE-2D5E-60BF8F77BD27}"/>
              </a:ext>
            </a:extLst>
          </p:cNvPr>
          <p:cNvSpPr txBox="1"/>
          <p:nvPr/>
        </p:nvSpPr>
        <p:spPr>
          <a:xfrm>
            <a:off x="618158" y="2182505"/>
            <a:ext cx="5774016" cy="372409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6: Monthly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line chart illustrates the total sales over time, measured monthly from January 2014 to January 2018 .</a:t>
            </a:r>
          </a:p>
          <a:p>
            <a:pPr algn="l">
              <a:buNone/>
            </a:pPr>
            <a:r>
              <a:rPr lang="en-US" sz="1600" b="0" i="0" dirty="0">
                <a:solidFill>
                  <a:schemeClr val="tx1">
                    <a:lumMod val="65000"/>
                    <a:lumOff val="35000"/>
                  </a:schemeClr>
                </a:solidFill>
                <a:effectLst/>
                <a:latin typeface="Aptos ExtraBold" panose="020B0004020202020204" pitchFamily="34" charset="0"/>
              </a:rPr>
              <a:t> The x-axis represents the year-month, and the y-axis shows the total sales in dollars..</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Steady sales growth from 2014 to 2018.</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Seasonal peaks suggest strong holiday and mid-year demand.</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Mid-2016 dip indicates a possible market challenge or supply issue.</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Post-2016 recovery shows resilience and growth potential.</a:t>
            </a:r>
          </a:p>
        </p:txBody>
      </p:sp>
      <p:pic>
        <p:nvPicPr>
          <p:cNvPr id="7170" name="Picture 2">
            <a:extLst>
              <a:ext uri="{FF2B5EF4-FFF2-40B4-BE49-F238E27FC236}">
                <a16:creationId xmlns:a16="http://schemas.microsoft.com/office/drawing/2014/main" id="{13E6F24F-4FBB-AD1E-B5FC-FE24026D7E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2185" y="2182505"/>
            <a:ext cx="4751657" cy="3329437"/>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0BBEE18-C235-22F9-86CB-104EF1663B80}"/>
              </a:ext>
            </a:extLst>
          </p:cNvPr>
          <p:cNvSpPr txBox="1"/>
          <p:nvPr/>
        </p:nvSpPr>
        <p:spPr>
          <a:xfrm>
            <a:off x="10670817" y="4612188"/>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6</a:t>
            </a:r>
          </a:p>
        </p:txBody>
      </p:sp>
      <p:sp>
        <p:nvSpPr>
          <p:cNvPr id="3" name="Google Shape;105;p1">
            <a:extLst>
              <a:ext uri="{FF2B5EF4-FFF2-40B4-BE49-F238E27FC236}">
                <a16:creationId xmlns:a16="http://schemas.microsoft.com/office/drawing/2014/main" id="{D7FF8225-051C-7059-B9E0-379246B87BAF}"/>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16</a:t>
            </a:r>
            <a:endParaRPr lang="ar-EG" b="1" dirty="0"/>
          </a:p>
        </p:txBody>
      </p:sp>
    </p:spTree>
    <p:extLst>
      <p:ext uri="{BB962C8B-B14F-4D97-AF65-F5344CB8AC3E}">
        <p14:creationId xmlns:p14="http://schemas.microsoft.com/office/powerpoint/2010/main" val="3062522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903C06-9220-D572-B8B5-91A2B2E64E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B5EF58-4000-8931-38EE-57BD43AB4476}"/>
              </a:ext>
            </a:extLst>
          </p:cNvPr>
          <p:cNvSpPr/>
          <p:nvPr/>
        </p:nvSpPr>
        <p:spPr>
          <a:xfrm>
            <a:off x="0" y="1946832"/>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9373CAD-7A19-E1E6-265A-AF4CAB8BC76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41ACBAAA-0F88-49BA-9EEF-DA8DA18AFA7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dirty="0"/>
          </a:p>
        </p:txBody>
      </p:sp>
      <p:pic>
        <p:nvPicPr>
          <p:cNvPr id="110" name="Google Shape;110;p1" title="download.png">
            <a:extLst>
              <a:ext uri="{FF2B5EF4-FFF2-40B4-BE49-F238E27FC236}">
                <a16:creationId xmlns:a16="http://schemas.microsoft.com/office/drawing/2014/main" id="{5DCBD153-86C3-E6F3-B3D5-CBCC0B686A45}"/>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C7B258D5-612D-FE63-739B-0E164613EB7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F3EED39F-B6FE-DBDC-8D8E-20462F01D9B1}"/>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6948DD17-3815-FE48-5E6F-605EA1F1F56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1478EEC4-4633-6647-51E7-F99B7AC44475}"/>
              </a:ext>
            </a:extLst>
          </p:cNvPr>
          <p:cNvSpPr txBox="1"/>
          <p:nvPr/>
        </p:nvSpPr>
        <p:spPr>
          <a:xfrm>
            <a:off x="477739" y="2467937"/>
            <a:ext cx="4911022"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7: Yearly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year from 2014 to 2017.</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Sales have consistently increased year-over-year , with a steady growth trend over the four years.</a:t>
            </a:r>
          </a:p>
        </p:txBody>
      </p:sp>
      <p:pic>
        <p:nvPicPr>
          <p:cNvPr id="8194" name="Picture 2">
            <a:extLst>
              <a:ext uri="{FF2B5EF4-FFF2-40B4-BE49-F238E27FC236}">
                <a16:creationId xmlns:a16="http://schemas.microsoft.com/office/drawing/2014/main" id="{FFB0ED97-570C-AE48-DF00-1BDBBC5EF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2872" y="2389541"/>
            <a:ext cx="4381577" cy="2656914"/>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70FE4F7-EF7C-3357-53FD-5B13C169831A}"/>
              </a:ext>
            </a:extLst>
          </p:cNvPr>
          <p:cNvSpPr txBox="1"/>
          <p:nvPr/>
        </p:nvSpPr>
        <p:spPr>
          <a:xfrm>
            <a:off x="7357733" y="2555367"/>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7</a:t>
            </a:r>
          </a:p>
        </p:txBody>
      </p:sp>
      <p:sp>
        <p:nvSpPr>
          <p:cNvPr id="3" name="Google Shape;105;p1">
            <a:extLst>
              <a:ext uri="{FF2B5EF4-FFF2-40B4-BE49-F238E27FC236}">
                <a16:creationId xmlns:a16="http://schemas.microsoft.com/office/drawing/2014/main" id="{243B5357-2F2F-4D78-6311-4D0592CB474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17</a:t>
            </a:r>
            <a:endParaRPr lang="ar-EG" b="1" dirty="0"/>
          </a:p>
        </p:txBody>
      </p:sp>
    </p:spTree>
    <p:extLst>
      <p:ext uri="{BB962C8B-B14F-4D97-AF65-F5344CB8AC3E}">
        <p14:creationId xmlns:p14="http://schemas.microsoft.com/office/powerpoint/2010/main" val="1925071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D10DF93-2508-8B48-79B6-238FECA3CC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3E34FF-657B-CA9D-6EDA-A7A02B3ACE53}"/>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65E37060-7D51-49E8-B54F-E2912D20CAB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117B3CA-0AF6-7035-A440-464EF3A2B1B0}"/>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dirty="0"/>
          </a:p>
        </p:txBody>
      </p:sp>
      <p:pic>
        <p:nvPicPr>
          <p:cNvPr id="110" name="Google Shape;110;p1" title="download.png">
            <a:extLst>
              <a:ext uri="{FF2B5EF4-FFF2-40B4-BE49-F238E27FC236}">
                <a16:creationId xmlns:a16="http://schemas.microsoft.com/office/drawing/2014/main" id="{215A5416-686C-EF01-1D05-DAC96D664A0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38D2726-55E6-FE8F-D21D-CF4731548CC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D18E1FC8-101C-6904-1CD5-6D80B98B2FB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B67F4D53-CAE5-D92F-70B0-37088A45A433}"/>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DC1824C6-389E-6B39-81E6-E0588C75FB87}"/>
              </a:ext>
            </a:extLst>
          </p:cNvPr>
          <p:cNvSpPr txBox="1"/>
          <p:nvPr/>
        </p:nvSpPr>
        <p:spPr>
          <a:xfrm>
            <a:off x="618158" y="2182505"/>
            <a:ext cx="4911022" cy="372409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8: Sales Trend by Day of the Week</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day of the week.</a:t>
            </a:r>
          </a:p>
          <a:p>
            <a:pPr algn="l">
              <a:buNone/>
            </a:pPr>
            <a:endParaRPr lang="en-US" sz="500" b="0" i="0" dirty="0">
              <a:solidFill>
                <a:srgbClr val="0FAB7D"/>
              </a:solidFill>
              <a:effectLst/>
              <a:latin typeface="Aptos ExtraBold" panose="020B0004020202020204" pitchFamily="34" charset="0"/>
            </a:endParaRPr>
          </a:p>
          <a:p>
            <a:pPr algn="l"/>
            <a:r>
              <a:rPr lang="en-US" sz="1600" b="0" i="0" dirty="0">
                <a:solidFill>
                  <a:srgbClr val="0FAB7D"/>
                </a:solidFill>
                <a:effectLst/>
                <a:latin typeface="Aptos ExtraBold" panose="020B0004020202020204" pitchFamily="34" charset="0"/>
              </a:rPr>
              <a:t>Key Insight:</a:t>
            </a:r>
            <a:endParaRPr lang="en-US" sz="1600" dirty="0">
              <a:solidFill>
                <a:srgbClr val="0FAB7D"/>
              </a:solidFill>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Highest Sales on Monday.</a:t>
            </a:r>
          </a:p>
          <a:p>
            <a:pPr algn="l"/>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Lowest Sales on Wednesday.</a:t>
            </a:r>
          </a:p>
          <a:p>
            <a:pPr algn="l"/>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Midweek Recovery : </a:t>
            </a:r>
            <a:r>
              <a:rPr lang="en-US" b="0" i="0" dirty="0">
                <a:solidFill>
                  <a:schemeClr val="tx1">
                    <a:lumMod val="65000"/>
                    <a:lumOff val="35000"/>
                  </a:schemeClr>
                </a:solidFill>
                <a:effectLst/>
                <a:latin typeface="Aptos ExtraBold" panose="020B0004020202020204" pitchFamily="34" charset="0"/>
              </a:rPr>
              <a:t>Thursday and Friday show a recovery in sales, suggesting increased customer engagement toward the end of the week.</a:t>
            </a:r>
          </a:p>
          <a:p>
            <a:pPr marL="285750" indent="-285750" algn="l">
              <a:buFont typeface="Courier New" panose="02070309020205020404" pitchFamily="49" charset="0"/>
              <a:buChar char="o"/>
            </a:pPr>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Weekend Performance : </a:t>
            </a:r>
            <a:r>
              <a:rPr lang="en-US" b="0" i="0" dirty="0">
                <a:solidFill>
                  <a:schemeClr val="tx1">
                    <a:lumMod val="65000"/>
                    <a:lumOff val="35000"/>
                  </a:schemeClr>
                </a:solidFill>
                <a:effectLst/>
                <a:latin typeface="Aptos ExtraBold" panose="020B0004020202020204" pitchFamily="34" charset="0"/>
              </a:rPr>
              <a:t>Saturday and Sunday maintain relatively high sales, showing consistent demand throughout the weekend.</a:t>
            </a:r>
            <a:endParaRPr lang="en-US" sz="1600" b="0" i="0" dirty="0">
              <a:solidFill>
                <a:schemeClr val="tx1">
                  <a:lumMod val="65000"/>
                  <a:lumOff val="35000"/>
                </a:schemeClr>
              </a:solidFill>
              <a:effectLst/>
              <a:latin typeface="Aptos ExtraBold" panose="020B0004020202020204" pitchFamily="34" charset="0"/>
            </a:endParaRPr>
          </a:p>
        </p:txBody>
      </p:sp>
      <p:pic>
        <p:nvPicPr>
          <p:cNvPr id="9218" name="Picture 2">
            <a:extLst>
              <a:ext uri="{FF2B5EF4-FFF2-40B4-BE49-F238E27FC236}">
                <a16:creationId xmlns:a16="http://schemas.microsoft.com/office/drawing/2014/main" id="{6A9F7158-E598-C341-3747-17C1B5BF2C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405" y="2445169"/>
            <a:ext cx="5975338" cy="321539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4E3012C-9E4A-5CE8-AC1C-FC07679EE759}"/>
              </a:ext>
            </a:extLst>
          </p:cNvPr>
          <p:cNvSpPr txBox="1"/>
          <p:nvPr/>
        </p:nvSpPr>
        <p:spPr>
          <a:xfrm>
            <a:off x="10820981" y="2688376"/>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8</a:t>
            </a:r>
          </a:p>
        </p:txBody>
      </p:sp>
      <p:sp>
        <p:nvSpPr>
          <p:cNvPr id="3" name="Google Shape;105;p1">
            <a:extLst>
              <a:ext uri="{FF2B5EF4-FFF2-40B4-BE49-F238E27FC236}">
                <a16:creationId xmlns:a16="http://schemas.microsoft.com/office/drawing/2014/main" id="{81F85330-FC2C-544B-ABDD-43766C8BC10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18</a:t>
            </a:r>
            <a:endParaRPr lang="ar-EG" b="1" dirty="0"/>
          </a:p>
        </p:txBody>
      </p:sp>
    </p:spTree>
    <p:extLst>
      <p:ext uri="{BB962C8B-B14F-4D97-AF65-F5344CB8AC3E}">
        <p14:creationId xmlns:p14="http://schemas.microsoft.com/office/powerpoint/2010/main" val="3196312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68DF66-F178-BDC8-9409-842EF3AC300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4409D2-60BD-3B39-6B07-7C0113260DFE}"/>
              </a:ext>
            </a:extLst>
          </p:cNvPr>
          <p:cNvSpPr/>
          <p:nvPr/>
        </p:nvSpPr>
        <p:spPr>
          <a:xfrm>
            <a:off x="13771" y="2078967"/>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7A61BF4-B414-C718-904D-1102CF2C9B4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2B82964-1F80-3997-D4B0-0DC15B48755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dirty="0"/>
          </a:p>
        </p:txBody>
      </p:sp>
      <p:pic>
        <p:nvPicPr>
          <p:cNvPr id="110" name="Google Shape;110;p1" title="download.png">
            <a:extLst>
              <a:ext uri="{FF2B5EF4-FFF2-40B4-BE49-F238E27FC236}">
                <a16:creationId xmlns:a16="http://schemas.microsoft.com/office/drawing/2014/main" id="{BC13B778-C345-B9BC-05A9-71647216D10E}"/>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FBF9833-10F1-1C8E-5DE8-917D0D58F1A0}"/>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2BAA74F-9114-AB5C-F9C9-A8C3B7290C4A}"/>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4CF42C7A-87B4-7E17-B268-86EF5D53FA69}"/>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AB42F35B-15B3-07E1-01FB-1B3C0223E5E5}"/>
              </a:ext>
            </a:extLst>
          </p:cNvPr>
          <p:cNvSpPr txBox="1"/>
          <p:nvPr/>
        </p:nvSpPr>
        <p:spPr>
          <a:xfrm>
            <a:off x="138467" y="2078967"/>
            <a:ext cx="5361259" cy="360098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9: Sales Seasonality - Monthly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month of the year, highlighting seasonal trends in sales performance.</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a:t>
            </a:r>
            <a:r>
              <a:rPr lang="en-US" sz="1600" b="0" i="0" dirty="0">
                <a:solidFill>
                  <a:srgbClr val="0FAB7D"/>
                </a:solidFill>
                <a:effectLst/>
                <a:latin typeface="Aptos ExtraBold" panose="020B0004020202020204" pitchFamily="34" charset="0"/>
              </a:rPr>
              <a:t> </a:t>
            </a:r>
            <a:r>
              <a:rPr lang="en-US" sz="1600" b="0" i="0" dirty="0">
                <a:solidFill>
                  <a:schemeClr val="tx1">
                    <a:lumMod val="65000"/>
                    <a:lumOff val="35000"/>
                  </a:schemeClr>
                </a:solidFill>
                <a:effectLst/>
                <a:latin typeface="Aptos ExtraBold" panose="020B0004020202020204" pitchFamily="34" charset="0"/>
              </a:rPr>
              <a:t>Seasonal Patterns </a:t>
            </a:r>
            <a:r>
              <a:rPr lang="en-US" b="0" i="0" dirty="0">
                <a:solidFill>
                  <a:schemeClr val="tx1">
                    <a:lumMod val="65000"/>
                    <a:lumOff val="35000"/>
                  </a:schemeClr>
                </a:solidFill>
                <a:effectLst/>
                <a:latin typeface="Aptos ExtraBold" panose="020B0004020202020204" pitchFamily="34" charset="0"/>
              </a:rPr>
              <a:t>: Sales see a low point in January and February after the holidays, then steadily increase from March to September, reaching their highest point in November and December due to holiday shopping.</a:t>
            </a:r>
          </a:p>
          <a:p>
            <a:pPr algn="l">
              <a:buNone/>
            </a:pPr>
            <a:endParaRPr lang="en-US"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chemeClr val="tx1">
                    <a:lumMod val="65000"/>
                    <a:lumOff val="35000"/>
                  </a:schemeClr>
                </a:solidFill>
                <a:effectLst/>
                <a:latin typeface="Aptos ExtraBold" panose="020B0004020202020204" pitchFamily="34" charset="0"/>
              </a:rPr>
              <a:t>- Holiday Impact : </a:t>
            </a:r>
            <a:r>
              <a:rPr lang="en-US" b="0" i="0" dirty="0">
                <a:solidFill>
                  <a:schemeClr val="tx1">
                    <a:lumMod val="65000"/>
                    <a:lumOff val="35000"/>
                  </a:schemeClr>
                </a:solidFill>
                <a:effectLst/>
                <a:latin typeface="Aptos ExtraBold" panose="020B0004020202020204" pitchFamily="34" charset="0"/>
              </a:rPr>
              <a:t>The significant spike in November and December reflects strong consumer spending during the holiday season.</a:t>
            </a:r>
            <a:endParaRPr lang="en-US" sz="1600" b="0" i="0" dirty="0">
              <a:solidFill>
                <a:schemeClr val="tx1">
                  <a:lumMod val="65000"/>
                  <a:lumOff val="35000"/>
                </a:schemeClr>
              </a:solidFill>
              <a:effectLst/>
              <a:latin typeface="Aptos ExtraBold" panose="020B0004020202020204" pitchFamily="34" charset="0"/>
            </a:endParaRPr>
          </a:p>
        </p:txBody>
      </p:sp>
      <p:pic>
        <p:nvPicPr>
          <p:cNvPr id="10242" name="Picture 2">
            <a:extLst>
              <a:ext uri="{FF2B5EF4-FFF2-40B4-BE49-F238E27FC236}">
                <a16:creationId xmlns:a16="http://schemas.microsoft.com/office/drawing/2014/main" id="{6844E2CE-5D4E-FD13-99C0-EABE4C611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4422" y="2303774"/>
            <a:ext cx="6256729" cy="336681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202C9C6-3B3F-3C2D-C278-3D9172F760DF}"/>
              </a:ext>
            </a:extLst>
          </p:cNvPr>
          <p:cNvSpPr txBox="1"/>
          <p:nvPr/>
        </p:nvSpPr>
        <p:spPr>
          <a:xfrm>
            <a:off x="6295385" y="2600405"/>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9</a:t>
            </a:r>
          </a:p>
        </p:txBody>
      </p:sp>
      <p:sp>
        <p:nvSpPr>
          <p:cNvPr id="3" name="Google Shape;105;p1">
            <a:extLst>
              <a:ext uri="{FF2B5EF4-FFF2-40B4-BE49-F238E27FC236}">
                <a16:creationId xmlns:a16="http://schemas.microsoft.com/office/drawing/2014/main" id="{D60B1D76-788F-E32A-989A-974D431722C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19</a:t>
            </a:r>
            <a:endParaRPr lang="ar-EG" b="1" dirty="0"/>
          </a:p>
        </p:txBody>
      </p:sp>
    </p:spTree>
    <p:extLst>
      <p:ext uri="{BB962C8B-B14F-4D97-AF65-F5344CB8AC3E}">
        <p14:creationId xmlns:p14="http://schemas.microsoft.com/office/powerpoint/2010/main" val="3500120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5094D7-1260-94B7-5ED1-787509CFE9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29AFB1C-5028-4FCD-4FB8-28CF4FB0BEA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2364C1ED-BF13-6CAB-EC9B-DE554B8F526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F241CCA-CF4B-64B4-500D-64EFC1B590E5}"/>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dirty="0"/>
          </a:p>
        </p:txBody>
      </p:sp>
      <p:pic>
        <p:nvPicPr>
          <p:cNvPr id="110" name="Google Shape;110;p1" title="download.png">
            <a:extLst>
              <a:ext uri="{FF2B5EF4-FFF2-40B4-BE49-F238E27FC236}">
                <a16:creationId xmlns:a16="http://schemas.microsoft.com/office/drawing/2014/main" id="{29CCEA33-82A3-9E76-2AF5-8826AE28003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C8FDAA5-3427-6FC7-A331-C646CA3742C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1CAABA53-3CF4-D26D-4D6C-39274D9D706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9C513DA4-3252-A3A7-9101-FB5B5BD0B16C}"/>
              </a:ext>
            </a:extLst>
          </p:cNvPr>
          <p:cNvGraphicFramePr/>
          <p:nvPr>
            <p:extLst>
              <p:ext uri="{D42A27DB-BD31-4B8C-83A1-F6EECF244321}">
                <p14:modId xmlns:p14="http://schemas.microsoft.com/office/powerpoint/2010/main" val="424698305"/>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642CC63A-7F5A-64B5-73F5-E676F0B841CF}"/>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5DFC338D-B71A-489A-257C-C207962C8264}"/>
              </a:ext>
            </a:extLst>
          </p:cNvPr>
          <p:cNvSpPr>
            <a:spLocks noChangeArrowheads="1"/>
          </p:cNvSpPr>
          <p:nvPr/>
        </p:nvSpPr>
        <p:spPr bwMode="auto">
          <a:xfrm>
            <a:off x="558561" y="1902182"/>
            <a:ext cx="69723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chemeClr val="tx1">
                    <a:lumMod val="65000"/>
                    <a:lumOff val="35000"/>
                  </a:schemeClr>
                </a:solidFill>
                <a:latin typeface="Aptos ExtraBold" panose="020B0004020202020204" pitchFamily="34" charset="0"/>
              </a:rPr>
              <a:t>After completing data preprocessing and exploratory analysis, we developed and evaluated several machine learning models to predict weekly sales, our objective was to identify the most accurate and generalizable model to help optimize inventory, staffing, and marketing strategies.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lumMod val="65000"/>
                  <a:lumOff val="35000"/>
                </a:schemeClr>
              </a:solidFill>
              <a:latin typeface="Aptos ExtraBold"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rgbClr val="1869A6"/>
                </a:solidFill>
                <a:latin typeface="Aptos ExtraBold" panose="020B0004020202020204" pitchFamily="34" charset="0"/>
              </a:rPr>
              <a:t>Models Explored:</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Linear Regression </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Decision Tree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Random Forest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with Log-Transformed Target</a:t>
            </a:r>
          </a:p>
        </p:txBody>
      </p:sp>
      <p:sp>
        <p:nvSpPr>
          <p:cNvPr id="9" name="Google Shape;105;p1">
            <a:extLst>
              <a:ext uri="{FF2B5EF4-FFF2-40B4-BE49-F238E27FC236}">
                <a16:creationId xmlns:a16="http://schemas.microsoft.com/office/drawing/2014/main" id="{41BFD160-5F8F-B44D-D753-8B1E72C2FC6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20</a:t>
            </a:r>
            <a:endParaRPr lang="ar-EG" b="1" dirty="0"/>
          </a:p>
        </p:txBody>
      </p:sp>
    </p:spTree>
    <p:extLst>
      <p:ext uri="{BB962C8B-B14F-4D97-AF65-F5344CB8AC3E}">
        <p14:creationId xmlns:p14="http://schemas.microsoft.com/office/powerpoint/2010/main" val="2767960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501823-5689-8327-2663-6AB34DB000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416C87-3156-9566-C5B3-4B38D0533905}"/>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ABA8930-948D-170D-0572-F8C1F917EBA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75654C7-B576-1DC7-2B9D-D4CDB813CA6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dirty="0"/>
          </a:p>
        </p:txBody>
      </p:sp>
      <p:pic>
        <p:nvPicPr>
          <p:cNvPr id="110" name="Google Shape;110;p1" title="download.png">
            <a:extLst>
              <a:ext uri="{FF2B5EF4-FFF2-40B4-BE49-F238E27FC236}">
                <a16:creationId xmlns:a16="http://schemas.microsoft.com/office/drawing/2014/main" id="{25DB6FC7-9CDB-9BA9-3D17-57AE9E63D9D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76F86F9F-15C9-446C-CB68-9C8726EF1F5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98D21DD-39D8-6752-1E7F-46864985DFD3}"/>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B187D951-2553-4EE6-479F-B2F188E30AE0}"/>
              </a:ext>
            </a:extLst>
          </p:cNvPr>
          <p:cNvGraphicFramePr/>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AFD92767-B670-0B63-F5F0-3D49CF3E9799}"/>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254DFD2F-D4D5-2E4E-D2A6-DA6AB8DA5231}"/>
              </a:ext>
            </a:extLst>
          </p:cNvPr>
          <p:cNvSpPr>
            <a:spLocks noChangeArrowheads="1"/>
          </p:cNvSpPr>
          <p:nvPr/>
        </p:nvSpPr>
        <p:spPr bwMode="auto">
          <a:xfrm>
            <a:off x="558561" y="1902182"/>
            <a:ext cx="69723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chemeClr val="tx1">
                    <a:lumMod val="65000"/>
                    <a:lumOff val="35000"/>
                  </a:schemeClr>
                </a:solidFill>
                <a:latin typeface="Aptos ExtraBold" panose="020B0004020202020204" pitchFamily="34" charset="0"/>
              </a:rPr>
              <a:t>After completing data preprocessing and exploratory analysis, we developed and evaluated several machine learning models to predict weekly sales, our objective was to identify the most accurate and generalizable model to help optimize inventory, staffing, and marketing strategies.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lumMod val="65000"/>
                  <a:lumOff val="35000"/>
                </a:schemeClr>
              </a:solidFill>
              <a:latin typeface="Aptos ExtraBold"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rgbClr val="1869A6"/>
                </a:solidFill>
                <a:latin typeface="Aptos ExtraBold" panose="020B0004020202020204" pitchFamily="34" charset="0"/>
              </a:rPr>
              <a:t>Models Explored:</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Linear Regression </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Decision Tree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Random Forest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with Log-Transformed Target</a:t>
            </a:r>
          </a:p>
        </p:txBody>
      </p:sp>
      <p:sp>
        <p:nvSpPr>
          <p:cNvPr id="6" name="Google Shape;105;p1">
            <a:extLst>
              <a:ext uri="{FF2B5EF4-FFF2-40B4-BE49-F238E27FC236}">
                <a16:creationId xmlns:a16="http://schemas.microsoft.com/office/drawing/2014/main" id="{DC07C2E7-BF1C-F237-9E6E-35440B4EE9E2}"/>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21</a:t>
            </a:r>
            <a:endParaRPr lang="ar-EG" b="1" dirty="0"/>
          </a:p>
        </p:txBody>
      </p:sp>
    </p:spTree>
    <p:extLst>
      <p:ext uri="{BB962C8B-B14F-4D97-AF65-F5344CB8AC3E}">
        <p14:creationId xmlns:p14="http://schemas.microsoft.com/office/powerpoint/2010/main" val="1212490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DFC0D0-1445-D7C3-0644-384689146D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FE078F-4D2C-E2AC-92DC-EED556251744}"/>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A141C716-8321-7B79-93A8-C1F19A94CCD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C71AA56-4729-5340-2B4E-2FE9EA7250D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dirty="0"/>
          </a:p>
        </p:txBody>
      </p:sp>
      <p:pic>
        <p:nvPicPr>
          <p:cNvPr id="110" name="Google Shape;110;p1" title="download.png">
            <a:extLst>
              <a:ext uri="{FF2B5EF4-FFF2-40B4-BE49-F238E27FC236}">
                <a16:creationId xmlns:a16="http://schemas.microsoft.com/office/drawing/2014/main" id="{9DDE9CD2-8B8D-245A-F42C-FCCF58022A56}"/>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C2B23BD9-052D-DD14-7F67-E7B12309A182}"/>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92A2040F-123F-A965-B967-6CEB9804599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46632038-5FF8-3023-8052-AE707097682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3C340273-E38A-3385-0456-A90278FA0FF6}"/>
              </a:ext>
            </a:extLst>
          </p:cNvPr>
          <p:cNvSpPr>
            <a:spLocks noChangeArrowheads="1"/>
          </p:cNvSpPr>
          <p:nvPr/>
        </p:nvSpPr>
        <p:spPr bwMode="auto">
          <a:xfrm>
            <a:off x="420914" y="1857412"/>
            <a:ext cx="786182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1.Linear Regression:</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Features used: </a:t>
            </a:r>
            <a:r>
              <a:rPr lang="en-US" altLang="en-US" sz="2000" dirty="0">
                <a:solidFill>
                  <a:schemeClr val="tx1">
                    <a:lumMod val="65000"/>
                    <a:lumOff val="35000"/>
                  </a:schemeClr>
                </a:solidFill>
                <a:latin typeface="Aptos ExtraBold" panose="020B0004020202020204" pitchFamily="34" charset="0"/>
              </a:rPr>
              <a:t>Store, Dept, Temperature, </a:t>
            </a:r>
            <a:r>
              <a:rPr lang="en-US" altLang="en-US" sz="2000" dirty="0" err="1">
                <a:solidFill>
                  <a:schemeClr val="tx1">
                    <a:lumMod val="65000"/>
                    <a:lumOff val="35000"/>
                  </a:schemeClr>
                </a:solidFill>
                <a:latin typeface="Aptos ExtraBold" panose="020B0004020202020204" pitchFamily="34" charset="0"/>
              </a:rPr>
              <a:t>Fuel_Price</a:t>
            </a:r>
            <a:r>
              <a:rPr lang="en-US" altLang="en-US" sz="2000" dirty="0">
                <a:solidFill>
                  <a:schemeClr val="tx1">
                    <a:lumMod val="65000"/>
                    <a:lumOff val="35000"/>
                  </a:schemeClr>
                </a:solidFill>
                <a:latin typeface="Aptos ExtraBold" panose="020B0004020202020204" pitchFamily="34" charset="0"/>
              </a:rPr>
              <a:t>, CPI, Unemployment, </a:t>
            </a:r>
            <a:r>
              <a:rPr lang="en-US" altLang="en-US" sz="2000" dirty="0" err="1">
                <a:solidFill>
                  <a:schemeClr val="tx1">
                    <a:lumMod val="65000"/>
                    <a:lumOff val="35000"/>
                  </a:schemeClr>
                </a:solidFill>
                <a:latin typeface="Aptos ExtraBold" panose="020B0004020202020204" pitchFamily="34" charset="0"/>
              </a:rPr>
              <a:t>IsHoliday</a:t>
            </a:r>
            <a:endParaRPr lang="en-US" altLang="en-US" sz="2000" dirty="0">
              <a:solidFill>
                <a:schemeClr val="tx1">
                  <a:lumMod val="65000"/>
                  <a:lumOff val="35000"/>
                </a:schemeClr>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Target:</a:t>
            </a:r>
            <a:r>
              <a:rPr lang="en-US" altLang="en-US" sz="2000" dirty="0">
                <a:solidFill>
                  <a:schemeClr val="tx1">
                    <a:lumMod val="65000"/>
                    <a:lumOff val="35000"/>
                  </a:schemeClr>
                </a:solidFill>
                <a:latin typeface="Aptos ExtraBold" panose="020B0004020202020204" pitchFamily="34" charset="0"/>
              </a:rPr>
              <a:t> Weekly Sales Data </a:t>
            </a: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Processing:</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Train-Test split: 80% – 20%</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Standardized features</a:t>
            </a:r>
          </a:p>
          <a:p>
            <a:pPr lvl="2" eaLnBrk="0" fontAlgn="base" hangingPunct="0">
              <a:spcBef>
                <a:spcPct val="0"/>
              </a:spcBef>
              <a:spcAft>
                <a:spcPct val="0"/>
              </a:spcAft>
              <a:buClrTx/>
            </a:pPr>
            <a:endParaRPr lang="en-US" altLang="en-US" sz="2000" dirty="0">
              <a:solidFill>
                <a:schemeClr val="tx1">
                  <a:lumMod val="65000"/>
                  <a:lumOff val="35000"/>
                </a:schemeClr>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Model explains ~42.7% of the variance in test data.</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Good start but shows underfitting – fails to capture complex, non-linear trends.</a:t>
            </a:r>
          </a:p>
        </p:txBody>
      </p:sp>
      <p:graphicFrame>
        <p:nvGraphicFramePr>
          <p:cNvPr id="6" name="Table 5">
            <a:extLst>
              <a:ext uri="{FF2B5EF4-FFF2-40B4-BE49-F238E27FC236}">
                <a16:creationId xmlns:a16="http://schemas.microsoft.com/office/drawing/2014/main" id="{4652DC83-2A6F-889E-75DC-58CD2F61746F}"/>
              </a:ext>
            </a:extLst>
          </p:cNvPr>
          <p:cNvGraphicFramePr>
            <a:graphicFrameLocks noGrp="1"/>
          </p:cNvGraphicFramePr>
          <p:nvPr>
            <p:extLst>
              <p:ext uri="{D42A27DB-BD31-4B8C-83A1-F6EECF244321}">
                <p14:modId xmlns:p14="http://schemas.microsoft.com/office/powerpoint/2010/main" val="2623966024"/>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1.00</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179.2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32,111.44</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129.65</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D3FB09B7-5892-7049-6595-68D92C843205}"/>
              </a:ext>
            </a:extLst>
          </p:cNvPr>
          <p:cNvGraphicFramePr>
            <a:graphicFrameLocks noGrp="1"/>
          </p:cNvGraphicFramePr>
          <p:nvPr>
            <p:extLst>
              <p:ext uri="{D42A27DB-BD31-4B8C-83A1-F6EECF244321}">
                <p14:modId xmlns:p14="http://schemas.microsoft.com/office/powerpoint/2010/main" val="1822950500"/>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0.0478</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0.427</a:t>
                      </a:r>
                      <a:endParaRPr lang="en-US" b="1" dirty="0"/>
                    </a:p>
                  </a:txBody>
                  <a:tcPr anchor="ctr"/>
                </a:tc>
                <a:extLst>
                  <a:ext uri="{0D108BD9-81ED-4DB2-BD59-A6C34878D82A}">
                    <a16:rowId xmlns:a16="http://schemas.microsoft.com/office/drawing/2014/main" val="2137564356"/>
                  </a:ext>
                </a:extLst>
              </a:tr>
            </a:tbl>
          </a:graphicData>
        </a:graphic>
      </p:graphicFrame>
      <p:sp>
        <p:nvSpPr>
          <p:cNvPr id="11" name="Google Shape;105;p1">
            <a:extLst>
              <a:ext uri="{FF2B5EF4-FFF2-40B4-BE49-F238E27FC236}">
                <a16:creationId xmlns:a16="http://schemas.microsoft.com/office/drawing/2014/main" id="{FCE4D479-57F8-265B-8110-CC5F37281A9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22</a:t>
            </a:r>
            <a:endParaRPr lang="ar-EG" b="1" dirty="0"/>
          </a:p>
        </p:txBody>
      </p:sp>
    </p:spTree>
    <p:extLst>
      <p:ext uri="{BB962C8B-B14F-4D97-AF65-F5344CB8AC3E}">
        <p14:creationId xmlns:p14="http://schemas.microsoft.com/office/powerpoint/2010/main" val="3220118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F5F0F25-5729-CA07-00E7-92011C51CF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8A23BE-2B11-FF10-5AAE-ABCF669B80A7}"/>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0F397DF7-7102-C958-1FE3-5EF3BF1CAA2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6B2A498-C19D-7F6B-735A-A30CC9D6D6B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dirty="0"/>
          </a:p>
        </p:txBody>
      </p:sp>
      <p:pic>
        <p:nvPicPr>
          <p:cNvPr id="110" name="Google Shape;110;p1" title="download.png">
            <a:extLst>
              <a:ext uri="{FF2B5EF4-FFF2-40B4-BE49-F238E27FC236}">
                <a16:creationId xmlns:a16="http://schemas.microsoft.com/office/drawing/2014/main" id="{8A69F4C0-26C8-B863-FB03-44B4CEC00D1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87B002F6-158A-DE17-8928-EF98179C4020}"/>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07BDB0C-6F42-55AF-BED4-F9535D64478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F0011D61-BD10-444E-3CB8-B700F4D004EE}"/>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186703E5-0A8B-2BBB-71F9-86FE22905190}"/>
              </a:ext>
            </a:extLst>
          </p:cNvPr>
          <p:cNvSpPr>
            <a:spLocks noChangeArrowheads="1"/>
          </p:cNvSpPr>
          <p:nvPr/>
        </p:nvSpPr>
        <p:spPr bwMode="auto">
          <a:xfrm>
            <a:off x="420914" y="2011300"/>
            <a:ext cx="786182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2. Decision Tree Regressor:</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Features used: </a:t>
            </a:r>
            <a:r>
              <a:rPr lang="en-US" altLang="en-US" sz="2000" dirty="0">
                <a:solidFill>
                  <a:schemeClr val="tx1">
                    <a:lumMod val="65000"/>
                    <a:lumOff val="35000"/>
                  </a:schemeClr>
                </a:solidFill>
                <a:latin typeface="Aptos ExtraBold" panose="020B0004020202020204" pitchFamily="34" charset="0"/>
              </a:rPr>
              <a:t>Store, Dept, Temperature, </a:t>
            </a:r>
            <a:r>
              <a:rPr lang="en-US" altLang="en-US" sz="2000" dirty="0" err="1">
                <a:solidFill>
                  <a:schemeClr val="tx1">
                    <a:lumMod val="65000"/>
                    <a:lumOff val="35000"/>
                  </a:schemeClr>
                </a:solidFill>
                <a:latin typeface="Aptos ExtraBold" panose="020B0004020202020204" pitchFamily="34" charset="0"/>
              </a:rPr>
              <a:t>Fuel_Price</a:t>
            </a:r>
            <a:r>
              <a:rPr lang="en-US" altLang="en-US" sz="2000" dirty="0">
                <a:solidFill>
                  <a:schemeClr val="tx1">
                    <a:lumMod val="65000"/>
                    <a:lumOff val="35000"/>
                  </a:schemeClr>
                </a:solidFill>
                <a:latin typeface="Aptos ExtraBold" panose="020B0004020202020204" pitchFamily="34" charset="0"/>
              </a:rPr>
              <a:t>, CPI, Unemployment, </a:t>
            </a:r>
            <a:r>
              <a:rPr lang="en-US" altLang="en-US" sz="2000" dirty="0" err="1">
                <a:solidFill>
                  <a:schemeClr val="tx1">
                    <a:lumMod val="65000"/>
                    <a:lumOff val="35000"/>
                  </a:schemeClr>
                </a:solidFill>
                <a:latin typeface="Aptos ExtraBold" panose="020B0004020202020204" pitchFamily="34" charset="0"/>
              </a:rPr>
              <a:t>IsHoliday</a:t>
            </a:r>
            <a:endParaRPr lang="en-US" altLang="en-US" sz="2000" dirty="0">
              <a:solidFill>
                <a:schemeClr val="tx1">
                  <a:lumMod val="65000"/>
                  <a:lumOff val="35000"/>
                </a:schemeClr>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Target:</a:t>
            </a:r>
            <a:r>
              <a:rPr lang="en-US" altLang="en-US" sz="2000" dirty="0">
                <a:solidFill>
                  <a:schemeClr val="tx1">
                    <a:lumMod val="65000"/>
                    <a:lumOff val="35000"/>
                  </a:schemeClr>
                </a:solidFill>
                <a:latin typeface="Aptos ExtraBold" panose="020B0004020202020204" pitchFamily="34" charset="0"/>
              </a:rPr>
              <a:t> Weekly Sales Data </a:t>
            </a: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Processing:</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Random state set to ensure reproducibility.</a:t>
            </a:r>
          </a:p>
          <a:p>
            <a:pPr lvl="2" eaLnBrk="0" fontAlgn="base" hangingPunct="0">
              <a:spcBef>
                <a:spcPct val="0"/>
              </a:spcBef>
              <a:spcAft>
                <a:spcPct val="0"/>
              </a:spcAft>
              <a:buClrTx/>
            </a:pPr>
            <a:endParaRPr lang="en-US" altLang="en-US" sz="2000" dirty="0">
              <a:solidFill>
                <a:schemeClr val="tx1">
                  <a:lumMod val="65000"/>
                  <a:lumOff val="35000"/>
                </a:schemeClr>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Better performance than Linear Regression.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Captures more complex relationships.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High train R² indicates possible overfitting.</a:t>
            </a:r>
          </a:p>
        </p:txBody>
      </p:sp>
      <p:graphicFrame>
        <p:nvGraphicFramePr>
          <p:cNvPr id="6" name="Table 5">
            <a:extLst>
              <a:ext uri="{FF2B5EF4-FFF2-40B4-BE49-F238E27FC236}">
                <a16:creationId xmlns:a16="http://schemas.microsoft.com/office/drawing/2014/main" id="{FFFB6148-48F9-E152-A505-050B0EAAD84B}"/>
              </a:ext>
            </a:extLst>
          </p:cNvPr>
          <p:cNvGraphicFramePr>
            <a:graphicFrameLocks noGrp="1"/>
          </p:cNvGraphicFramePr>
          <p:nvPr>
            <p:extLst>
              <p:ext uri="{D42A27DB-BD31-4B8C-83A1-F6EECF244321}">
                <p14:modId xmlns:p14="http://schemas.microsoft.com/office/powerpoint/2010/main" val="536028493"/>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0.62</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165.25</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27,307.89</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101.26</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E3E2AAAE-974C-D1B4-823C-56878118FEF2}"/>
              </a:ext>
            </a:extLst>
          </p:cNvPr>
          <p:cNvGraphicFramePr>
            <a:graphicFrameLocks noGrp="1"/>
          </p:cNvGraphicFramePr>
          <p:nvPr>
            <p:extLst>
              <p:ext uri="{D42A27DB-BD31-4B8C-83A1-F6EECF244321}">
                <p14:modId xmlns:p14="http://schemas.microsoft.com/office/powerpoint/2010/main" val="2277679307"/>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b="1" dirty="0"/>
                        <a:t>1.000</a:t>
                      </a:r>
                      <a:r>
                        <a:rPr lang="en-US" dirty="0"/>
                        <a:t> </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0.513</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850E0514-7DEA-0F79-B1A2-0F3F422B6C9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23</a:t>
            </a:r>
            <a:endParaRPr lang="ar-EG" b="1" dirty="0"/>
          </a:p>
        </p:txBody>
      </p:sp>
    </p:spTree>
    <p:extLst>
      <p:ext uri="{BB962C8B-B14F-4D97-AF65-F5344CB8AC3E}">
        <p14:creationId xmlns:p14="http://schemas.microsoft.com/office/powerpoint/2010/main" val="2148706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4C5926-943B-39FA-3DC1-7F29722370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7C804E-166B-85F4-26A4-5D06F8E703DA}"/>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5F00B92-3DCA-1F31-B295-7324C9E5D058}"/>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CA06A1C9-86EB-E77B-5BE8-FF097171B6B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dirty="0"/>
          </a:p>
        </p:txBody>
      </p:sp>
      <p:pic>
        <p:nvPicPr>
          <p:cNvPr id="110" name="Google Shape;110;p1" title="download.png">
            <a:extLst>
              <a:ext uri="{FF2B5EF4-FFF2-40B4-BE49-F238E27FC236}">
                <a16:creationId xmlns:a16="http://schemas.microsoft.com/office/drawing/2014/main" id="{588135D0-0B12-0947-334B-6652AC1DD5B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1AFE9FB2-63DA-C950-06FD-E82D984BF152}"/>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F5B0471-DD35-DB9E-FF10-9E46D6E57395}"/>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8DBAF73F-C6CB-B82B-29CF-0333F670EA2C}"/>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483E5105-308C-9E3C-009F-38D8CAB3718C}"/>
              </a:ext>
            </a:extLst>
          </p:cNvPr>
          <p:cNvSpPr>
            <a:spLocks noChangeArrowheads="1"/>
          </p:cNvSpPr>
          <p:nvPr/>
        </p:nvSpPr>
        <p:spPr bwMode="auto">
          <a:xfrm>
            <a:off x="420914" y="1988424"/>
            <a:ext cx="7861824"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3. Random Forest:</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Hyperparameters: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n_estimators</a:t>
            </a:r>
            <a:r>
              <a:rPr lang="en-US" altLang="en-US" sz="2000" dirty="0">
                <a:solidFill>
                  <a:schemeClr val="tx1">
                    <a:lumMod val="65000"/>
                    <a:lumOff val="35000"/>
                  </a:schemeClr>
                </a:solidFill>
                <a:latin typeface="Aptos ExtraBold" panose="020B0004020202020204" pitchFamily="34" charset="0"/>
              </a:rPr>
              <a:t> = 100</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min_samples_leaf</a:t>
            </a:r>
            <a:r>
              <a:rPr lang="en-US" altLang="en-US" sz="2000" dirty="0">
                <a:solidFill>
                  <a:schemeClr val="tx1">
                    <a:lumMod val="65000"/>
                    <a:lumOff val="35000"/>
                  </a:schemeClr>
                </a:solidFill>
                <a:latin typeface="Aptos ExtraBold" panose="020B0004020202020204" pitchFamily="34" charset="0"/>
              </a:rPr>
              <a:t> = 5</a:t>
            </a:r>
            <a:br>
              <a:rPr lang="en-US" altLang="en-US" sz="2000" dirty="0">
                <a:solidFill>
                  <a:schemeClr val="tx1">
                    <a:lumMod val="65000"/>
                    <a:lumOff val="35000"/>
                  </a:schemeClr>
                </a:solidFill>
                <a:latin typeface="Aptos ExtraBold" panose="020B0004020202020204" pitchFamily="34" charset="0"/>
              </a:rPr>
            </a:b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max_depth</a:t>
            </a:r>
            <a:r>
              <a:rPr lang="en-US" altLang="en-US" sz="2000" dirty="0">
                <a:solidFill>
                  <a:schemeClr val="tx1">
                    <a:lumMod val="65000"/>
                    <a:lumOff val="35000"/>
                  </a:schemeClr>
                </a:solidFill>
                <a:latin typeface="Aptos ExtraBold" panose="020B0004020202020204" pitchFamily="34" charset="0"/>
              </a:rPr>
              <a:t> = None</a:t>
            </a:r>
          </a:p>
          <a:p>
            <a:pPr lvl="2" eaLnBrk="0" fontAlgn="base" hangingPunct="0">
              <a:spcBef>
                <a:spcPct val="0"/>
              </a:spcBef>
              <a:spcAft>
                <a:spcPct val="0"/>
              </a:spcAft>
              <a:buClrTx/>
            </a:pP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Strong generalization (less overfitting than Decision Tree).</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RMSE is only ~52.7% of average weekly sales (241.83).</a:t>
            </a:r>
          </a:p>
        </p:txBody>
      </p:sp>
      <p:graphicFrame>
        <p:nvGraphicFramePr>
          <p:cNvPr id="6" name="Table 5">
            <a:extLst>
              <a:ext uri="{FF2B5EF4-FFF2-40B4-BE49-F238E27FC236}">
                <a16:creationId xmlns:a16="http://schemas.microsoft.com/office/drawing/2014/main" id="{314247A8-7DB1-5D77-1E35-8D6EF945375F}"/>
              </a:ext>
            </a:extLst>
          </p:cNvPr>
          <p:cNvGraphicFramePr>
            <a:graphicFrameLocks noGrp="1"/>
          </p:cNvGraphicFramePr>
          <p:nvPr>
            <p:extLst>
              <p:ext uri="{D42A27DB-BD31-4B8C-83A1-F6EECF244321}">
                <p14:modId xmlns:p14="http://schemas.microsoft.com/office/powerpoint/2010/main" val="3936645405"/>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0.54</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127.42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16,235.72</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79.87</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2A6BF361-F4A4-E5DD-BF1A-6FC49D77B2B6}"/>
              </a:ext>
            </a:extLst>
          </p:cNvPr>
          <p:cNvGraphicFramePr>
            <a:graphicFrameLocks noGrp="1"/>
          </p:cNvGraphicFramePr>
          <p:nvPr>
            <p:extLst>
              <p:ext uri="{D42A27DB-BD31-4B8C-83A1-F6EECF244321}">
                <p14:modId xmlns:p14="http://schemas.microsoft.com/office/powerpoint/2010/main" val="3339729125"/>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0.88 </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0.71</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AC9AA22E-B69F-C3D2-539B-B72F27AB674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24</a:t>
            </a:r>
            <a:endParaRPr lang="ar-EG" b="1" dirty="0"/>
          </a:p>
        </p:txBody>
      </p:sp>
    </p:spTree>
    <p:extLst>
      <p:ext uri="{BB962C8B-B14F-4D97-AF65-F5344CB8AC3E}">
        <p14:creationId xmlns:p14="http://schemas.microsoft.com/office/powerpoint/2010/main" val="893021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F5BD1B-6AA9-139C-6421-A3CD159ED6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E7A9FC-83FF-0116-8D6F-9A2DAF526BC2}"/>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C10E072C-F25C-7074-BFF1-D928A186C03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FF6D09F-698B-A517-A42C-1FA51A984616}"/>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dirty="0"/>
          </a:p>
        </p:txBody>
      </p:sp>
      <p:pic>
        <p:nvPicPr>
          <p:cNvPr id="110" name="Google Shape;110;p1" title="download.png">
            <a:extLst>
              <a:ext uri="{FF2B5EF4-FFF2-40B4-BE49-F238E27FC236}">
                <a16:creationId xmlns:a16="http://schemas.microsoft.com/office/drawing/2014/main" id="{50E652AC-9220-0103-5CEB-C87D2F3E4F89}"/>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E8E859D9-5E16-DBDE-E52D-8B68441D668F}"/>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79F9088-7D61-98FA-9DD1-7692135AF45C}"/>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F1CE359-E8FA-D97F-0411-8EB75CC9212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4875FB1B-5CE6-2DB8-3CBA-4F11EEE35E7E}"/>
              </a:ext>
            </a:extLst>
          </p:cNvPr>
          <p:cNvSpPr>
            <a:spLocks noChangeArrowheads="1"/>
          </p:cNvSpPr>
          <p:nvPr/>
        </p:nvSpPr>
        <p:spPr bwMode="auto">
          <a:xfrm>
            <a:off x="420914" y="1834536"/>
            <a:ext cx="7861824"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4. </a:t>
            </a:r>
            <a:r>
              <a:rPr lang="en-US" altLang="en-US" sz="2400" b="1" dirty="0" err="1">
                <a:solidFill>
                  <a:srgbClr val="1869A6"/>
                </a:solidFill>
                <a:latin typeface="Aptos ExtraBold" panose="020B0004020202020204" pitchFamily="34" charset="0"/>
              </a:rPr>
              <a:t>XGBoost</a:t>
            </a:r>
            <a:r>
              <a:rPr lang="en-US" altLang="en-US" sz="2400" b="1" dirty="0">
                <a:solidFill>
                  <a:srgbClr val="1869A6"/>
                </a:solidFill>
                <a:latin typeface="Aptos ExtraBold" panose="020B0004020202020204" pitchFamily="34" charset="0"/>
              </a:rPr>
              <a:t>:</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Hyperparameters: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n_estimators</a:t>
            </a:r>
            <a:r>
              <a:rPr lang="en-US" altLang="en-US" sz="2000" dirty="0">
                <a:solidFill>
                  <a:schemeClr val="tx1">
                    <a:lumMod val="65000"/>
                    <a:lumOff val="35000"/>
                  </a:schemeClr>
                </a:solidFill>
                <a:latin typeface="Aptos ExtraBold" panose="020B0004020202020204" pitchFamily="34" charset="0"/>
              </a:rPr>
              <a:t> = 100</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learning_rate</a:t>
            </a:r>
            <a:r>
              <a:rPr lang="en-US" altLang="en-US" sz="2000" dirty="0">
                <a:solidFill>
                  <a:schemeClr val="tx1">
                    <a:lumMod val="65000"/>
                    <a:lumOff val="35000"/>
                  </a:schemeClr>
                </a:solidFill>
                <a:latin typeface="Aptos ExtraBold" panose="020B0004020202020204" pitchFamily="34" charset="0"/>
              </a:rPr>
              <a:t> = 0.1</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max_depth</a:t>
            </a:r>
            <a:r>
              <a:rPr lang="en-US" altLang="en-US" sz="2000" dirty="0">
                <a:solidFill>
                  <a:schemeClr val="tx1">
                    <a:lumMod val="65000"/>
                    <a:lumOff val="35000"/>
                  </a:schemeClr>
                </a:solidFill>
                <a:latin typeface="Aptos ExtraBold" panose="020B0004020202020204" pitchFamily="34" charset="0"/>
              </a:rPr>
              <a:t> = 6</a:t>
            </a:r>
          </a:p>
          <a:p>
            <a:pPr lvl="2" eaLnBrk="0" fontAlgn="base" hangingPunct="0">
              <a:spcBef>
                <a:spcPct val="0"/>
              </a:spcBef>
              <a:spcAft>
                <a:spcPct val="0"/>
              </a:spcAft>
              <a:buClrTx/>
            </a:pP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Excellent training fit and strong generalization.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RMSE is ~53.3% of average weekly sales.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Fast training with great accuracy</a:t>
            </a:r>
          </a:p>
        </p:txBody>
      </p:sp>
      <p:graphicFrame>
        <p:nvGraphicFramePr>
          <p:cNvPr id="6" name="Table 5">
            <a:extLst>
              <a:ext uri="{FF2B5EF4-FFF2-40B4-BE49-F238E27FC236}">
                <a16:creationId xmlns:a16="http://schemas.microsoft.com/office/drawing/2014/main" id="{E1F12A21-D1A0-87B8-0579-D3DFBABF1A7B}"/>
              </a:ext>
            </a:extLst>
          </p:cNvPr>
          <p:cNvGraphicFramePr>
            <a:graphicFrameLocks noGrp="1"/>
          </p:cNvGraphicFramePr>
          <p:nvPr>
            <p:extLst>
              <p:ext uri="{D42A27DB-BD31-4B8C-83A1-F6EECF244321}">
                <p14:modId xmlns:p14="http://schemas.microsoft.com/office/powerpoint/2010/main" val="2844000897"/>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0.55</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128.84</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16,599.59</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80.31</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5EEDC0E3-497B-767F-2CB9-0737C5FD4287}"/>
              </a:ext>
            </a:extLst>
          </p:cNvPr>
          <p:cNvGraphicFramePr>
            <a:graphicFrameLocks noGrp="1"/>
          </p:cNvGraphicFramePr>
          <p:nvPr>
            <p:extLst>
              <p:ext uri="{D42A27DB-BD31-4B8C-83A1-F6EECF244321}">
                <p14:modId xmlns:p14="http://schemas.microsoft.com/office/powerpoint/2010/main" val="3731033426"/>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0.97</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0.70</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024D236D-D78E-DC77-C511-B2ABF214837A}"/>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25</a:t>
            </a:r>
            <a:endParaRPr lang="ar-EG" b="1" dirty="0"/>
          </a:p>
        </p:txBody>
      </p:sp>
    </p:spTree>
    <p:extLst>
      <p:ext uri="{BB962C8B-B14F-4D97-AF65-F5344CB8AC3E}">
        <p14:creationId xmlns:p14="http://schemas.microsoft.com/office/powerpoint/2010/main" val="3046593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DEA40E5-C0E9-1610-2389-9FDAA0F913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CA6B5A-F550-CCA5-E24E-30BB6E8EF453}"/>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6741670-0FEB-82AF-09C6-969B484FDBC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672FFF3-D1FE-3874-C461-C20351A75667}"/>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dirty="0"/>
          </a:p>
        </p:txBody>
      </p:sp>
      <p:pic>
        <p:nvPicPr>
          <p:cNvPr id="110" name="Google Shape;110;p1" title="download.png">
            <a:extLst>
              <a:ext uri="{FF2B5EF4-FFF2-40B4-BE49-F238E27FC236}">
                <a16:creationId xmlns:a16="http://schemas.microsoft.com/office/drawing/2014/main" id="{B54CCA1D-D889-D86E-BB45-49920755802C}"/>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5B5E1F57-23CB-111F-9CBB-4F83B062CCA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0336FD0-980F-A7AA-B45E-48DBAB9D9AC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A23F336A-5591-6B04-3F8A-7F541B56D58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25EB68D8-1458-FCE4-0952-C94B568F5979}"/>
              </a:ext>
            </a:extLst>
          </p:cNvPr>
          <p:cNvSpPr>
            <a:spLocks noChangeArrowheads="1"/>
          </p:cNvSpPr>
          <p:nvPr/>
        </p:nvSpPr>
        <p:spPr bwMode="auto">
          <a:xfrm>
            <a:off x="420914" y="1865315"/>
            <a:ext cx="7861824"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a:solidFill>
                  <a:srgbClr val="1869A6"/>
                </a:solidFill>
                <a:latin typeface="Aptos ExtraBold" panose="020B0004020202020204" pitchFamily="34" charset="0"/>
              </a:rPr>
              <a:t>5. </a:t>
            </a:r>
            <a:r>
              <a:rPr lang="en-US" altLang="en-US" sz="2400" b="1" dirty="0" err="1">
                <a:solidFill>
                  <a:srgbClr val="1869A6"/>
                </a:solidFill>
                <a:latin typeface="Aptos ExtraBold" panose="020B0004020202020204" pitchFamily="34" charset="0"/>
              </a:rPr>
              <a:t>XGBoost</a:t>
            </a:r>
            <a:r>
              <a:rPr lang="en-US" altLang="en-US" sz="2400" b="1" dirty="0">
                <a:solidFill>
                  <a:srgbClr val="1869A6"/>
                </a:solidFill>
                <a:latin typeface="Aptos ExtraBold" panose="020B0004020202020204" pitchFamily="34" charset="0"/>
              </a:rPr>
              <a:t> </a:t>
            </a:r>
            <a:r>
              <a:rPr lang="en-US" sz="2400" b="1" dirty="0">
                <a:solidFill>
                  <a:srgbClr val="1869A6"/>
                </a:solidFill>
                <a:latin typeface="Aptos ExtraBold" panose="020B0004020202020204" pitchFamily="34" charset="0"/>
              </a:rPr>
              <a:t>with Log-Transformed Target</a:t>
            </a:r>
            <a:r>
              <a:rPr lang="en-US" altLang="en-US" sz="2400" b="1" dirty="0">
                <a:solidFill>
                  <a:srgbClr val="1869A6"/>
                </a:solidFill>
                <a:latin typeface="Aptos ExtraBold" panose="020B0004020202020204" pitchFamily="34" charset="0"/>
              </a:rPr>
              <a:t> :</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Why Log Transformation?</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a:t>
            </a:r>
            <a:r>
              <a:rPr lang="en-US" altLang="en-US" sz="2000" dirty="0">
                <a:solidFill>
                  <a:schemeClr val="tx1"/>
                </a:solidFill>
                <a:latin typeface="Aptos ExtraBold" panose="020B0004020202020204" pitchFamily="34" charset="0"/>
              </a:rPr>
              <a:t> </a:t>
            </a:r>
            <a:r>
              <a:rPr lang="en-US" sz="2000" dirty="0">
                <a:solidFill>
                  <a:schemeClr val="tx1">
                    <a:lumMod val="65000"/>
                    <a:lumOff val="35000"/>
                  </a:schemeClr>
                </a:solidFill>
                <a:latin typeface="Aptos ExtraBold" panose="020B0004020202020204" pitchFamily="34" charset="0"/>
              </a:rPr>
              <a:t>Sales data is skewed with extreme high values.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Log transformation (log1p) stabilizes variance and reduces impact of outliers.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a:t>
            </a: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Highest test R² across all models.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RMSLE is the lowest overall.</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Indicates improved generalization and smoother predictions.</a:t>
            </a:r>
          </a:p>
        </p:txBody>
      </p:sp>
      <p:graphicFrame>
        <p:nvGraphicFramePr>
          <p:cNvPr id="6" name="Table 5">
            <a:extLst>
              <a:ext uri="{FF2B5EF4-FFF2-40B4-BE49-F238E27FC236}">
                <a16:creationId xmlns:a16="http://schemas.microsoft.com/office/drawing/2014/main" id="{59FBEF10-4B8E-5005-155F-BCDD30C48318}"/>
              </a:ext>
            </a:extLst>
          </p:cNvPr>
          <p:cNvGraphicFramePr>
            <a:graphicFrameLocks noGrp="1"/>
          </p:cNvGraphicFramePr>
          <p:nvPr>
            <p:extLst>
              <p:ext uri="{D42A27DB-BD31-4B8C-83A1-F6EECF244321}">
                <p14:modId xmlns:p14="http://schemas.microsoft.com/office/powerpoint/2010/main" val="3215435890"/>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0.48</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132.2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17,477.38</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77.32</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85F507FC-C878-5882-D2BB-5A23E02C65D3}"/>
              </a:ext>
            </a:extLst>
          </p:cNvPr>
          <p:cNvGraphicFramePr>
            <a:graphicFrameLocks noGrp="1"/>
          </p:cNvGraphicFramePr>
          <p:nvPr>
            <p:extLst>
              <p:ext uri="{D42A27DB-BD31-4B8C-83A1-F6EECF244321}">
                <p14:modId xmlns:p14="http://schemas.microsoft.com/office/powerpoint/2010/main" val="1224507209"/>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0.97</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0.87</a:t>
                      </a:r>
                      <a:endParaRPr lang="en-US" b="1" dirty="0"/>
                    </a:p>
                  </a:txBody>
                  <a:tcPr anchor="ctr"/>
                </a:tc>
                <a:extLst>
                  <a:ext uri="{0D108BD9-81ED-4DB2-BD59-A6C34878D82A}">
                    <a16:rowId xmlns:a16="http://schemas.microsoft.com/office/drawing/2014/main" val="2137564356"/>
                  </a:ext>
                </a:extLst>
              </a:tr>
            </a:tbl>
          </a:graphicData>
        </a:graphic>
      </p:graphicFrame>
      <p:sp>
        <p:nvSpPr>
          <p:cNvPr id="10" name="Google Shape;105;p1">
            <a:extLst>
              <a:ext uri="{FF2B5EF4-FFF2-40B4-BE49-F238E27FC236}">
                <a16:creationId xmlns:a16="http://schemas.microsoft.com/office/drawing/2014/main" id="{ABA66195-3A1F-A3CB-DD0F-058C7A882842}"/>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26</a:t>
            </a:r>
            <a:endParaRPr lang="ar-EG" b="1" dirty="0"/>
          </a:p>
        </p:txBody>
      </p:sp>
    </p:spTree>
    <p:extLst>
      <p:ext uri="{BB962C8B-B14F-4D97-AF65-F5344CB8AC3E}">
        <p14:creationId xmlns:p14="http://schemas.microsoft.com/office/powerpoint/2010/main" val="325622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75DC1DE-57C5-664A-E1C5-B98E67B7DF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4E387B-DAAC-F6E9-7865-2489DE9AF965}"/>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6BD00B5-9969-4CAC-0218-0815C65D4F2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61DD503F-1B67-7B27-847D-7D0B01188E8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dirty="0"/>
          </a:p>
        </p:txBody>
      </p:sp>
      <p:pic>
        <p:nvPicPr>
          <p:cNvPr id="110" name="Google Shape;110;p1" title="download.png">
            <a:extLst>
              <a:ext uri="{FF2B5EF4-FFF2-40B4-BE49-F238E27FC236}">
                <a16:creationId xmlns:a16="http://schemas.microsoft.com/office/drawing/2014/main" id="{26C12B04-2FB4-C2C5-0E9A-0D61D4AEB612}"/>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5AC9BDC-8B63-3D41-1447-5D548D1E1B9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E2343AE-981D-F50F-A715-73646FCFC6E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CFDFF2DD-5548-1AD7-1033-A796EACC0CBC}"/>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“Cross Validation”</a:t>
            </a:r>
          </a:p>
        </p:txBody>
      </p:sp>
      <p:sp>
        <p:nvSpPr>
          <p:cNvPr id="3" name="Google Shape;105;p1">
            <a:extLst>
              <a:ext uri="{FF2B5EF4-FFF2-40B4-BE49-F238E27FC236}">
                <a16:creationId xmlns:a16="http://schemas.microsoft.com/office/drawing/2014/main" id="{5CDDE745-ADC9-E248-E848-88D7A16638D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27</a:t>
            </a:r>
            <a:endParaRPr lang="ar-EG" b="1" dirty="0"/>
          </a:p>
        </p:txBody>
      </p:sp>
    </p:spTree>
    <p:extLst>
      <p:ext uri="{BB962C8B-B14F-4D97-AF65-F5344CB8AC3E}">
        <p14:creationId xmlns:p14="http://schemas.microsoft.com/office/powerpoint/2010/main" val="4212774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AB7F14-0FD9-5B18-E1DD-B84FFA465F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A8AE24-784C-EC16-95E6-9FDF5D00BA8F}"/>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95D6E836-D142-F10F-87B3-65D2EF727725}"/>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6E7A244F-2050-EFEC-4132-A6429B7291AE}"/>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dirty="0"/>
          </a:p>
        </p:txBody>
      </p:sp>
      <p:pic>
        <p:nvPicPr>
          <p:cNvPr id="110" name="Google Shape;110;p1" title="download.png">
            <a:extLst>
              <a:ext uri="{FF2B5EF4-FFF2-40B4-BE49-F238E27FC236}">
                <a16:creationId xmlns:a16="http://schemas.microsoft.com/office/drawing/2014/main" id="{DB998071-3AF3-0EE1-5005-0968CB25DD46}"/>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6B59C2E6-E64D-3252-90DE-8BC7BFE08AE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344A0E51-1C3D-4732-5F14-A0FC9121CDF3}"/>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00EE3A12-181F-AC28-C7BC-60F8B1F3FCAB}"/>
              </a:ext>
            </a:extLst>
          </p:cNvPr>
          <p:cNvGraphicFramePr/>
          <p:nvPr>
            <p:extLst>
              <p:ext uri="{D42A27DB-BD31-4B8C-83A1-F6EECF244321}">
                <p14:modId xmlns:p14="http://schemas.microsoft.com/office/powerpoint/2010/main" val="965572398"/>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EC2890B5-6FA5-FDED-4B39-40A304E72E6D}"/>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Deployment”</a:t>
            </a:r>
          </a:p>
        </p:txBody>
      </p:sp>
      <p:sp>
        <p:nvSpPr>
          <p:cNvPr id="7" name="Rectangle 1">
            <a:extLst>
              <a:ext uri="{FF2B5EF4-FFF2-40B4-BE49-F238E27FC236}">
                <a16:creationId xmlns:a16="http://schemas.microsoft.com/office/drawing/2014/main" id="{A357C0A2-20F7-55DA-E36D-16E44854F0F5}"/>
              </a:ext>
            </a:extLst>
          </p:cNvPr>
          <p:cNvSpPr>
            <a:spLocks noChangeArrowheads="1"/>
          </p:cNvSpPr>
          <p:nvPr/>
        </p:nvSpPr>
        <p:spPr bwMode="auto">
          <a:xfrm>
            <a:off x="353556" y="1874036"/>
            <a:ext cx="8281359" cy="315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Deployment Strategy:</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Developed a Flask-based web application to host the forecasting model.</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Designed with HTML and CSS for a responsive and user-friendly interface.</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The user interface allows input of 12 key features like order date, ship mode, category, and profit for real-time sales predictions.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Output displays the expected weekly sales based on the provided inputs.</a:t>
            </a:r>
          </a:p>
        </p:txBody>
      </p:sp>
      <p:sp>
        <p:nvSpPr>
          <p:cNvPr id="6" name="Google Shape;105;p1">
            <a:extLst>
              <a:ext uri="{FF2B5EF4-FFF2-40B4-BE49-F238E27FC236}">
                <a16:creationId xmlns:a16="http://schemas.microsoft.com/office/drawing/2014/main" id="{48CDFAE4-918E-31CC-A0F0-78E5DFF1E3B3}"/>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28</a:t>
            </a:r>
            <a:endParaRPr lang="ar-EG" b="1" dirty="0"/>
          </a:p>
        </p:txBody>
      </p:sp>
    </p:spTree>
    <p:extLst>
      <p:ext uri="{BB962C8B-B14F-4D97-AF65-F5344CB8AC3E}">
        <p14:creationId xmlns:p14="http://schemas.microsoft.com/office/powerpoint/2010/main" val="1354634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26B606D-068F-A741-D2D2-A7826216FD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B4BF26-B6AE-D851-7069-015D0B662D12}"/>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E86387C9-E3B1-9E35-A0A3-C4926AFC73B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19CA169-D057-D5EE-4450-0A4E03AA469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dirty="0"/>
          </a:p>
        </p:txBody>
      </p:sp>
      <p:pic>
        <p:nvPicPr>
          <p:cNvPr id="110" name="Google Shape;110;p1" title="download.png">
            <a:extLst>
              <a:ext uri="{FF2B5EF4-FFF2-40B4-BE49-F238E27FC236}">
                <a16:creationId xmlns:a16="http://schemas.microsoft.com/office/drawing/2014/main" id="{D422791A-4873-0507-F129-01CD14918F3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BDC8916-14A0-9CEF-0B06-32F495182946}"/>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Conclusion</a:t>
            </a:r>
          </a:p>
        </p:txBody>
      </p:sp>
      <p:sp>
        <p:nvSpPr>
          <p:cNvPr id="8" name="Google Shape;105;p1">
            <a:extLst>
              <a:ext uri="{FF2B5EF4-FFF2-40B4-BE49-F238E27FC236}">
                <a16:creationId xmlns:a16="http://schemas.microsoft.com/office/drawing/2014/main" id="{FF1DDEF3-BADF-0CF6-1C06-B051B5E8850C}"/>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6" name="Google Shape;105;p1">
            <a:extLst>
              <a:ext uri="{FF2B5EF4-FFF2-40B4-BE49-F238E27FC236}">
                <a16:creationId xmlns:a16="http://schemas.microsoft.com/office/drawing/2014/main" id="{269230C8-8DC6-1850-6F1A-C4B8B3CCE9C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29</a:t>
            </a:r>
            <a:endParaRPr lang="ar-EG" b="1" dirty="0"/>
          </a:p>
        </p:txBody>
      </p:sp>
      <p:sp>
        <p:nvSpPr>
          <p:cNvPr id="9" name="Rectangle 1">
            <a:extLst>
              <a:ext uri="{FF2B5EF4-FFF2-40B4-BE49-F238E27FC236}">
                <a16:creationId xmlns:a16="http://schemas.microsoft.com/office/drawing/2014/main" id="{00FA5B08-99E0-8256-F6A2-E53E54CB66AE}"/>
              </a:ext>
            </a:extLst>
          </p:cNvPr>
          <p:cNvSpPr>
            <a:spLocks noChangeArrowheads="1"/>
          </p:cNvSpPr>
          <p:nvPr/>
        </p:nvSpPr>
        <p:spPr bwMode="auto">
          <a:xfrm>
            <a:off x="396689" y="1206867"/>
            <a:ext cx="997226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rgbClr val="1869A6"/>
              </a:solidFill>
              <a:effectLst/>
              <a:latin typeface="Aptos ExtraBold" panose="020B0004020202020204" pitchFamily="34" charset="0"/>
            </a:endParaRPr>
          </a:p>
          <a:p>
            <a:pPr marR="0" lvl="0" algn="just" defTabSz="914400" rtl="0" eaLnBrk="0" fontAlgn="base" latinLnBrk="0" hangingPunct="0">
              <a:lnSpc>
                <a:spcPct val="100000"/>
              </a:lnSpc>
              <a:spcBef>
                <a:spcPct val="0"/>
              </a:spcBef>
              <a:spcAft>
                <a:spcPct val="0"/>
              </a:spcAft>
              <a:buClrTx/>
              <a:buSzTx/>
              <a:tabLst/>
            </a:pPr>
            <a:r>
              <a:rPr lang="en-US" altLang="en-US" sz="2000" b="1" dirty="0">
                <a:solidFill>
                  <a:srgbClr val="1869A6"/>
                </a:solidFill>
                <a:latin typeface="Aptos ExtraBold" panose="020B0004020202020204" pitchFamily="34" charset="0"/>
              </a:rPr>
              <a:t>Key Achievements:</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1800" dirty="0">
                <a:solidFill>
                  <a:schemeClr val="tx1">
                    <a:lumMod val="65000"/>
                    <a:lumOff val="35000"/>
                  </a:schemeClr>
                </a:solidFill>
                <a:latin typeface="Aptos ExtraBold" panose="020B0004020202020204" pitchFamily="34" charset="0"/>
              </a:rPr>
              <a:t>Developed a robust machine learning model (</a:t>
            </a:r>
            <a:r>
              <a:rPr lang="en-US" altLang="en-US" sz="1800" dirty="0" err="1">
                <a:solidFill>
                  <a:schemeClr val="tx1">
                    <a:lumMod val="65000"/>
                    <a:lumOff val="35000"/>
                  </a:schemeClr>
                </a:solidFill>
                <a:latin typeface="Aptos ExtraBold" panose="020B0004020202020204" pitchFamily="34" charset="0"/>
              </a:rPr>
              <a:t>XGBoost</a:t>
            </a:r>
            <a:r>
              <a:rPr lang="en-US" altLang="en-US" sz="1800" dirty="0">
                <a:solidFill>
                  <a:schemeClr val="tx1">
                    <a:lumMod val="65000"/>
                    <a:lumOff val="35000"/>
                  </a:schemeClr>
                </a:solidFill>
                <a:latin typeface="Aptos ExtraBold" panose="020B0004020202020204" pitchFamily="34" charset="0"/>
              </a:rPr>
              <a:t> with log transformation) for accurate sales forecasting, achieving an R² score of 0.87 on test data.</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400" u="none" strike="noStrike" cap="none" normalizeH="0" baseline="0" dirty="0">
              <a:ln>
                <a:noFill/>
              </a:ln>
              <a:solidFill>
                <a:schemeClr val="tx1"/>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u="none" strike="noStrike" cap="none" normalizeH="0" baseline="0" dirty="0">
                <a:ln>
                  <a:noFill/>
                </a:ln>
                <a:solidFill>
                  <a:schemeClr val="tx1">
                    <a:lumMod val="65000"/>
                    <a:lumOff val="35000"/>
                  </a:schemeClr>
                </a:solidFill>
                <a:effectLst/>
                <a:latin typeface="Aptos ExtraBold" panose="020B0004020202020204" pitchFamily="34" charset="0"/>
              </a:rPr>
              <a:t>Identified critical seasonal trends, customer behaviors, and high-performing segments through comprehensive EDA.</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4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rPr>
              <a:t>Engineered features like time-based variables and lag features to enhance model performance.</a:t>
            </a:r>
          </a:p>
          <a:p>
            <a:pPr marR="0" lvl="0" algn="just" defTabSz="914400" rtl="0" eaLnBrk="0" fontAlgn="base" latinLnBrk="0" hangingPunct="0">
              <a:lnSpc>
                <a:spcPct val="100000"/>
              </a:lnSpc>
              <a:spcBef>
                <a:spcPct val="0"/>
              </a:spcBef>
              <a:spcAft>
                <a:spcPct val="0"/>
              </a:spcAft>
              <a:buClrTx/>
              <a:buSzTx/>
              <a:tabLst/>
            </a:pPr>
            <a:endParaRPr kumimoji="0" lang="en-US" altLang="en-US" sz="4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rPr>
              <a:t>Deployed a user-friendly Flask API to enable real-time demand predictions for business decision-making.</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9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algn="just" eaLnBrk="0" fontAlgn="base" hangingPunct="0">
              <a:spcBef>
                <a:spcPct val="0"/>
              </a:spcBef>
              <a:spcAft>
                <a:spcPct val="0"/>
              </a:spcAft>
              <a:buClrTx/>
            </a:pPr>
            <a:r>
              <a:rPr lang="en-US" sz="2000" b="1" dirty="0">
                <a:solidFill>
                  <a:srgbClr val="1869A6"/>
                </a:solidFill>
                <a:latin typeface="Aptos ExtraBold" panose="020B0004020202020204" pitchFamily="34" charset="0"/>
              </a:rPr>
              <a:t>Business Impact:</a:t>
            </a:r>
          </a:p>
          <a:p>
            <a:pPr marL="285750" indent="-285750" algn="just">
              <a:lnSpc>
                <a:spcPts val="2143"/>
              </a:lnSpc>
              <a:spcBef>
                <a:spcPts val="1029"/>
              </a:spcBef>
              <a:spcAft>
                <a:spcPts val="1029"/>
              </a:spcAft>
              <a:buFont typeface="Courier New" panose="02070309020205020404" pitchFamily="49" charset="0"/>
              <a:buChar char="o"/>
            </a:pPr>
            <a:r>
              <a:rPr lang="en-US" sz="1800" dirty="0">
                <a:solidFill>
                  <a:schemeClr val="tx1">
                    <a:lumMod val="65000"/>
                    <a:lumOff val="35000"/>
                  </a:schemeClr>
                </a:solidFill>
                <a:latin typeface="Aptos ExtraBold" panose="020B0004020202020204" pitchFamily="34" charset="0"/>
              </a:rPr>
              <a:t>Reduces stockouts and overstocking by aligning inventory with predicted demand.</a:t>
            </a:r>
          </a:p>
          <a:p>
            <a:pPr marL="285750" indent="-285750" algn="just">
              <a:lnSpc>
                <a:spcPts val="2143"/>
              </a:lnSpc>
              <a:spcBef>
                <a:spcPts val="300"/>
              </a:spcBef>
              <a:spcAft>
                <a:spcPts val="1029"/>
              </a:spcAft>
              <a:buFont typeface="Courier New" panose="02070309020205020404" pitchFamily="49" charset="0"/>
              <a:buChar char="o"/>
            </a:pPr>
            <a:r>
              <a:rPr lang="en-US" sz="1800" dirty="0">
                <a:solidFill>
                  <a:schemeClr val="tx1">
                    <a:lumMod val="65000"/>
                    <a:lumOff val="35000"/>
                  </a:schemeClr>
                </a:solidFill>
                <a:latin typeface="Aptos ExtraBold" panose="020B0004020202020204" pitchFamily="34" charset="0"/>
              </a:rPr>
              <a:t>Improves operational efficiency through data-driven planning for marketing, staffing, and supply chain.</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Tree>
    <p:extLst>
      <p:ext uri="{BB962C8B-B14F-4D97-AF65-F5344CB8AC3E}">
        <p14:creationId xmlns:p14="http://schemas.microsoft.com/office/powerpoint/2010/main" val="616785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1F0A33B-1481-6E9A-67CA-0B9F1B03C8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601EEF-74B0-2E41-4254-60E313BA7018}"/>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AB0B15B-ECF6-85FF-FAED-6A23867F89F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7CCCB57-92F8-1ECF-A247-36AD37D4473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dirty="0"/>
          </a:p>
        </p:txBody>
      </p:sp>
      <p:pic>
        <p:nvPicPr>
          <p:cNvPr id="110" name="Google Shape;110;p1" title="download.png">
            <a:extLst>
              <a:ext uri="{FF2B5EF4-FFF2-40B4-BE49-F238E27FC236}">
                <a16:creationId xmlns:a16="http://schemas.microsoft.com/office/drawing/2014/main" id="{15D8ACAF-3243-9DFE-81AD-1202193991DD}"/>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B3825D6-E774-C1D6-F196-96DAC6429C86}"/>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Thank you</a:t>
            </a:r>
          </a:p>
        </p:txBody>
      </p:sp>
      <p:sp>
        <p:nvSpPr>
          <p:cNvPr id="8" name="Google Shape;105;p1">
            <a:extLst>
              <a:ext uri="{FF2B5EF4-FFF2-40B4-BE49-F238E27FC236}">
                <a16:creationId xmlns:a16="http://schemas.microsoft.com/office/drawing/2014/main" id="{5FD13E9E-12B2-0A71-0923-B6F2B4C343EA}"/>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6" name="Google Shape;105;p1">
            <a:extLst>
              <a:ext uri="{FF2B5EF4-FFF2-40B4-BE49-F238E27FC236}">
                <a16:creationId xmlns:a16="http://schemas.microsoft.com/office/drawing/2014/main" id="{E6014915-D888-F246-0F77-9A5D6CD296B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30</a:t>
            </a:r>
            <a:endParaRPr lang="ar-EG" b="1" dirty="0"/>
          </a:p>
        </p:txBody>
      </p:sp>
      <p:sp>
        <p:nvSpPr>
          <p:cNvPr id="3" name="Rectangle 1">
            <a:extLst>
              <a:ext uri="{FF2B5EF4-FFF2-40B4-BE49-F238E27FC236}">
                <a16:creationId xmlns:a16="http://schemas.microsoft.com/office/drawing/2014/main" id="{E79D4558-6F5B-959C-0372-F8E285FA6337}"/>
              </a:ext>
            </a:extLst>
          </p:cNvPr>
          <p:cNvSpPr>
            <a:spLocks noChangeArrowheads="1"/>
          </p:cNvSpPr>
          <p:nvPr/>
        </p:nvSpPr>
        <p:spPr bwMode="auto">
          <a:xfrm>
            <a:off x="362182" y="1535926"/>
            <a:ext cx="10740014"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solidFill>
                  <a:srgbClr val="1869A6"/>
                </a:solidFill>
                <a:latin typeface="Aptos ExtraBold" panose="020B0004020202020204" pitchFamily="34" charset="0"/>
              </a:rPr>
              <a:t>Presented by: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rgbClr val="1869A6"/>
              </a:solidFill>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1869A6"/>
              </a:solidFill>
              <a:effectLst/>
              <a:latin typeface="Aptos ExtraBold" panose="020B0004020202020204" pitchFamily="34" charset="0"/>
            </a:endParaRPr>
          </a:p>
        </p:txBody>
      </p:sp>
      <p:grpSp>
        <p:nvGrpSpPr>
          <p:cNvPr id="5" name="Group 4">
            <a:extLst>
              <a:ext uri="{FF2B5EF4-FFF2-40B4-BE49-F238E27FC236}">
                <a16:creationId xmlns:a16="http://schemas.microsoft.com/office/drawing/2014/main" id="{79FFB959-53FC-229F-AF39-1D2FF49EEAD4}"/>
              </a:ext>
            </a:extLst>
          </p:cNvPr>
          <p:cNvGrpSpPr/>
          <p:nvPr/>
        </p:nvGrpSpPr>
        <p:grpSpPr>
          <a:xfrm>
            <a:off x="824594" y="2306306"/>
            <a:ext cx="10277602" cy="1148276"/>
            <a:chOff x="574431" y="2714582"/>
            <a:chExt cx="8768861" cy="1148276"/>
          </a:xfrm>
        </p:grpSpPr>
        <p:sp>
          <p:nvSpPr>
            <p:cNvPr id="7" name="TextBox 6">
              <a:extLst>
                <a:ext uri="{FF2B5EF4-FFF2-40B4-BE49-F238E27FC236}">
                  <a16:creationId xmlns:a16="http://schemas.microsoft.com/office/drawing/2014/main" id="{8492E503-11AB-CC7F-259B-117E4D2751E9}"/>
                </a:ext>
              </a:extLst>
            </p:cNvPr>
            <p:cNvSpPr txBox="1"/>
            <p:nvPr/>
          </p:nvSpPr>
          <p:spPr>
            <a:xfrm>
              <a:off x="574431" y="2714582"/>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Abdallah Gasem</a:t>
              </a:r>
            </a:p>
          </p:txBody>
        </p:sp>
        <p:sp>
          <p:nvSpPr>
            <p:cNvPr id="9" name="TextBox 8">
              <a:extLst>
                <a:ext uri="{FF2B5EF4-FFF2-40B4-BE49-F238E27FC236}">
                  <a16:creationId xmlns:a16="http://schemas.microsoft.com/office/drawing/2014/main" id="{E9CD30E4-BC2A-C524-9CBA-B8E6861380F8}"/>
                </a:ext>
              </a:extLst>
            </p:cNvPr>
            <p:cNvSpPr txBox="1"/>
            <p:nvPr/>
          </p:nvSpPr>
          <p:spPr>
            <a:xfrm>
              <a:off x="6178061" y="2732746"/>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Abdallah Sayed</a:t>
              </a:r>
            </a:p>
          </p:txBody>
        </p:sp>
        <p:sp>
          <p:nvSpPr>
            <p:cNvPr id="10" name="TextBox 9">
              <a:extLst>
                <a:ext uri="{FF2B5EF4-FFF2-40B4-BE49-F238E27FC236}">
                  <a16:creationId xmlns:a16="http://schemas.microsoft.com/office/drawing/2014/main" id="{B71BDDBA-86A2-1276-FEFC-77A3C552B5C0}"/>
                </a:ext>
              </a:extLst>
            </p:cNvPr>
            <p:cNvSpPr txBox="1"/>
            <p:nvPr/>
          </p:nvSpPr>
          <p:spPr>
            <a:xfrm>
              <a:off x="3739660" y="3397643"/>
              <a:ext cx="2192217"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Micheal Emad</a:t>
              </a:r>
            </a:p>
          </p:txBody>
        </p:sp>
        <p:sp>
          <p:nvSpPr>
            <p:cNvPr id="11" name="TextBox 10">
              <a:extLst>
                <a:ext uri="{FF2B5EF4-FFF2-40B4-BE49-F238E27FC236}">
                  <a16:creationId xmlns:a16="http://schemas.microsoft.com/office/drawing/2014/main" id="{7A2C2635-C46C-9207-98B8-B47770A344E2}"/>
                </a:ext>
              </a:extLst>
            </p:cNvPr>
            <p:cNvSpPr txBox="1"/>
            <p:nvPr/>
          </p:nvSpPr>
          <p:spPr>
            <a:xfrm>
              <a:off x="3739660" y="2734722"/>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Mazen Karam</a:t>
              </a:r>
            </a:p>
          </p:txBody>
        </p:sp>
        <p:sp>
          <p:nvSpPr>
            <p:cNvPr id="12" name="TextBox 11">
              <a:extLst>
                <a:ext uri="{FF2B5EF4-FFF2-40B4-BE49-F238E27FC236}">
                  <a16:creationId xmlns:a16="http://schemas.microsoft.com/office/drawing/2014/main" id="{5CFD73D8-F3D4-5C2A-D1D7-DFA3EB18FE71}"/>
                </a:ext>
              </a:extLst>
            </p:cNvPr>
            <p:cNvSpPr txBox="1"/>
            <p:nvPr/>
          </p:nvSpPr>
          <p:spPr>
            <a:xfrm>
              <a:off x="574432" y="3383608"/>
              <a:ext cx="1946028"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Youseff Ali</a:t>
              </a:r>
            </a:p>
          </p:txBody>
        </p:sp>
        <p:sp>
          <p:nvSpPr>
            <p:cNvPr id="13" name="TextBox 12">
              <a:extLst>
                <a:ext uri="{FF2B5EF4-FFF2-40B4-BE49-F238E27FC236}">
                  <a16:creationId xmlns:a16="http://schemas.microsoft.com/office/drawing/2014/main" id="{60A37C4D-E628-0D95-44E5-BC91D8222951}"/>
                </a:ext>
              </a:extLst>
            </p:cNvPr>
            <p:cNvSpPr txBox="1"/>
            <p:nvPr/>
          </p:nvSpPr>
          <p:spPr>
            <a:xfrm>
              <a:off x="6178061" y="3401193"/>
              <a:ext cx="2414954"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Mostafa Ahmed</a:t>
              </a:r>
            </a:p>
          </p:txBody>
        </p:sp>
      </p:grpSp>
      <p:grpSp>
        <p:nvGrpSpPr>
          <p:cNvPr id="14" name="Group 13">
            <a:extLst>
              <a:ext uri="{FF2B5EF4-FFF2-40B4-BE49-F238E27FC236}">
                <a16:creationId xmlns:a16="http://schemas.microsoft.com/office/drawing/2014/main" id="{5CCB65D5-758A-5E17-00DD-27B3FD47F55E}"/>
              </a:ext>
            </a:extLst>
          </p:cNvPr>
          <p:cNvGrpSpPr/>
          <p:nvPr/>
        </p:nvGrpSpPr>
        <p:grpSpPr>
          <a:xfrm>
            <a:off x="376878" y="3602561"/>
            <a:ext cx="3317631" cy="998084"/>
            <a:chOff x="574429" y="4447183"/>
            <a:chExt cx="3317631" cy="998084"/>
          </a:xfrm>
        </p:grpSpPr>
        <p:sp>
          <p:nvSpPr>
            <p:cNvPr id="15" name="TextBox 14">
              <a:extLst>
                <a:ext uri="{FF2B5EF4-FFF2-40B4-BE49-F238E27FC236}">
                  <a16:creationId xmlns:a16="http://schemas.microsoft.com/office/drawing/2014/main" id="{1C9AAB77-2C13-FCD0-EF1A-C098A9D28BC9}"/>
                </a:ext>
              </a:extLst>
            </p:cNvPr>
            <p:cNvSpPr txBox="1"/>
            <p:nvPr/>
          </p:nvSpPr>
          <p:spPr>
            <a:xfrm>
              <a:off x="574429" y="4447183"/>
              <a:ext cx="3317631" cy="584775"/>
            </a:xfrm>
            <a:prstGeom prst="rect">
              <a:avLst/>
            </a:prstGeom>
            <a:noFill/>
          </p:spPr>
          <p:txBody>
            <a:bodyPr wrap="square" rtlCol="0">
              <a:spAutoFit/>
            </a:bodyPr>
            <a:lstStyle/>
            <a:p>
              <a:r>
                <a:rPr lang="en-US" sz="3200" b="1" dirty="0">
                  <a:solidFill>
                    <a:srgbClr val="1869A6"/>
                  </a:solidFill>
                  <a:latin typeface="Aptos ExtraBold" panose="020B0004020202020204" pitchFamily="34" charset="0"/>
                </a:rPr>
                <a:t>Group:</a:t>
              </a:r>
            </a:p>
          </p:txBody>
        </p:sp>
        <p:sp>
          <p:nvSpPr>
            <p:cNvPr id="16" name="TextBox 15">
              <a:extLst>
                <a:ext uri="{FF2B5EF4-FFF2-40B4-BE49-F238E27FC236}">
                  <a16:creationId xmlns:a16="http://schemas.microsoft.com/office/drawing/2014/main" id="{3C3288D8-B03E-4B23-1121-E5C56E45277B}"/>
                </a:ext>
              </a:extLst>
            </p:cNvPr>
            <p:cNvSpPr txBox="1"/>
            <p:nvPr/>
          </p:nvSpPr>
          <p:spPr>
            <a:xfrm>
              <a:off x="574431" y="4983602"/>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GIZ2_AIS4_S9</a:t>
              </a:r>
            </a:p>
          </p:txBody>
        </p:sp>
      </p:grpSp>
      <p:pic>
        <p:nvPicPr>
          <p:cNvPr id="17" name="Picture 16">
            <a:extLst>
              <a:ext uri="{FF2B5EF4-FFF2-40B4-BE49-F238E27FC236}">
                <a16:creationId xmlns:a16="http://schemas.microsoft.com/office/drawing/2014/main" id="{48DB6E5D-81F3-8EF7-51D8-BFE642129090}"/>
              </a:ext>
            </a:extLst>
          </p:cNvPr>
          <p:cNvPicPr>
            <a:picLocks noChangeAspect="1"/>
          </p:cNvPicPr>
          <p:nvPr/>
        </p:nvPicPr>
        <p:blipFill>
          <a:blip r:embed="rId4"/>
          <a:stretch>
            <a:fillRect/>
          </a:stretch>
        </p:blipFill>
        <p:spPr>
          <a:xfrm>
            <a:off x="2209800" y="5154223"/>
            <a:ext cx="4669357" cy="625270"/>
          </a:xfrm>
          <a:prstGeom prst="rect">
            <a:avLst/>
          </a:prstGeom>
        </p:spPr>
      </p:pic>
      <p:sp>
        <p:nvSpPr>
          <p:cNvPr id="18" name="TextBox 17">
            <a:extLst>
              <a:ext uri="{FF2B5EF4-FFF2-40B4-BE49-F238E27FC236}">
                <a16:creationId xmlns:a16="http://schemas.microsoft.com/office/drawing/2014/main" id="{DADD6455-A90C-725A-FEFC-013533CB946E}"/>
              </a:ext>
            </a:extLst>
          </p:cNvPr>
          <p:cNvSpPr txBox="1"/>
          <p:nvPr/>
        </p:nvSpPr>
        <p:spPr>
          <a:xfrm>
            <a:off x="376878" y="5126455"/>
            <a:ext cx="3317631" cy="584775"/>
          </a:xfrm>
          <a:prstGeom prst="rect">
            <a:avLst/>
          </a:prstGeom>
          <a:noFill/>
        </p:spPr>
        <p:txBody>
          <a:bodyPr wrap="square" rtlCol="0">
            <a:spAutoFit/>
          </a:bodyPr>
          <a:lstStyle/>
          <a:p>
            <a:r>
              <a:rPr lang="en-US" sz="3200" b="1" dirty="0">
                <a:solidFill>
                  <a:srgbClr val="1869A6"/>
                </a:solidFill>
                <a:latin typeface="Aptos ExtraBold" panose="020B0004020202020204" pitchFamily="34" charset="0"/>
              </a:rPr>
              <a:t>Contact:</a:t>
            </a:r>
          </a:p>
        </p:txBody>
      </p:sp>
    </p:spTree>
    <p:extLst>
      <p:ext uri="{BB962C8B-B14F-4D97-AF65-F5344CB8AC3E}">
        <p14:creationId xmlns:p14="http://schemas.microsoft.com/office/powerpoint/2010/main" val="29698029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846</TotalTime>
  <Words>2315</Words>
  <Application>Microsoft Office PowerPoint</Application>
  <PresentationFormat>Widescreen</PresentationFormat>
  <Paragraphs>535</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Aptos ExtraBold</vt:lpstr>
      <vt:lpstr>Calibri</vt:lpstr>
      <vt:lpstr>Courier New</vt:lpstr>
      <vt:lpstr>Eras Bold ITC</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Mazen_20220361</cp:lastModifiedBy>
  <cp:revision>2</cp:revision>
  <dcterms:created xsi:type="dcterms:W3CDTF">2024-03-14T10:03:54Z</dcterms:created>
  <dcterms:modified xsi:type="dcterms:W3CDTF">2025-05-08T23:09:44Z</dcterms:modified>
</cp:coreProperties>
</file>