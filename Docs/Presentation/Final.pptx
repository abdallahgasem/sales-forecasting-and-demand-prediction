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71" r:id="rId2"/>
    <p:sldId id="272" r:id="rId3"/>
    <p:sldId id="274" r:id="rId4"/>
    <p:sldId id="277" r:id="rId5"/>
    <p:sldId id="279" r:id="rId6"/>
    <p:sldId id="278" r:id="rId7"/>
    <p:sldId id="281" r:id="rId8"/>
    <p:sldId id="282" r:id="rId9"/>
    <p:sldId id="283" r:id="rId10"/>
    <p:sldId id="284" r:id="rId11"/>
    <p:sldId id="285" r:id="rId12"/>
    <p:sldId id="286" r:id="rId13"/>
    <p:sldId id="288" r:id="rId14"/>
    <p:sldId id="290" r:id="rId15"/>
    <p:sldId id="291" r:id="rId16"/>
    <p:sldId id="292" r:id="rId17"/>
    <p:sldId id="293" r:id="rId18"/>
    <p:sldId id="294" r:id="rId19"/>
    <p:sldId id="297" r:id="rId20"/>
    <p:sldId id="298" r:id="rId21"/>
    <p:sldId id="302" r:id="rId22"/>
    <p:sldId id="303" r:id="rId23"/>
    <p:sldId id="304" r:id="rId24"/>
    <p:sldId id="305" r:id="rId25"/>
    <p:sldId id="306" r:id="rId26"/>
    <p:sldId id="299" r:id="rId27"/>
    <p:sldId id="313" r:id="rId28"/>
    <p:sldId id="314" r:id="rId29"/>
    <p:sldId id="315" r:id="rId30"/>
    <p:sldId id="308" r:id="rId31"/>
    <p:sldId id="317" r:id="rId32"/>
    <p:sldId id="309" r:id="rId33"/>
  </p:sldIdLst>
  <p:sldSz cx="12192000" cy="6858000"/>
  <p:notesSz cx="6858000" cy="9144000"/>
  <p:embeddedFontLst>
    <p:embeddedFont>
      <p:font typeface="Aptos ExtraBold" panose="020B0004020202020204" pitchFamily="34" charset="0"/>
      <p:bold r:id="rId35"/>
      <p:boldItalic r:id="rId36"/>
    </p:embeddedFont>
    <p:embeddedFont>
      <p:font typeface="Eras Bold ITC" panose="020B0907030504020204" pitchFamily="34" charset="0"/>
      <p:regular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jOmBtk5DbvnkierGKxpb4ZbKw0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0FAB7D"/>
    <a:srgbClr val="CDE4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194" y="8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customschemas.google.com/relationships/presentationmetadata" Target="meta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387C22-44E6-44E8-B4E3-E1F64809C164}" type="doc">
      <dgm:prSet loTypeId="urn:microsoft.com/office/officeart/2009/layout/CircleArrowProcess" loCatId="cycle" qsTypeId="urn:microsoft.com/office/officeart/2005/8/quickstyle/simple2" qsCatId="simple" csTypeId="urn:microsoft.com/office/officeart/2005/8/colors/accent1_2" csCatId="accent1" phldr="1"/>
      <dgm:spPr/>
      <dgm:t>
        <a:bodyPr/>
        <a:lstStyle/>
        <a:p>
          <a:endParaRPr lang="en-US"/>
        </a:p>
      </dgm:t>
    </dgm:pt>
    <dgm:pt modelId="{F0622550-1419-4C2D-BB9C-7DB53308F07E}">
      <dgm:prSet phldrT="[Text]"/>
      <dgm:spPr/>
      <dgm:t>
        <a:bodyPr/>
        <a:lstStyle/>
        <a:p>
          <a:r>
            <a:rPr lang="en-US" b="1" dirty="0"/>
            <a:t>Problem Understanding</a:t>
          </a:r>
        </a:p>
      </dgm:t>
    </dgm:pt>
    <dgm:pt modelId="{3385173C-6143-4180-B266-F2CC04D755DD}" type="parTrans" cxnId="{56D1721B-31BD-4A13-BAB4-182CF726055E}">
      <dgm:prSet/>
      <dgm:spPr/>
      <dgm:t>
        <a:bodyPr/>
        <a:lstStyle/>
        <a:p>
          <a:endParaRPr lang="en-US" b="1"/>
        </a:p>
      </dgm:t>
    </dgm:pt>
    <dgm:pt modelId="{8E7D8A8D-42BF-4E20-A1D6-8A98F3D463EB}" type="sibTrans" cxnId="{56D1721B-31BD-4A13-BAB4-182CF726055E}">
      <dgm:prSet/>
      <dgm:spPr/>
      <dgm:t>
        <a:bodyPr/>
        <a:lstStyle/>
        <a:p>
          <a:endParaRPr lang="en-US" b="1"/>
        </a:p>
      </dgm:t>
    </dgm:pt>
    <dgm:pt modelId="{C5BFDB38-DA27-44C1-8741-2A14B626A5F1}">
      <dgm:prSet phldrT="[Text]"/>
      <dgm:spPr/>
      <dgm:t>
        <a:bodyPr/>
        <a:lstStyle/>
        <a:p>
          <a:r>
            <a:rPr lang="en-US" b="1" dirty="0"/>
            <a:t>Data Collection</a:t>
          </a:r>
        </a:p>
      </dgm:t>
    </dgm:pt>
    <dgm:pt modelId="{E7EB5BF7-10C4-4CE3-9125-0951A4B4D0D2}" type="parTrans" cxnId="{32B14FBC-87F7-46FC-8D04-E39A7580AFAD}">
      <dgm:prSet/>
      <dgm:spPr/>
      <dgm:t>
        <a:bodyPr/>
        <a:lstStyle/>
        <a:p>
          <a:endParaRPr lang="en-US" b="1"/>
        </a:p>
      </dgm:t>
    </dgm:pt>
    <dgm:pt modelId="{0A360312-6EBE-4CAB-949D-E645C4071598}" type="sibTrans" cxnId="{32B14FBC-87F7-46FC-8D04-E39A7580AFAD}">
      <dgm:prSet/>
      <dgm:spPr/>
      <dgm:t>
        <a:bodyPr/>
        <a:lstStyle/>
        <a:p>
          <a:endParaRPr lang="en-US" b="1"/>
        </a:p>
      </dgm:t>
    </dgm:pt>
    <dgm:pt modelId="{A3FCA8D1-4995-4394-A14D-AE158D4EA798}">
      <dgm:prSet phldrT="[Text]"/>
      <dgm:spPr/>
      <dgm:t>
        <a:bodyPr/>
        <a:lstStyle/>
        <a:p>
          <a:r>
            <a:rPr lang="en-US" b="1" dirty="0"/>
            <a:t>Data Preprocessing</a:t>
          </a:r>
        </a:p>
      </dgm:t>
    </dgm:pt>
    <dgm:pt modelId="{593C086F-3768-47BC-B840-D9E33D443B1B}" type="parTrans" cxnId="{4EC04949-4A9D-42C6-972E-9A3C5EE35D4E}">
      <dgm:prSet/>
      <dgm:spPr/>
      <dgm:t>
        <a:bodyPr/>
        <a:lstStyle/>
        <a:p>
          <a:endParaRPr lang="en-US" b="1"/>
        </a:p>
      </dgm:t>
    </dgm:pt>
    <dgm:pt modelId="{3D04BFE0-8C3F-4424-B6E8-3B6642CD84A9}" type="sibTrans" cxnId="{4EC04949-4A9D-42C6-972E-9A3C5EE35D4E}">
      <dgm:prSet/>
      <dgm:spPr/>
      <dgm:t>
        <a:bodyPr/>
        <a:lstStyle/>
        <a:p>
          <a:endParaRPr lang="en-US" b="1"/>
        </a:p>
      </dgm:t>
    </dgm:pt>
    <dgm:pt modelId="{99A94029-7AFC-475A-A27E-22CC231A2697}">
      <dgm:prSet phldrT="[Text]"/>
      <dgm:spPr/>
      <dgm:t>
        <a:bodyPr/>
        <a:lstStyle/>
        <a:p>
          <a:r>
            <a:rPr lang="en-US" b="1" dirty="0"/>
            <a:t>Exploratory Data Analysis</a:t>
          </a:r>
        </a:p>
      </dgm:t>
    </dgm:pt>
    <dgm:pt modelId="{5B39072D-9576-470A-B272-61C962306A94}" type="parTrans" cxnId="{FE6890FD-42C6-4139-B3EE-79CD5AED3F42}">
      <dgm:prSet/>
      <dgm:spPr/>
      <dgm:t>
        <a:bodyPr/>
        <a:lstStyle/>
        <a:p>
          <a:endParaRPr lang="en-US" b="1"/>
        </a:p>
      </dgm:t>
    </dgm:pt>
    <dgm:pt modelId="{BC7F11F3-80B7-4970-99DD-0C9AA0F41383}" type="sibTrans" cxnId="{FE6890FD-42C6-4139-B3EE-79CD5AED3F42}">
      <dgm:prSet/>
      <dgm:spPr/>
      <dgm:t>
        <a:bodyPr/>
        <a:lstStyle/>
        <a:p>
          <a:endParaRPr lang="en-US" b="1"/>
        </a:p>
      </dgm:t>
    </dgm:pt>
    <dgm:pt modelId="{F343299A-BA91-4E03-BE4E-71617E7E5B3A}">
      <dgm:prSet phldrT="[Text]"/>
      <dgm:spPr/>
      <dgm:t>
        <a:bodyPr/>
        <a:lstStyle/>
        <a:p>
          <a:r>
            <a:rPr lang="en-US" b="1" dirty="0"/>
            <a:t>Model Development</a:t>
          </a:r>
        </a:p>
      </dgm:t>
    </dgm:pt>
    <dgm:pt modelId="{508A5139-8415-4AF4-BAFC-53AD277DE586}" type="parTrans" cxnId="{4924A7FD-3A3D-4284-BD6F-CFA01AA28C4A}">
      <dgm:prSet/>
      <dgm:spPr/>
      <dgm:t>
        <a:bodyPr/>
        <a:lstStyle/>
        <a:p>
          <a:endParaRPr lang="en-US" b="1"/>
        </a:p>
      </dgm:t>
    </dgm:pt>
    <dgm:pt modelId="{435948A5-5A00-479C-9761-DECCCB34A0A0}" type="sibTrans" cxnId="{4924A7FD-3A3D-4284-BD6F-CFA01AA28C4A}">
      <dgm:prSet/>
      <dgm:spPr/>
      <dgm:t>
        <a:bodyPr/>
        <a:lstStyle/>
        <a:p>
          <a:endParaRPr lang="en-US" b="1"/>
        </a:p>
      </dgm:t>
    </dgm:pt>
    <dgm:pt modelId="{B2BDA4CE-C137-41B3-92BC-4BDC79342BE5}">
      <dgm:prSet phldrT="[Text]"/>
      <dgm:spPr/>
      <dgm:t>
        <a:bodyPr/>
        <a:lstStyle/>
        <a:p>
          <a:r>
            <a:rPr lang="en-US" b="1" dirty="0"/>
            <a:t>Model Deployment</a:t>
          </a:r>
        </a:p>
      </dgm:t>
    </dgm:pt>
    <dgm:pt modelId="{1B942CF1-B45E-4D81-BBEA-3982B48048C3}" type="parTrans" cxnId="{D3EE7DE5-D341-4E6E-BEE9-33FA73930033}">
      <dgm:prSet/>
      <dgm:spPr/>
      <dgm:t>
        <a:bodyPr/>
        <a:lstStyle/>
        <a:p>
          <a:endParaRPr lang="en-US" b="1"/>
        </a:p>
      </dgm:t>
    </dgm:pt>
    <dgm:pt modelId="{ABFCD20A-1C9A-4F59-ABED-66D5A804526B}" type="sibTrans" cxnId="{D3EE7DE5-D341-4E6E-BEE9-33FA73930033}">
      <dgm:prSet/>
      <dgm:spPr/>
      <dgm:t>
        <a:bodyPr/>
        <a:lstStyle/>
        <a:p>
          <a:endParaRPr lang="en-US" b="1"/>
        </a:p>
      </dgm:t>
    </dgm:pt>
    <dgm:pt modelId="{4EE584F0-F17E-4E90-BB80-2C9DDA881AA8}" type="pres">
      <dgm:prSet presAssocID="{1E387C22-44E6-44E8-B4E3-E1F64809C164}" presName="Name0" presStyleCnt="0">
        <dgm:presLayoutVars>
          <dgm:chMax val="7"/>
          <dgm:chPref val="7"/>
          <dgm:dir/>
          <dgm:animLvl val="lvl"/>
        </dgm:presLayoutVars>
      </dgm:prSet>
      <dgm:spPr/>
    </dgm:pt>
    <dgm:pt modelId="{C9E355A0-A508-458B-8E0E-9FA6C5E7714D}" type="pres">
      <dgm:prSet presAssocID="{F0622550-1419-4C2D-BB9C-7DB53308F07E}" presName="Accent1" presStyleCnt="0"/>
      <dgm:spPr/>
    </dgm:pt>
    <dgm:pt modelId="{7A34C934-0178-4FFB-ACEC-BAB4F9426350}" type="pres">
      <dgm:prSet presAssocID="{F0622550-1419-4C2D-BB9C-7DB53308F07E}" presName="Accent" presStyleLbl="node1" presStyleIdx="0" presStyleCnt="6"/>
      <dgm:spPr/>
    </dgm:pt>
    <dgm:pt modelId="{F3E6AD0D-B6B6-4465-BD73-893F56E9F325}" type="pres">
      <dgm:prSet presAssocID="{F0622550-1419-4C2D-BB9C-7DB53308F07E}" presName="Parent1" presStyleLbl="revTx" presStyleIdx="0" presStyleCnt="6">
        <dgm:presLayoutVars>
          <dgm:chMax val="1"/>
          <dgm:chPref val="1"/>
          <dgm:bulletEnabled val="1"/>
        </dgm:presLayoutVars>
      </dgm:prSet>
      <dgm:spPr/>
    </dgm:pt>
    <dgm:pt modelId="{8A3BCE30-F5CD-4A7D-8DE0-57EEEC972C51}" type="pres">
      <dgm:prSet presAssocID="{C5BFDB38-DA27-44C1-8741-2A14B626A5F1}" presName="Accent2" presStyleCnt="0"/>
      <dgm:spPr/>
    </dgm:pt>
    <dgm:pt modelId="{5DBF5340-5F8B-44DB-B875-448745B104E7}" type="pres">
      <dgm:prSet presAssocID="{C5BFDB38-DA27-44C1-8741-2A14B626A5F1}" presName="Accent" presStyleLbl="node1" presStyleIdx="1" presStyleCnt="6"/>
      <dgm:spPr/>
    </dgm:pt>
    <dgm:pt modelId="{AFB7593A-2DC9-4088-BA70-24304FA640FA}" type="pres">
      <dgm:prSet presAssocID="{C5BFDB38-DA27-44C1-8741-2A14B626A5F1}" presName="Parent2" presStyleLbl="revTx" presStyleIdx="1" presStyleCnt="6">
        <dgm:presLayoutVars>
          <dgm:chMax val="1"/>
          <dgm:chPref val="1"/>
          <dgm:bulletEnabled val="1"/>
        </dgm:presLayoutVars>
      </dgm:prSet>
      <dgm:spPr/>
    </dgm:pt>
    <dgm:pt modelId="{8BF01C21-1EE8-46C9-ACEE-0F63F73153B4}" type="pres">
      <dgm:prSet presAssocID="{A3FCA8D1-4995-4394-A14D-AE158D4EA798}" presName="Accent3" presStyleCnt="0"/>
      <dgm:spPr/>
    </dgm:pt>
    <dgm:pt modelId="{22CF7C50-C89B-444E-A5EA-2C152FEA2DA4}" type="pres">
      <dgm:prSet presAssocID="{A3FCA8D1-4995-4394-A14D-AE158D4EA798}" presName="Accent" presStyleLbl="node1" presStyleIdx="2" presStyleCnt="6"/>
      <dgm:spPr/>
    </dgm:pt>
    <dgm:pt modelId="{8AC39351-E7EA-4198-943A-E84082166347}" type="pres">
      <dgm:prSet presAssocID="{A3FCA8D1-4995-4394-A14D-AE158D4EA798}" presName="Parent3" presStyleLbl="revTx" presStyleIdx="2" presStyleCnt="6">
        <dgm:presLayoutVars>
          <dgm:chMax val="1"/>
          <dgm:chPref val="1"/>
          <dgm:bulletEnabled val="1"/>
        </dgm:presLayoutVars>
      </dgm:prSet>
      <dgm:spPr/>
    </dgm:pt>
    <dgm:pt modelId="{829C510B-0783-46E8-97A8-CB03E2DED1CD}" type="pres">
      <dgm:prSet presAssocID="{99A94029-7AFC-475A-A27E-22CC231A2697}" presName="Accent4" presStyleCnt="0"/>
      <dgm:spPr/>
    </dgm:pt>
    <dgm:pt modelId="{469C9B29-11AD-4110-B54F-78E31D749D04}" type="pres">
      <dgm:prSet presAssocID="{99A94029-7AFC-475A-A27E-22CC231A2697}" presName="Accent" presStyleLbl="node1" presStyleIdx="3" presStyleCnt="6"/>
      <dgm:spPr/>
    </dgm:pt>
    <dgm:pt modelId="{9FAFEE8A-03A9-4B29-B8C8-89DA7646CC64}" type="pres">
      <dgm:prSet presAssocID="{99A94029-7AFC-475A-A27E-22CC231A2697}" presName="Parent4" presStyleLbl="revTx" presStyleIdx="3" presStyleCnt="6">
        <dgm:presLayoutVars>
          <dgm:chMax val="1"/>
          <dgm:chPref val="1"/>
          <dgm:bulletEnabled val="1"/>
        </dgm:presLayoutVars>
      </dgm:prSet>
      <dgm:spPr/>
    </dgm:pt>
    <dgm:pt modelId="{79890C70-A390-4343-9148-37A21EE0E79D}" type="pres">
      <dgm:prSet presAssocID="{F343299A-BA91-4E03-BE4E-71617E7E5B3A}" presName="Accent5" presStyleCnt="0"/>
      <dgm:spPr/>
    </dgm:pt>
    <dgm:pt modelId="{E9B370C7-E3B6-46E4-8FDC-FFFF23A7F580}" type="pres">
      <dgm:prSet presAssocID="{F343299A-BA91-4E03-BE4E-71617E7E5B3A}" presName="Accent" presStyleLbl="node1" presStyleIdx="4" presStyleCnt="6"/>
      <dgm:spPr/>
    </dgm:pt>
    <dgm:pt modelId="{56F43D40-8BB3-44B9-8018-0D8E306888BF}" type="pres">
      <dgm:prSet presAssocID="{F343299A-BA91-4E03-BE4E-71617E7E5B3A}" presName="Parent5" presStyleLbl="revTx" presStyleIdx="4" presStyleCnt="6">
        <dgm:presLayoutVars>
          <dgm:chMax val="1"/>
          <dgm:chPref val="1"/>
          <dgm:bulletEnabled val="1"/>
        </dgm:presLayoutVars>
      </dgm:prSet>
      <dgm:spPr/>
    </dgm:pt>
    <dgm:pt modelId="{DBE8C0DE-AA4E-4781-93C2-620C55B04B39}" type="pres">
      <dgm:prSet presAssocID="{B2BDA4CE-C137-41B3-92BC-4BDC79342BE5}" presName="Accent6" presStyleCnt="0"/>
      <dgm:spPr/>
    </dgm:pt>
    <dgm:pt modelId="{BC6C88C2-A15C-46B5-83A0-D9E75112D853}" type="pres">
      <dgm:prSet presAssocID="{B2BDA4CE-C137-41B3-92BC-4BDC79342BE5}" presName="Accent" presStyleLbl="node1" presStyleIdx="5" presStyleCnt="6"/>
      <dgm:spPr/>
    </dgm:pt>
    <dgm:pt modelId="{34A8CDE1-CD79-4030-ADAD-030C174C04C9}" type="pres">
      <dgm:prSet presAssocID="{B2BDA4CE-C137-41B3-92BC-4BDC79342BE5}" presName="Parent6" presStyleLbl="revTx" presStyleIdx="5" presStyleCnt="6">
        <dgm:presLayoutVars>
          <dgm:chMax val="1"/>
          <dgm:chPref val="1"/>
          <dgm:bulletEnabled val="1"/>
        </dgm:presLayoutVars>
      </dgm:prSet>
      <dgm:spPr/>
    </dgm:pt>
  </dgm:ptLst>
  <dgm:cxnLst>
    <dgm:cxn modelId="{56D1721B-31BD-4A13-BAB4-182CF726055E}" srcId="{1E387C22-44E6-44E8-B4E3-E1F64809C164}" destId="{F0622550-1419-4C2D-BB9C-7DB53308F07E}" srcOrd="0" destOrd="0" parTransId="{3385173C-6143-4180-B266-F2CC04D755DD}" sibTransId="{8E7D8A8D-42BF-4E20-A1D6-8A98F3D463EB}"/>
    <dgm:cxn modelId="{5F0DCE1D-F3CB-4C41-BC22-989C192409BE}" type="presOf" srcId="{99A94029-7AFC-475A-A27E-22CC231A2697}" destId="{9FAFEE8A-03A9-4B29-B8C8-89DA7646CC64}" srcOrd="0" destOrd="0" presId="urn:microsoft.com/office/officeart/2009/layout/CircleArrowProcess"/>
    <dgm:cxn modelId="{DCFC9D22-E24A-4A6A-A3FC-27BFC8480187}" type="presOf" srcId="{A3FCA8D1-4995-4394-A14D-AE158D4EA798}" destId="{8AC39351-E7EA-4198-943A-E84082166347}" srcOrd="0" destOrd="0" presId="urn:microsoft.com/office/officeart/2009/layout/CircleArrowProcess"/>
    <dgm:cxn modelId="{4EC04949-4A9D-42C6-972E-9A3C5EE35D4E}" srcId="{1E387C22-44E6-44E8-B4E3-E1F64809C164}" destId="{A3FCA8D1-4995-4394-A14D-AE158D4EA798}" srcOrd="2" destOrd="0" parTransId="{593C086F-3768-47BC-B840-D9E33D443B1B}" sibTransId="{3D04BFE0-8C3F-4424-B6E8-3B6642CD84A9}"/>
    <dgm:cxn modelId="{174FAF57-B3EF-4EAE-B183-2E6578ED45D1}" type="presOf" srcId="{F0622550-1419-4C2D-BB9C-7DB53308F07E}" destId="{F3E6AD0D-B6B6-4465-BD73-893F56E9F325}" srcOrd="0" destOrd="0" presId="urn:microsoft.com/office/officeart/2009/layout/CircleArrowProcess"/>
    <dgm:cxn modelId="{23948A59-3BBC-4CEF-90E1-CFD356D31E6D}" type="presOf" srcId="{B2BDA4CE-C137-41B3-92BC-4BDC79342BE5}" destId="{34A8CDE1-CD79-4030-ADAD-030C174C04C9}" srcOrd="0" destOrd="0" presId="urn:microsoft.com/office/officeart/2009/layout/CircleArrowProcess"/>
    <dgm:cxn modelId="{06864A5A-3FC7-4466-8479-E1BE4699018C}" type="presOf" srcId="{C5BFDB38-DA27-44C1-8741-2A14B626A5F1}" destId="{AFB7593A-2DC9-4088-BA70-24304FA640FA}" srcOrd="0" destOrd="0" presId="urn:microsoft.com/office/officeart/2009/layout/CircleArrowProcess"/>
    <dgm:cxn modelId="{7DBA9A7E-0C28-49F7-9C2D-FF6E3F3843A8}" type="presOf" srcId="{F343299A-BA91-4E03-BE4E-71617E7E5B3A}" destId="{56F43D40-8BB3-44B9-8018-0D8E306888BF}" srcOrd="0" destOrd="0" presId="urn:microsoft.com/office/officeart/2009/layout/CircleArrowProcess"/>
    <dgm:cxn modelId="{32B14FBC-87F7-46FC-8D04-E39A7580AFAD}" srcId="{1E387C22-44E6-44E8-B4E3-E1F64809C164}" destId="{C5BFDB38-DA27-44C1-8741-2A14B626A5F1}" srcOrd="1" destOrd="0" parTransId="{E7EB5BF7-10C4-4CE3-9125-0951A4B4D0D2}" sibTransId="{0A360312-6EBE-4CAB-949D-E645C4071598}"/>
    <dgm:cxn modelId="{824D6FCB-6B5D-4F29-877B-F420B1A304DF}" type="presOf" srcId="{1E387C22-44E6-44E8-B4E3-E1F64809C164}" destId="{4EE584F0-F17E-4E90-BB80-2C9DDA881AA8}" srcOrd="0" destOrd="0" presId="urn:microsoft.com/office/officeart/2009/layout/CircleArrowProcess"/>
    <dgm:cxn modelId="{D3EE7DE5-D341-4E6E-BEE9-33FA73930033}" srcId="{1E387C22-44E6-44E8-B4E3-E1F64809C164}" destId="{B2BDA4CE-C137-41B3-92BC-4BDC79342BE5}" srcOrd="5" destOrd="0" parTransId="{1B942CF1-B45E-4D81-BBEA-3982B48048C3}" sibTransId="{ABFCD20A-1C9A-4F59-ABED-66D5A804526B}"/>
    <dgm:cxn modelId="{FE6890FD-42C6-4139-B3EE-79CD5AED3F42}" srcId="{1E387C22-44E6-44E8-B4E3-E1F64809C164}" destId="{99A94029-7AFC-475A-A27E-22CC231A2697}" srcOrd="3" destOrd="0" parTransId="{5B39072D-9576-470A-B272-61C962306A94}" sibTransId="{BC7F11F3-80B7-4970-99DD-0C9AA0F41383}"/>
    <dgm:cxn modelId="{4924A7FD-3A3D-4284-BD6F-CFA01AA28C4A}" srcId="{1E387C22-44E6-44E8-B4E3-E1F64809C164}" destId="{F343299A-BA91-4E03-BE4E-71617E7E5B3A}" srcOrd="4" destOrd="0" parTransId="{508A5139-8415-4AF4-BAFC-53AD277DE586}" sibTransId="{435948A5-5A00-479C-9761-DECCCB34A0A0}"/>
    <dgm:cxn modelId="{F707FD1E-D548-49B8-B38A-8D38B94503EE}" type="presParOf" srcId="{4EE584F0-F17E-4E90-BB80-2C9DDA881AA8}" destId="{C9E355A0-A508-458B-8E0E-9FA6C5E7714D}" srcOrd="0" destOrd="0" presId="urn:microsoft.com/office/officeart/2009/layout/CircleArrowProcess"/>
    <dgm:cxn modelId="{0952C399-C709-41D0-B49B-3FE4AD2B19A7}" type="presParOf" srcId="{C9E355A0-A508-458B-8E0E-9FA6C5E7714D}" destId="{7A34C934-0178-4FFB-ACEC-BAB4F9426350}" srcOrd="0" destOrd="0" presId="urn:microsoft.com/office/officeart/2009/layout/CircleArrowProcess"/>
    <dgm:cxn modelId="{E531DBFB-8C4B-4967-85CA-3CD7E606AD8E}" type="presParOf" srcId="{4EE584F0-F17E-4E90-BB80-2C9DDA881AA8}" destId="{F3E6AD0D-B6B6-4465-BD73-893F56E9F325}" srcOrd="1" destOrd="0" presId="urn:microsoft.com/office/officeart/2009/layout/CircleArrowProcess"/>
    <dgm:cxn modelId="{940F346C-A5D2-4FA0-B87A-9BBD73884202}" type="presParOf" srcId="{4EE584F0-F17E-4E90-BB80-2C9DDA881AA8}" destId="{8A3BCE30-F5CD-4A7D-8DE0-57EEEC972C51}" srcOrd="2" destOrd="0" presId="urn:microsoft.com/office/officeart/2009/layout/CircleArrowProcess"/>
    <dgm:cxn modelId="{6EC9AC61-D1A3-4427-BB45-179DC553DFCC}" type="presParOf" srcId="{8A3BCE30-F5CD-4A7D-8DE0-57EEEC972C51}" destId="{5DBF5340-5F8B-44DB-B875-448745B104E7}" srcOrd="0" destOrd="0" presId="urn:microsoft.com/office/officeart/2009/layout/CircleArrowProcess"/>
    <dgm:cxn modelId="{66C1643D-9ECF-46BA-A462-077E7F38D7D1}" type="presParOf" srcId="{4EE584F0-F17E-4E90-BB80-2C9DDA881AA8}" destId="{AFB7593A-2DC9-4088-BA70-24304FA640FA}" srcOrd="3" destOrd="0" presId="urn:microsoft.com/office/officeart/2009/layout/CircleArrowProcess"/>
    <dgm:cxn modelId="{423EF8DB-0ED7-425B-B59A-312EF2A4076C}" type="presParOf" srcId="{4EE584F0-F17E-4E90-BB80-2C9DDA881AA8}" destId="{8BF01C21-1EE8-46C9-ACEE-0F63F73153B4}" srcOrd="4" destOrd="0" presId="urn:microsoft.com/office/officeart/2009/layout/CircleArrowProcess"/>
    <dgm:cxn modelId="{F24E19A6-D75F-4664-BFE5-72F2E8969C74}" type="presParOf" srcId="{8BF01C21-1EE8-46C9-ACEE-0F63F73153B4}" destId="{22CF7C50-C89B-444E-A5EA-2C152FEA2DA4}" srcOrd="0" destOrd="0" presId="urn:microsoft.com/office/officeart/2009/layout/CircleArrowProcess"/>
    <dgm:cxn modelId="{0DD53C83-0F9F-43A8-AF21-5A1D906BC1E1}" type="presParOf" srcId="{4EE584F0-F17E-4E90-BB80-2C9DDA881AA8}" destId="{8AC39351-E7EA-4198-943A-E84082166347}" srcOrd="5" destOrd="0" presId="urn:microsoft.com/office/officeart/2009/layout/CircleArrowProcess"/>
    <dgm:cxn modelId="{03C95C38-AFFB-4856-9CC6-0E472EFBFB83}" type="presParOf" srcId="{4EE584F0-F17E-4E90-BB80-2C9DDA881AA8}" destId="{829C510B-0783-46E8-97A8-CB03E2DED1CD}" srcOrd="6" destOrd="0" presId="urn:microsoft.com/office/officeart/2009/layout/CircleArrowProcess"/>
    <dgm:cxn modelId="{9BD40254-090E-4CF9-898E-0C4E3CEC25E5}" type="presParOf" srcId="{829C510B-0783-46E8-97A8-CB03E2DED1CD}" destId="{469C9B29-11AD-4110-B54F-78E31D749D04}" srcOrd="0" destOrd="0" presId="urn:microsoft.com/office/officeart/2009/layout/CircleArrowProcess"/>
    <dgm:cxn modelId="{B068A52F-B7C9-4B8B-BA6E-71483D6C0E94}" type="presParOf" srcId="{4EE584F0-F17E-4E90-BB80-2C9DDA881AA8}" destId="{9FAFEE8A-03A9-4B29-B8C8-89DA7646CC64}" srcOrd="7" destOrd="0" presId="urn:microsoft.com/office/officeart/2009/layout/CircleArrowProcess"/>
    <dgm:cxn modelId="{5EB43844-CBEF-466D-936B-B9D85CAA49F6}" type="presParOf" srcId="{4EE584F0-F17E-4E90-BB80-2C9DDA881AA8}" destId="{79890C70-A390-4343-9148-37A21EE0E79D}" srcOrd="8" destOrd="0" presId="urn:microsoft.com/office/officeart/2009/layout/CircleArrowProcess"/>
    <dgm:cxn modelId="{3E669260-8DAC-4BAA-8E24-35C82696B32A}" type="presParOf" srcId="{79890C70-A390-4343-9148-37A21EE0E79D}" destId="{E9B370C7-E3B6-46E4-8FDC-FFFF23A7F580}" srcOrd="0" destOrd="0" presId="urn:microsoft.com/office/officeart/2009/layout/CircleArrowProcess"/>
    <dgm:cxn modelId="{24551AC6-C2DE-4509-B508-5A28D782A7AF}" type="presParOf" srcId="{4EE584F0-F17E-4E90-BB80-2C9DDA881AA8}" destId="{56F43D40-8BB3-44B9-8018-0D8E306888BF}" srcOrd="9" destOrd="0" presId="urn:microsoft.com/office/officeart/2009/layout/CircleArrowProcess"/>
    <dgm:cxn modelId="{D76E6604-550A-4CB2-BE20-B9A94DB3B1A5}" type="presParOf" srcId="{4EE584F0-F17E-4E90-BB80-2C9DDA881AA8}" destId="{DBE8C0DE-AA4E-4781-93C2-620C55B04B39}" srcOrd="10" destOrd="0" presId="urn:microsoft.com/office/officeart/2009/layout/CircleArrowProcess"/>
    <dgm:cxn modelId="{211FFBA5-85E2-49C1-9208-1556FD864DA9}" type="presParOf" srcId="{DBE8C0DE-AA4E-4781-93C2-620C55B04B39}" destId="{BC6C88C2-A15C-46B5-83A0-D9E75112D853}" srcOrd="0" destOrd="0" presId="urn:microsoft.com/office/officeart/2009/layout/CircleArrowProcess"/>
    <dgm:cxn modelId="{598FE15E-7D26-4BB4-BD41-F3B48832F5F4}" type="presParOf" srcId="{4EE584F0-F17E-4E90-BB80-2C9DDA881AA8}" destId="{34A8CDE1-CD79-4030-ADAD-030C174C04C9}" srcOrd="11" destOrd="0" presId="urn:microsoft.com/office/officeart/2009/layout/Circle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34C934-0178-4FFB-ACEC-BAB4F9426350}">
      <dsp:nvSpPr>
        <dsp:cNvPr id="0" name=""/>
        <dsp:cNvSpPr/>
      </dsp:nvSpPr>
      <dsp:spPr>
        <a:xfrm>
          <a:off x="1741825" y="0"/>
          <a:ext cx="1348741" cy="134888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F3E6AD0D-B6B6-4465-BD73-893F56E9F325}">
      <dsp:nvSpPr>
        <dsp:cNvPr id="0" name=""/>
        <dsp:cNvSpPr/>
      </dsp:nvSpPr>
      <dsp:spPr>
        <a:xfrm>
          <a:off x="2039606" y="488452"/>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Problem Understanding</a:t>
          </a:r>
        </a:p>
      </dsp:txBody>
      <dsp:txXfrm>
        <a:off x="2039606" y="488452"/>
        <a:ext cx="752674" cy="376087"/>
      </dsp:txXfrm>
    </dsp:sp>
    <dsp:sp modelId="{5DBF5340-5F8B-44DB-B875-448745B104E7}">
      <dsp:nvSpPr>
        <dsp:cNvPr id="0" name=""/>
        <dsp:cNvSpPr/>
      </dsp:nvSpPr>
      <dsp:spPr>
        <a:xfrm>
          <a:off x="1367132" y="775263"/>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AFB7593A-2DC9-4088-BA70-24304FA640FA}">
      <dsp:nvSpPr>
        <dsp:cNvPr id="0" name=""/>
        <dsp:cNvSpPr/>
      </dsp:nvSpPr>
      <dsp:spPr>
        <a:xfrm>
          <a:off x="1663395" y="126525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Data Collection</a:t>
          </a:r>
        </a:p>
      </dsp:txBody>
      <dsp:txXfrm>
        <a:off x="1663395" y="1265255"/>
        <a:ext cx="752674" cy="376087"/>
      </dsp:txXfrm>
    </dsp:sp>
    <dsp:sp modelId="{22CF7C50-C89B-444E-A5EA-2C152FEA2DA4}">
      <dsp:nvSpPr>
        <dsp:cNvPr id="0" name=""/>
        <dsp:cNvSpPr/>
      </dsp:nvSpPr>
      <dsp:spPr>
        <a:xfrm>
          <a:off x="1741825" y="155309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AC39351-E7EA-4198-943A-E84082166347}">
      <dsp:nvSpPr>
        <dsp:cNvPr id="0" name=""/>
        <dsp:cNvSpPr/>
      </dsp:nvSpPr>
      <dsp:spPr>
        <a:xfrm>
          <a:off x="2039606" y="204154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Data Preprocessing</a:t>
          </a:r>
        </a:p>
      </dsp:txBody>
      <dsp:txXfrm>
        <a:off x="2039606" y="2041545"/>
        <a:ext cx="752674" cy="376087"/>
      </dsp:txXfrm>
    </dsp:sp>
    <dsp:sp modelId="{469C9B29-11AD-4110-B54F-78E31D749D04}">
      <dsp:nvSpPr>
        <dsp:cNvPr id="0" name=""/>
        <dsp:cNvSpPr/>
      </dsp:nvSpPr>
      <dsp:spPr>
        <a:xfrm>
          <a:off x="1367132" y="2329896"/>
          <a:ext cx="1348741" cy="134888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9FAFEE8A-03A9-4B29-B8C8-89DA7646CC64}">
      <dsp:nvSpPr>
        <dsp:cNvPr id="0" name=""/>
        <dsp:cNvSpPr/>
      </dsp:nvSpPr>
      <dsp:spPr>
        <a:xfrm>
          <a:off x="1663395" y="281834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Exploratory Data Analysis</a:t>
          </a:r>
        </a:p>
      </dsp:txBody>
      <dsp:txXfrm>
        <a:off x="1663395" y="2818348"/>
        <a:ext cx="752674" cy="376087"/>
      </dsp:txXfrm>
    </dsp:sp>
    <dsp:sp modelId="{E9B370C7-E3B6-46E4-8FDC-FFFF23A7F580}">
      <dsp:nvSpPr>
        <dsp:cNvPr id="0" name=""/>
        <dsp:cNvSpPr/>
      </dsp:nvSpPr>
      <dsp:spPr>
        <a:xfrm>
          <a:off x="1741825" y="3105673"/>
          <a:ext cx="1348741" cy="134888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56F43D40-8BB3-44B9-8018-0D8E306888BF}">
      <dsp:nvSpPr>
        <dsp:cNvPr id="0" name=""/>
        <dsp:cNvSpPr/>
      </dsp:nvSpPr>
      <dsp:spPr>
        <a:xfrm>
          <a:off x="2039606" y="3594125"/>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Model Development</a:t>
          </a:r>
        </a:p>
      </dsp:txBody>
      <dsp:txXfrm>
        <a:off x="2039606" y="3594125"/>
        <a:ext cx="752674" cy="376087"/>
      </dsp:txXfrm>
    </dsp:sp>
    <dsp:sp modelId="{BC6C88C2-A15C-46B5-83A0-D9E75112D853}">
      <dsp:nvSpPr>
        <dsp:cNvPr id="0" name=""/>
        <dsp:cNvSpPr/>
      </dsp:nvSpPr>
      <dsp:spPr>
        <a:xfrm>
          <a:off x="1463272" y="3971239"/>
          <a:ext cx="1158738" cy="1159560"/>
        </a:xfrm>
        <a:prstGeom prst="blockArc">
          <a:avLst>
            <a:gd name="adj1" fmla="val 0"/>
            <a:gd name="adj2" fmla="val 18900000"/>
            <a:gd name="adj3" fmla="val 12740"/>
          </a:avLst>
        </a:prstGeom>
        <a:solidFill>
          <a:schemeClr val="accent1">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34A8CDE1-CD79-4030-ADAD-030C174C04C9}">
      <dsp:nvSpPr>
        <dsp:cNvPr id="0" name=""/>
        <dsp:cNvSpPr/>
      </dsp:nvSpPr>
      <dsp:spPr>
        <a:xfrm>
          <a:off x="1663395" y="4370928"/>
          <a:ext cx="752674" cy="3760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b="1" kern="1200" dirty="0"/>
            <a:t>Model Deployment</a:t>
          </a:r>
        </a:p>
      </dsp:txBody>
      <dsp:txXfrm>
        <a:off x="1663395" y="4370928"/>
        <a:ext cx="752674" cy="376087"/>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1E02055-F1A6-831A-7351-91805F329FE1}"/>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18AFC41-DB00-48D0-AE24-46767335A08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9034496C-0390-0943-E040-0C285B7B97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193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2DB4F67-50EA-72FB-2D33-9864CC342605}"/>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DF2A12DD-ACA0-925C-6BEE-50CEC6091F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B0AA40DB-D374-76A7-54CF-99C96B1CD4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9897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81FB50C-0A52-649C-776D-1F441722A5B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15BB626-8642-31FB-501E-C60CE359610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BB6135E-B4EF-0BFA-9D6A-F6AD82F6A8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16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4CDBFE-2682-2B42-B850-D4EFCD941D6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251FE33-7846-897C-CB7B-FC4CCE5948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DBEBA4F-9413-BFE7-86B1-7CC86CD6FF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1894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C9554CB-2150-E100-E8B9-97B75998815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121B1CC8-6CDC-4D82-1E59-B87ECB1E4C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318A3FFC-C569-D222-2354-477525B8B9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922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4622E8-DBC2-820B-4351-E2B4CB41E6DB}"/>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F4C7B56-C0CD-55B9-A97D-074BEC47B44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0CD34B09-F685-6339-2520-80A8B39607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9449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1DB5E57-3439-9D5F-D8F8-2AEABE6E1AA5}"/>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AF36FFD-8341-27E9-2A9D-42B7BFE8FB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0FC96459-7182-4DB2-41D0-F620705DD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1446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2FF41AC-C67A-B41F-1245-CA544AE4BD1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58B88E0-39B4-6FFA-6F3A-D3C3AD8D40D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C9DE4AD-6DFB-A23C-7DD1-539DB1017D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19799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7FE366-5A44-349A-F6FC-4D28D3EAD97D}"/>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E91AC00F-EBF6-A8B5-1EC4-89246B2FB4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26A30DF-60C3-F0E0-B788-A2D23BA9D3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7088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5794292-4218-65E2-4CCB-72D07AEC6566}"/>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0481FA1-7C66-7A84-75A9-95FFEE69028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824B47E-525F-7953-3A05-4E6EFAC3A6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663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17C6DED-4FEB-B68A-CCFB-F8C3DC6C5AB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AFE47770-057B-EA4D-16AE-0E8C3F0668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862ACBC-4D84-445D-A588-3DAAA40B9C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3144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F66B395-3505-B5E0-7498-8CDCDBC0772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2AF5798-2875-EA29-1A3A-B6AD018A89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33595F9-CA8E-1110-ACC5-38EB92C568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104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DD1515D-D1DE-2DB2-2D37-4684EF09C0D7}"/>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5D6B860-9186-DF7C-BA2F-54901A6E51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B85A47D2-94C1-313B-4EDD-F77F02A322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1469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1EE03F-2FD0-E714-F8B6-67167FCC125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04A6085E-FEDA-91BC-FB6D-87E1F7D08E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A2A74D2A-A090-98A1-AAFF-1C56AD4E4B1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4635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D131F2-9116-1AD0-3408-199510867882}"/>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59842C26-4667-1195-0117-4537F10A34B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940234A-6D04-2D4A-6778-B4CAC51814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5785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FAFF4E0-7ABA-A3A2-BBF5-56648015341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A633F372-E944-CED1-822B-C4B3E3A567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A9FD15EE-2496-5C79-F1C7-761580120E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6002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510907D-BA24-747A-FA28-DFF35A7AC9E8}"/>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36C9501-068B-675B-F960-C66A0FB7A5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9B47580-EF40-927F-75E9-4A4804573E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80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9328BE3-A7F7-0202-31A6-AC7DC6ADB4D4}"/>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C5C100D5-894A-8402-CAD7-E7DB290F3B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58E99D91-3FB2-E209-D6AA-87B34D8280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4927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5924D29-F6E0-0550-FB96-02A12EF6BEC1}"/>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05529004-3383-BBBC-6147-0B9DB34A69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34B0E1DB-4476-BA43-BE17-A466E947A9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2114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371DADE-95C3-4B87-13D5-643BE016F186}"/>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8212AAC-A1BF-FEA1-9D6B-88D216F680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8E96CCD7-842B-F166-87B4-314381B210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235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984D0AA-AF98-F1FA-0C02-9D697DCE1218}"/>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FD714E9-4A4D-C209-31A4-3E91E03002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8652858-7AD0-EC38-0499-1BCD7AD609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3286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AE66160-433A-5B83-48D6-10A193A7DDCA}"/>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B92C251B-EB59-EBE0-6C84-3AC2EFD032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5D4FB2FF-7664-D702-F66D-CB5B70B3339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7470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25DF847-FF0A-C3A1-F187-138A1FE49524}"/>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22678D21-C2EE-2D27-BA2A-C9CC605FE16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9EB162CC-C76C-0BE2-16B9-0424AF8CFA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9993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C057EDA-D400-CB66-6129-51483C6E2DA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86B5F039-EE0C-B5FE-7840-290789D147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EBEBBF27-4788-3561-6023-14CA405082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3943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E32D361-590E-1435-D943-30734B46CBBD}"/>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9A094DEC-9E4E-AA58-3D2E-AB978992BA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716EA9C-A4DA-418E-DD4F-BB46DB2EFE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39950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8C6233-5422-F13E-7449-2C000FAED43F}"/>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A97B0E5-3241-B9DD-3AFD-581C8210C6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1D4A849-2015-68D5-8B59-14CBB1168D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1477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F5FDC8B-B867-4B55-7011-4F9200EF3C5C}"/>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F953E8A8-C6BA-2DFF-12BA-D16F29F57EF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D2B0CC4-25DB-869B-0FD3-B184CD3028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833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730A181-83E5-4F78-B4E2-77E893CE5B0C}"/>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A8558971-6C5A-31C1-B2D5-8FE10A8C3D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38A60282-6BD6-60F2-754B-CA5690A0AD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9303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69A2D00-6940-7E8F-0591-AD6BA88EB70E}"/>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243ACB9-DF08-8DAB-D436-4D04440519E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16C9B2FD-27A4-FA6D-7F8B-5D883989FB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15068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52349BC-F2B9-01C9-1D14-3A284E4E33A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D2604F4D-AFB5-CF43-8A29-81724B6D87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22B5AD8C-100E-7562-993A-8E1184B101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3054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8A28F01-9F78-3469-F050-504060FE1F8B}"/>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321AE87D-A834-981E-5635-F5B9A1613FD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73BBC932-B4F7-583C-B155-E8220AE628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77204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45608A2-7FDB-6A51-27F4-25BA44146899}"/>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43F26078-1C7C-833E-AB82-F04BF9F693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3" name="Google Shape;103;p1:notes">
            <a:extLst>
              <a:ext uri="{FF2B5EF4-FFF2-40B4-BE49-F238E27FC236}">
                <a16:creationId xmlns:a16="http://schemas.microsoft.com/office/drawing/2014/main" id="{6741ECB2-0F59-41AB-1105-BB338AA33B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58442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alphaModFix/>
          </a:blip>
          <a:src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alphaModFix/>
          </a:blip>
          <a:src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51" name="Google Shape;51;p18"/>
          <p:cNvPicPr preferRelativeResize="0"/>
          <p:nvPr/>
        </p:nvPicPr>
        <p:blipFill rotWithShape="1">
          <a:blip r:embed="rId4">
            <a:alphaModFix/>
          </a:blip>
          <a:src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1">
            <a:alphaModFix/>
          </a:blip>
          <a:src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2">
            <a:alphaModFix/>
          </a:blip>
          <a:src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pic>
        <p:nvPicPr>
          <p:cNvPr id="13" name="Google Shape;13;p13"/>
          <p:cNvPicPr preferRelativeResize="0"/>
          <p:nvPr/>
        </p:nvPicPr>
        <p:blipFill rotWithShape="1">
          <a:blip r:embed="rId13">
            <a:alphaModFix/>
          </a:blip>
          <a:src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a:ea typeface="Calibri"/>
                <a:cs typeface="Calibri"/>
                <a:sym typeface="Calibri"/>
              </a:defRPr>
            </a:lvl1pPr>
            <a:lvl2pPr marL="0" marR="0" lvl="1" indent="0" algn="r" rtl="0">
              <a:spcBef>
                <a:spcPts val="0"/>
              </a:spcBef>
              <a:buNone/>
              <a:defRPr sz="1200" b="0" i="0" u="none" strike="noStrike" cap="none">
                <a:solidFill>
                  <a:schemeClr val="lt1"/>
                </a:solidFill>
                <a:latin typeface="Calibri"/>
                <a:ea typeface="Calibri"/>
                <a:cs typeface="Calibri"/>
                <a:sym typeface="Calibri"/>
              </a:defRPr>
            </a:lvl2pPr>
            <a:lvl3pPr marL="0" marR="0" lvl="2" indent="0" algn="r" rtl="0">
              <a:spcBef>
                <a:spcPts val="0"/>
              </a:spcBef>
              <a:buNone/>
              <a:defRPr sz="1200" b="0" i="0" u="none" strike="noStrike" cap="none">
                <a:solidFill>
                  <a:schemeClr val="lt1"/>
                </a:solidFill>
                <a:latin typeface="Calibri"/>
                <a:ea typeface="Calibri"/>
                <a:cs typeface="Calibri"/>
                <a:sym typeface="Calibri"/>
              </a:defRPr>
            </a:lvl3pPr>
            <a:lvl4pPr marL="0" marR="0" lvl="3" indent="0" algn="r" rtl="0">
              <a:spcBef>
                <a:spcPts val="0"/>
              </a:spcBef>
              <a:buNone/>
              <a:defRPr sz="1200" b="0" i="0" u="none" strike="noStrike" cap="none">
                <a:solidFill>
                  <a:schemeClr val="lt1"/>
                </a:solidFill>
                <a:latin typeface="Calibri"/>
                <a:ea typeface="Calibri"/>
                <a:cs typeface="Calibri"/>
                <a:sym typeface="Calibri"/>
              </a:defRPr>
            </a:lvl4pPr>
            <a:lvl5pPr marL="0" marR="0" lvl="4" indent="0" algn="r" rtl="0">
              <a:spcBef>
                <a:spcPts val="0"/>
              </a:spcBef>
              <a:buNone/>
              <a:defRPr sz="1200" b="0" i="0" u="none" strike="noStrike" cap="none">
                <a:solidFill>
                  <a:schemeClr val="lt1"/>
                </a:solidFill>
                <a:latin typeface="Calibri"/>
                <a:ea typeface="Calibri"/>
                <a:cs typeface="Calibri"/>
                <a:sym typeface="Calibri"/>
              </a:defRPr>
            </a:lvl5pPr>
            <a:lvl6pPr marL="0" marR="0" lvl="5" indent="0" algn="r" rtl="0">
              <a:spcBef>
                <a:spcPts val="0"/>
              </a:spcBef>
              <a:buNone/>
              <a:defRPr sz="1200" b="0" i="0" u="none" strike="noStrike" cap="none">
                <a:solidFill>
                  <a:schemeClr val="lt1"/>
                </a:solidFill>
                <a:latin typeface="Calibri"/>
                <a:ea typeface="Calibri"/>
                <a:cs typeface="Calibri"/>
                <a:sym typeface="Calibri"/>
              </a:defRPr>
            </a:lvl6pPr>
            <a:lvl7pPr marL="0" marR="0" lvl="6" indent="0" algn="r" rtl="0">
              <a:spcBef>
                <a:spcPts val="0"/>
              </a:spcBef>
              <a:buNone/>
              <a:defRPr sz="1200" b="0" i="0" u="none" strike="noStrike" cap="none">
                <a:solidFill>
                  <a:schemeClr val="lt1"/>
                </a:solidFill>
                <a:latin typeface="Calibri"/>
                <a:ea typeface="Calibri"/>
                <a:cs typeface="Calibri"/>
                <a:sym typeface="Calibri"/>
              </a:defRPr>
            </a:lvl7pPr>
            <a:lvl8pPr marL="0" marR="0" lvl="7" indent="0" algn="r" rtl="0">
              <a:spcBef>
                <a:spcPts val="0"/>
              </a:spcBef>
              <a:buNone/>
              <a:defRPr sz="1200" b="0" i="0" u="none" strike="noStrike" cap="none">
                <a:solidFill>
                  <a:schemeClr val="lt1"/>
                </a:solidFill>
                <a:latin typeface="Calibri"/>
                <a:ea typeface="Calibri"/>
                <a:cs typeface="Calibri"/>
                <a:sym typeface="Calibri"/>
              </a:defRPr>
            </a:lvl8pPr>
            <a:lvl9pPr marL="0" marR="0" lvl="8" indent="0" algn="r" rtl="0">
              <a:spcBef>
                <a:spcPts val="0"/>
              </a:spcBef>
              <a:buNone/>
              <a:defRPr sz="12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0281689-6E78-3D33-B708-BB4DB098E292}"/>
            </a:ext>
          </a:extLst>
        </p:cNvPr>
        <p:cNvGrpSpPr/>
        <p:nvPr/>
      </p:nvGrpSpPr>
      <p:grpSpPr>
        <a:xfrm>
          <a:off x="0" y="0"/>
          <a:ext cx="0" cy="0"/>
          <a:chOff x="0" y="0"/>
          <a:chExt cx="0" cy="0"/>
        </a:xfrm>
      </p:grpSpPr>
      <p:cxnSp>
        <p:nvCxnSpPr>
          <p:cNvPr id="24" name="Straight Connector 23">
            <a:extLst>
              <a:ext uri="{FF2B5EF4-FFF2-40B4-BE49-F238E27FC236}">
                <a16:creationId xmlns:a16="http://schemas.microsoft.com/office/drawing/2014/main" id="{0EE75E5B-24C3-7AA9-8E27-D318A0121CE8}"/>
              </a:ext>
            </a:extLst>
          </p:cNvPr>
          <p:cNvCxnSpPr>
            <a:cxnSpLocks/>
          </p:cNvCxnSpPr>
          <p:nvPr/>
        </p:nvCxnSpPr>
        <p:spPr>
          <a:xfrm flipH="1" flipV="1">
            <a:off x="678656" y="6431756"/>
            <a:ext cx="545307" cy="502444"/>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sp>
        <p:nvSpPr>
          <p:cNvPr id="105" name="Google Shape;105;p1">
            <a:extLst>
              <a:ext uri="{FF2B5EF4-FFF2-40B4-BE49-F238E27FC236}">
                <a16:creationId xmlns:a16="http://schemas.microsoft.com/office/drawing/2014/main" id="{F9B2C133-E4E3-277E-533E-EA6F417514C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ar-EG" b="1" dirty="0"/>
              <a:t>0</a:t>
            </a:r>
            <a:r>
              <a:rPr lang="en-US" b="1" dirty="0"/>
              <a:t>5/</a:t>
            </a:r>
            <a:r>
              <a:rPr lang="ar-EG" b="1" dirty="0"/>
              <a:t>0</a:t>
            </a:r>
            <a:r>
              <a:rPr lang="en-US" b="1" dirty="0"/>
              <a:t>8/</a:t>
            </a:r>
            <a:r>
              <a:rPr lang="ar-EG" b="1" dirty="0"/>
              <a:t>20</a:t>
            </a:r>
            <a:r>
              <a:rPr lang="en-US" b="1" dirty="0"/>
              <a:t>25</a:t>
            </a:r>
            <a:endParaRPr b="1" dirty="0"/>
          </a:p>
        </p:txBody>
      </p:sp>
      <p:sp>
        <p:nvSpPr>
          <p:cNvPr id="107" name="Google Shape;107;p1">
            <a:extLst>
              <a:ext uri="{FF2B5EF4-FFF2-40B4-BE49-F238E27FC236}">
                <a16:creationId xmlns:a16="http://schemas.microsoft.com/office/drawing/2014/main" id="{8D84486D-C90F-6457-5822-FCDA8522BA5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dirty="0"/>
          </a:p>
        </p:txBody>
      </p:sp>
      <p:pic>
        <p:nvPicPr>
          <p:cNvPr id="110" name="Google Shape;110;p1" title="download.png">
            <a:extLst>
              <a:ext uri="{FF2B5EF4-FFF2-40B4-BE49-F238E27FC236}">
                <a16:creationId xmlns:a16="http://schemas.microsoft.com/office/drawing/2014/main" id="{2E20CB84-0CD4-148A-E7EA-1F97ED53153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cxnSp>
        <p:nvCxnSpPr>
          <p:cNvPr id="3" name="Straight Connector 2">
            <a:extLst>
              <a:ext uri="{FF2B5EF4-FFF2-40B4-BE49-F238E27FC236}">
                <a16:creationId xmlns:a16="http://schemas.microsoft.com/office/drawing/2014/main" id="{FD6C6B61-44D0-09E6-7AAD-10FE3E7C7901}"/>
              </a:ext>
            </a:extLst>
          </p:cNvPr>
          <p:cNvCxnSpPr>
            <a:cxnSpLocks/>
          </p:cNvCxnSpPr>
          <p:nvPr/>
        </p:nvCxnSpPr>
        <p:spPr>
          <a:xfrm flipH="1" flipV="1">
            <a:off x="57150" y="2305050"/>
            <a:ext cx="126206" cy="373856"/>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3D019019-E3F9-F20C-2214-15E41FE80A28}"/>
              </a:ext>
            </a:extLst>
          </p:cNvPr>
          <p:cNvCxnSpPr>
            <a:cxnSpLocks/>
          </p:cNvCxnSpPr>
          <p:nvPr/>
        </p:nvCxnSpPr>
        <p:spPr>
          <a:xfrm flipH="1" flipV="1">
            <a:off x="57150" y="2140744"/>
            <a:ext cx="357188" cy="538162"/>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6E7443C4-1156-4F19-9434-4F7F40BDD4F6}"/>
              </a:ext>
            </a:extLst>
          </p:cNvPr>
          <p:cNvCxnSpPr>
            <a:cxnSpLocks/>
          </p:cNvCxnSpPr>
          <p:nvPr/>
        </p:nvCxnSpPr>
        <p:spPr>
          <a:xfrm flipH="1" flipV="1">
            <a:off x="57150" y="2071687"/>
            <a:ext cx="545306" cy="607219"/>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1361D939-3AF7-2743-AD32-3177E98971C1}"/>
              </a:ext>
            </a:extLst>
          </p:cNvPr>
          <p:cNvCxnSpPr>
            <a:cxnSpLocks/>
          </p:cNvCxnSpPr>
          <p:nvPr/>
        </p:nvCxnSpPr>
        <p:spPr>
          <a:xfrm flipH="1" flipV="1">
            <a:off x="57150" y="2071687"/>
            <a:ext cx="781050" cy="607219"/>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cxnSp>
        <p:nvCxnSpPr>
          <p:cNvPr id="20" name="Straight Connector 19">
            <a:extLst>
              <a:ext uri="{FF2B5EF4-FFF2-40B4-BE49-F238E27FC236}">
                <a16:creationId xmlns:a16="http://schemas.microsoft.com/office/drawing/2014/main" id="{6719858D-C47B-5B5E-FF39-D3D367D254DB}"/>
              </a:ext>
            </a:extLst>
          </p:cNvPr>
          <p:cNvCxnSpPr>
            <a:cxnSpLocks/>
          </p:cNvCxnSpPr>
          <p:nvPr/>
        </p:nvCxnSpPr>
        <p:spPr>
          <a:xfrm flipH="1" flipV="1">
            <a:off x="552999" y="6402387"/>
            <a:ext cx="228051" cy="531813"/>
          </a:xfrm>
          <a:prstGeom prst="line">
            <a:avLst/>
          </a:prstGeom>
          <a:ln>
            <a:solidFill>
              <a:srgbClr val="CDE4DD"/>
            </a:solidFill>
          </a:ln>
        </p:spPr>
        <p:style>
          <a:lnRef idx="1">
            <a:schemeClr val="accent6"/>
          </a:lnRef>
          <a:fillRef idx="0">
            <a:schemeClr val="accent6"/>
          </a:fillRef>
          <a:effectRef idx="0">
            <a:schemeClr val="accent6"/>
          </a:effectRef>
          <a:fontRef idx="minor">
            <a:schemeClr val="tx1"/>
          </a:fontRef>
        </p:style>
      </p:cxnSp>
      <p:sp>
        <p:nvSpPr>
          <p:cNvPr id="29" name="Rectangle 28">
            <a:extLst>
              <a:ext uri="{FF2B5EF4-FFF2-40B4-BE49-F238E27FC236}">
                <a16:creationId xmlns:a16="http://schemas.microsoft.com/office/drawing/2014/main" id="{D887A4A5-1682-BF15-43A6-EF34C716EDE3}"/>
              </a:ext>
            </a:extLst>
          </p:cNvPr>
          <p:cNvSpPr/>
          <p:nvPr/>
        </p:nvSpPr>
        <p:spPr>
          <a:xfrm>
            <a:off x="839349" y="6561931"/>
            <a:ext cx="309749" cy="159544"/>
          </a:xfrm>
          <a:prstGeom prst="rect">
            <a:avLst/>
          </a:prstGeom>
          <a:solidFill>
            <a:srgbClr val="1869A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AB5DC6-0BF3-6B49-88BF-EF0EF93FC7B3}"/>
              </a:ext>
            </a:extLst>
          </p:cNvPr>
          <p:cNvSpPr txBox="1"/>
          <p:nvPr/>
        </p:nvSpPr>
        <p:spPr>
          <a:xfrm>
            <a:off x="3786188" y="4314825"/>
            <a:ext cx="5599352"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Supervised by: Eng. Mahmoud Talaat</a:t>
            </a:r>
          </a:p>
        </p:txBody>
      </p:sp>
      <p:sp>
        <p:nvSpPr>
          <p:cNvPr id="2" name="TextBox 1">
            <a:extLst>
              <a:ext uri="{FF2B5EF4-FFF2-40B4-BE49-F238E27FC236}">
                <a16:creationId xmlns:a16="http://schemas.microsoft.com/office/drawing/2014/main" id="{3BC678B8-8148-FA97-ED34-92FC1A907CCA}"/>
              </a:ext>
            </a:extLst>
          </p:cNvPr>
          <p:cNvSpPr txBox="1"/>
          <p:nvPr/>
        </p:nvSpPr>
        <p:spPr>
          <a:xfrm>
            <a:off x="1149098" y="2071687"/>
            <a:ext cx="9252202" cy="2123658"/>
          </a:xfrm>
          <a:prstGeom prst="rect">
            <a:avLst/>
          </a:prstGeom>
          <a:noFill/>
        </p:spPr>
        <p:txBody>
          <a:bodyPr wrap="square" rtlCol="0">
            <a:spAutoFit/>
          </a:bodyPr>
          <a:lstStyle/>
          <a:p>
            <a:r>
              <a:rPr lang="en-US" sz="4400" b="1" dirty="0">
                <a:solidFill>
                  <a:srgbClr val="1869A6"/>
                </a:solidFill>
                <a:latin typeface="Eras Bold ITC" panose="020B0907030504020204" pitchFamily="34" charset="0"/>
              </a:rPr>
              <a:t>SALES FORECASTING </a:t>
            </a:r>
          </a:p>
          <a:p>
            <a:r>
              <a:rPr lang="en-US" sz="4400" b="1" dirty="0">
                <a:latin typeface="Eras Bold ITC" panose="020B0907030504020204" pitchFamily="34" charset="0"/>
              </a:rPr>
              <a:t>	</a:t>
            </a:r>
            <a:r>
              <a:rPr lang="en-US" sz="4400" b="1" dirty="0">
                <a:solidFill>
                  <a:srgbClr val="0FAB7D"/>
                </a:solidFill>
                <a:latin typeface="Eras Bold ITC" panose="020B0907030504020204" pitchFamily="34" charset="0"/>
              </a:rPr>
              <a:t>and</a:t>
            </a:r>
            <a:r>
              <a:rPr lang="en-US" sz="4400" b="1" dirty="0">
                <a:latin typeface="Eras Bold ITC" panose="020B0907030504020204" pitchFamily="34" charset="0"/>
              </a:rPr>
              <a:t> </a:t>
            </a:r>
          </a:p>
          <a:p>
            <a:r>
              <a:rPr lang="en-US" sz="4400" b="1" dirty="0">
                <a:latin typeface="Eras Bold ITC" panose="020B0907030504020204" pitchFamily="34" charset="0"/>
              </a:rPr>
              <a:t>		</a:t>
            </a:r>
            <a:r>
              <a:rPr lang="en-US" sz="4400" b="1" dirty="0">
                <a:solidFill>
                  <a:srgbClr val="1869A6"/>
                </a:solidFill>
                <a:latin typeface="Eras Bold ITC" panose="020B0907030504020204" pitchFamily="34" charset="0"/>
              </a:rPr>
              <a:t>DEMAND PREDICTION</a:t>
            </a:r>
          </a:p>
        </p:txBody>
      </p:sp>
      <p:sp>
        <p:nvSpPr>
          <p:cNvPr id="4" name="Google Shape;105;p1">
            <a:extLst>
              <a:ext uri="{FF2B5EF4-FFF2-40B4-BE49-F238E27FC236}">
                <a16:creationId xmlns:a16="http://schemas.microsoft.com/office/drawing/2014/main" id="{00949235-4C92-A538-87B9-171FF8865D88}"/>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a:t>
            </a:r>
            <a:endParaRPr lang="ar-EG" b="1" dirty="0"/>
          </a:p>
        </p:txBody>
      </p:sp>
    </p:spTree>
    <p:extLst>
      <p:ext uri="{BB962C8B-B14F-4D97-AF65-F5344CB8AC3E}">
        <p14:creationId xmlns:p14="http://schemas.microsoft.com/office/powerpoint/2010/main" val="30003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7B4C9C-EE55-88C3-FAB9-BD8602DAF9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B3CA0C-3D47-C631-CE13-EB2B2AEDCBD5}"/>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4DF7E6F9-5C3C-4D91-B714-386DFB5C222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E26378E-4BEE-C704-9EFA-FB0068E891FA}"/>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dirty="0"/>
          </a:p>
        </p:txBody>
      </p:sp>
      <p:pic>
        <p:nvPicPr>
          <p:cNvPr id="110" name="Google Shape;110;p1" title="download.png">
            <a:extLst>
              <a:ext uri="{FF2B5EF4-FFF2-40B4-BE49-F238E27FC236}">
                <a16:creationId xmlns:a16="http://schemas.microsoft.com/office/drawing/2014/main" id="{AFA4551C-4C3A-407E-0560-9DED58E41791}"/>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AB4F76D4-FC18-6E5B-8875-6BEBCE70C83E}"/>
              </a:ext>
            </a:extLst>
          </p:cNvPr>
          <p:cNvSpPr txBox="1"/>
          <p:nvPr/>
        </p:nvSpPr>
        <p:spPr>
          <a:xfrm>
            <a:off x="748109" y="1933595"/>
            <a:ext cx="10264327" cy="3908186"/>
          </a:xfrm>
          <a:prstGeom prst="rect">
            <a:avLst/>
          </a:prstGeom>
          <a:noFill/>
        </p:spPr>
        <p:txBody>
          <a:bodyPr wrap="square" rtlCol="0">
            <a:spAutoFit/>
          </a:bodyPr>
          <a:lstStyle/>
          <a:p>
            <a:pPr>
              <a:lnSpc>
                <a:spcPct val="150000"/>
              </a:lnSpc>
            </a:pPr>
            <a:r>
              <a:rPr lang="en-US" sz="2800" dirty="0">
                <a:solidFill>
                  <a:schemeClr val="tx1">
                    <a:lumMod val="65000"/>
                    <a:lumOff val="35000"/>
                  </a:schemeClr>
                </a:solidFill>
                <a:latin typeface="Aptos ExtraBold" panose="020B0004020202020204" pitchFamily="34" charset="0"/>
              </a:rPr>
              <a:t>01 Introduction</a:t>
            </a:r>
          </a:p>
          <a:p>
            <a:pPr>
              <a:lnSpc>
                <a:spcPct val="150000"/>
              </a:lnSpc>
            </a:pPr>
            <a:r>
              <a:rPr lang="en-US" sz="2800" dirty="0">
                <a:solidFill>
                  <a:schemeClr val="tx1">
                    <a:lumMod val="65000"/>
                    <a:lumOff val="35000"/>
                  </a:schemeClr>
                </a:solidFill>
                <a:latin typeface="Aptos ExtraBold" panose="020B0004020202020204" pitchFamily="34" charset="0"/>
              </a:rPr>
              <a:t>02 Problem Statement</a:t>
            </a:r>
          </a:p>
          <a:p>
            <a:pPr>
              <a:lnSpc>
                <a:spcPct val="150000"/>
              </a:lnSpc>
            </a:pPr>
            <a:r>
              <a:rPr lang="en-US" sz="2800" dirty="0">
                <a:solidFill>
                  <a:schemeClr val="tx1">
                    <a:lumMod val="65000"/>
                    <a:lumOff val="35000"/>
                  </a:schemeClr>
                </a:solidFill>
                <a:latin typeface="Aptos ExtraBold" panose="020B0004020202020204" pitchFamily="34" charset="0"/>
              </a:rPr>
              <a:t>03 Proposed solution</a:t>
            </a:r>
          </a:p>
          <a:p>
            <a:pPr>
              <a:lnSpc>
                <a:spcPct val="150000"/>
              </a:lnSpc>
            </a:pPr>
            <a:r>
              <a:rPr lang="en-US" sz="2800" dirty="0">
                <a:solidFill>
                  <a:schemeClr val="tx1">
                    <a:lumMod val="65000"/>
                    <a:lumOff val="35000"/>
                  </a:schemeClr>
                </a:solidFill>
                <a:latin typeface="Aptos ExtraBold" panose="020B0004020202020204" pitchFamily="34" charset="0"/>
              </a:rPr>
              <a:t>04 Methodology</a:t>
            </a:r>
          </a:p>
          <a:p>
            <a:pPr>
              <a:lnSpc>
                <a:spcPct val="150000"/>
              </a:lnSpc>
            </a:pPr>
            <a:r>
              <a:rPr lang="en-US" sz="2800" dirty="0">
                <a:solidFill>
                  <a:schemeClr val="tx1">
                    <a:lumMod val="65000"/>
                    <a:lumOff val="35000"/>
                  </a:schemeClr>
                </a:solidFill>
                <a:latin typeface="Aptos ExtraBold" panose="020B0004020202020204" pitchFamily="34" charset="0"/>
              </a:rPr>
              <a:t>05 Conclusion</a:t>
            </a:r>
          </a:p>
          <a:p>
            <a:pPr>
              <a:lnSpc>
                <a:spcPct val="150000"/>
              </a:lnSpc>
            </a:pPr>
            <a:endParaRPr lang="en-US" sz="2800" dirty="0">
              <a:solidFill>
                <a:schemeClr val="tx1">
                  <a:lumMod val="65000"/>
                  <a:lumOff val="35000"/>
                </a:schemeClr>
              </a:solidFill>
              <a:latin typeface="Aptos ExtraBold" panose="020B0004020202020204" pitchFamily="34" charset="0"/>
            </a:endParaRPr>
          </a:p>
        </p:txBody>
      </p:sp>
      <p:sp>
        <p:nvSpPr>
          <p:cNvPr id="2" name="TextBox 1">
            <a:extLst>
              <a:ext uri="{FF2B5EF4-FFF2-40B4-BE49-F238E27FC236}">
                <a16:creationId xmlns:a16="http://schemas.microsoft.com/office/drawing/2014/main" id="{C0D69689-8268-D800-27E6-BE9A4C1B46D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Table of Content</a:t>
            </a:r>
          </a:p>
        </p:txBody>
      </p:sp>
      <p:sp>
        <p:nvSpPr>
          <p:cNvPr id="8" name="Google Shape;105;p1">
            <a:extLst>
              <a:ext uri="{FF2B5EF4-FFF2-40B4-BE49-F238E27FC236}">
                <a16:creationId xmlns:a16="http://schemas.microsoft.com/office/drawing/2014/main" id="{7E6AA106-AA08-4EA6-86F3-8D8904B905B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9" name="Google Shape;105;p1">
            <a:extLst>
              <a:ext uri="{FF2B5EF4-FFF2-40B4-BE49-F238E27FC236}">
                <a16:creationId xmlns:a16="http://schemas.microsoft.com/office/drawing/2014/main" id="{AD19C3F7-A46F-EB1A-0496-34F0E6207A18}"/>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a:t>
            </a:r>
            <a:endParaRPr lang="ar-EG" b="1" dirty="0"/>
          </a:p>
        </p:txBody>
      </p:sp>
    </p:spTree>
    <p:extLst>
      <p:ext uri="{BB962C8B-B14F-4D97-AF65-F5344CB8AC3E}">
        <p14:creationId xmlns:p14="http://schemas.microsoft.com/office/powerpoint/2010/main" val="2411250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5D30197-9FF7-8349-3F6E-859D0E4A1A7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9F6C11-30AD-5059-2635-534D665008DC}"/>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F941840A-4DE8-E894-402A-1C73978FAA08}"/>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8552A6D-C60A-7702-1967-336364F259C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dirty="0"/>
          </a:p>
        </p:txBody>
      </p:sp>
      <p:pic>
        <p:nvPicPr>
          <p:cNvPr id="110" name="Google Shape;110;p1" title="download.png">
            <a:extLst>
              <a:ext uri="{FF2B5EF4-FFF2-40B4-BE49-F238E27FC236}">
                <a16:creationId xmlns:a16="http://schemas.microsoft.com/office/drawing/2014/main" id="{08C43CF5-B3A8-C943-C64E-99BFA2501788}"/>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F1B2B041-4CC1-9E4E-823F-DCF00F8AA3D1}"/>
              </a:ext>
            </a:extLst>
          </p:cNvPr>
          <p:cNvSpPr txBox="1"/>
          <p:nvPr/>
        </p:nvSpPr>
        <p:spPr>
          <a:xfrm>
            <a:off x="203372" y="1854200"/>
            <a:ext cx="11353800" cy="3539430"/>
          </a:xfrm>
          <a:prstGeom prst="rect">
            <a:avLst/>
          </a:prstGeom>
          <a:noFill/>
        </p:spPr>
        <p:txBody>
          <a:bodyPr wrap="square" rtlCol="0">
            <a:spAutoFit/>
          </a:bodyPr>
          <a:lstStyle/>
          <a:p>
            <a:pPr algn="just"/>
            <a:r>
              <a:rPr lang="en-US" sz="2800" dirty="0">
                <a:solidFill>
                  <a:srgbClr val="0FAB7D"/>
                </a:solidFill>
                <a:latin typeface="Aptos ExtraBold" panose="020B0004020202020204" pitchFamily="34" charset="0"/>
              </a:rPr>
              <a:t>Sales Forecasting &amp; Demand Prediction </a:t>
            </a:r>
            <a:r>
              <a:rPr lang="en-US" sz="2800" dirty="0">
                <a:solidFill>
                  <a:schemeClr val="tx1">
                    <a:lumMod val="65000"/>
                    <a:lumOff val="35000"/>
                  </a:schemeClr>
                </a:solidFill>
                <a:latin typeface="Aptos ExtraBold" panose="020B0004020202020204" pitchFamily="34" charset="0"/>
              </a:rPr>
              <a:t>is a data science project aimed at building a pred</a:t>
            </a:r>
            <a:r>
              <a:rPr lang="en-US" sz="2800" b="1" dirty="0">
                <a:solidFill>
                  <a:schemeClr val="tx1">
                    <a:lumMod val="65000"/>
                    <a:lumOff val="35000"/>
                  </a:schemeClr>
                </a:solidFill>
                <a:latin typeface="Aptos ExtraBold" panose="020B0004020202020204" pitchFamily="34" charset="0"/>
              </a:rPr>
              <a:t>ictive system </a:t>
            </a:r>
            <a:r>
              <a:rPr lang="en-US" sz="2800" dirty="0">
                <a:solidFill>
                  <a:schemeClr val="tx1">
                    <a:lumMod val="65000"/>
                    <a:lumOff val="35000"/>
                  </a:schemeClr>
                </a:solidFill>
                <a:latin typeface="Aptos ExtraBold" panose="020B0004020202020204" pitchFamily="34" charset="0"/>
              </a:rPr>
              <a:t>that accurately forecasts future product demand using historical sales data and external variables such as promotions, holidays, and weather conditions. The objective is to help businesses reduce stockouts and overstocking, improve operational and financial planning, and enable more effective, data-driven decisions across marketing, supply chain, and inventory management. </a:t>
            </a:r>
          </a:p>
        </p:txBody>
      </p:sp>
      <p:sp>
        <p:nvSpPr>
          <p:cNvPr id="2" name="TextBox 1">
            <a:extLst>
              <a:ext uri="{FF2B5EF4-FFF2-40B4-BE49-F238E27FC236}">
                <a16:creationId xmlns:a16="http://schemas.microsoft.com/office/drawing/2014/main" id="{42A14EB2-ABFD-AD5E-E080-50D3D81D408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Introduction</a:t>
            </a:r>
          </a:p>
        </p:txBody>
      </p:sp>
      <p:sp>
        <p:nvSpPr>
          <p:cNvPr id="8" name="Google Shape;105;p1">
            <a:extLst>
              <a:ext uri="{FF2B5EF4-FFF2-40B4-BE49-F238E27FC236}">
                <a16:creationId xmlns:a16="http://schemas.microsoft.com/office/drawing/2014/main" id="{22F65CAB-4E3F-ABEA-C2B9-5B716B93F79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6" name="Google Shape;105;p1">
            <a:extLst>
              <a:ext uri="{FF2B5EF4-FFF2-40B4-BE49-F238E27FC236}">
                <a16:creationId xmlns:a16="http://schemas.microsoft.com/office/drawing/2014/main" id="{DDD9A0B0-9D2B-F535-C8F5-1FE37CED09F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3</a:t>
            </a:r>
            <a:endParaRPr lang="ar-EG" b="1" dirty="0"/>
          </a:p>
        </p:txBody>
      </p:sp>
    </p:spTree>
    <p:extLst>
      <p:ext uri="{BB962C8B-B14F-4D97-AF65-F5344CB8AC3E}">
        <p14:creationId xmlns:p14="http://schemas.microsoft.com/office/powerpoint/2010/main" val="4019437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7AFFEC8-9835-2C7E-F955-7A3B47E33F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42BE59-D84A-71B5-6878-E0A3AF5757AB}"/>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F87EF5BB-22BE-4CA9-3516-7C433369E64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33E2495-E1F5-A936-9AB7-936822F4EC6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dirty="0"/>
          </a:p>
        </p:txBody>
      </p:sp>
      <p:pic>
        <p:nvPicPr>
          <p:cNvPr id="110" name="Google Shape;110;p1" title="download.png">
            <a:extLst>
              <a:ext uri="{FF2B5EF4-FFF2-40B4-BE49-F238E27FC236}">
                <a16:creationId xmlns:a16="http://schemas.microsoft.com/office/drawing/2014/main" id="{03E317B5-DD2F-753D-F3CA-052A7B5D5F87}"/>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5" name="TextBox 4">
            <a:extLst>
              <a:ext uri="{FF2B5EF4-FFF2-40B4-BE49-F238E27FC236}">
                <a16:creationId xmlns:a16="http://schemas.microsoft.com/office/drawing/2014/main" id="{B878F20B-B8C7-9025-E59C-B1C11DABA1EA}"/>
              </a:ext>
            </a:extLst>
          </p:cNvPr>
          <p:cNvSpPr txBox="1"/>
          <p:nvPr/>
        </p:nvSpPr>
        <p:spPr>
          <a:xfrm>
            <a:off x="203372" y="1712009"/>
            <a:ext cx="11353800" cy="4154984"/>
          </a:xfrm>
          <a:prstGeom prst="rect">
            <a:avLst/>
          </a:prstGeom>
          <a:noFill/>
        </p:spPr>
        <p:txBody>
          <a:bodyPr wrap="square" rtlCol="0">
            <a:spAutoFit/>
          </a:bodyPr>
          <a:lstStyle/>
          <a:p>
            <a:pPr marL="514350" indent="-51435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Businesses often struggle to predict demand accurately in a world driven by dynamic factors like promotions, seasonality, and customer behavior. </a:t>
            </a:r>
          </a:p>
          <a:p>
            <a:pPr algn="just"/>
            <a:endParaRPr lang="en-US" sz="2000" dirty="0">
              <a:solidFill>
                <a:schemeClr val="tx1">
                  <a:lumMod val="65000"/>
                  <a:lumOff val="35000"/>
                </a:schemeClr>
              </a:solidFill>
              <a:latin typeface="Aptos ExtraBold" panose="020B0004020202020204" pitchFamily="34" charset="0"/>
            </a:endParaRPr>
          </a:p>
          <a:p>
            <a:pPr marL="457200" indent="-45720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Traditional methods often lead to stockouts, overstocking, and lost opportunities. </a:t>
            </a:r>
          </a:p>
          <a:p>
            <a:pPr algn="just"/>
            <a:endParaRPr lang="en-US" sz="2000" dirty="0">
              <a:solidFill>
                <a:schemeClr val="tx1">
                  <a:lumMod val="65000"/>
                  <a:lumOff val="35000"/>
                </a:schemeClr>
              </a:solidFill>
              <a:latin typeface="Aptos ExtraBold" panose="020B0004020202020204" pitchFamily="34" charset="0"/>
            </a:endParaRPr>
          </a:p>
          <a:p>
            <a:pPr marL="457200" indent="-457200" algn="just">
              <a:buClr>
                <a:schemeClr val="tx1">
                  <a:lumMod val="65000"/>
                  <a:lumOff val="35000"/>
                </a:schemeClr>
              </a:buClr>
              <a:buFont typeface="Wingdings" panose="05000000000000000000" pitchFamily="2" charset="2"/>
              <a:buChar char="Ø"/>
            </a:pPr>
            <a:r>
              <a:rPr lang="en-US" sz="2800" dirty="0">
                <a:solidFill>
                  <a:schemeClr val="tx1">
                    <a:lumMod val="65000"/>
                    <a:lumOff val="35000"/>
                  </a:schemeClr>
                </a:solidFill>
                <a:latin typeface="Aptos ExtraBold" panose="020B0004020202020204" pitchFamily="34" charset="0"/>
              </a:rPr>
              <a:t>This creates a critical need for a forecasting system that aligns inventory, marketing, and operations with real-world demand patterns.</a:t>
            </a:r>
          </a:p>
        </p:txBody>
      </p:sp>
      <p:sp>
        <p:nvSpPr>
          <p:cNvPr id="2" name="TextBox 1">
            <a:extLst>
              <a:ext uri="{FF2B5EF4-FFF2-40B4-BE49-F238E27FC236}">
                <a16:creationId xmlns:a16="http://schemas.microsoft.com/office/drawing/2014/main" id="{36879A8B-4271-EA31-1046-00CF48836ABA}"/>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Problem Statement</a:t>
            </a:r>
          </a:p>
        </p:txBody>
      </p:sp>
      <p:sp>
        <p:nvSpPr>
          <p:cNvPr id="8" name="Google Shape;105;p1">
            <a:extLst>
              <a:ext uri="{FF2B5EF4-FFF2-40B4-BE49-F238E27FC236}">
                <a16:creationId xmlns:a16="http://schemas.microsoft.com/office/drawing/2014/main" id="{AABB9451-EC61-6F00-AF6F-5A6FD55F673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0</a:t>
            </a:r>
            <a:r>
              <a:rPr lang="en-US" b="1" dirty="0"/>
              <a:t>5/</a:t>
            </a:r>
            <a:r>
              <a:rPr lang="ar-EG" b="1" dirty="0"/>
              <a:t>0</a:t>
            </a:r>
            <a:r>
              <a:rPr lang="en-US" b="1" dirty="0"/>
              <a:t>8/</a:t>
            </a:r>
            <a:r>
              <a:rPr lang="ar-EG" b="1" dirty="0"/>
              <a:t>20</a:t>
            </a:r>
            <a:r>
              <a:rPr lang="en-US" b="1" dirty="0"/>
              <a:t>25</a:t>
            </a:r>
          </a:p>
        </p:txBody>
      </p:sp>
      <p:sp>
        <p:nvSpPr>
          <p:cNvPr id="6" name="Google Shape;105;p1">
            <a:extLst>
              <a:ext uri="{FF2B5EF4-FFF2-40B4-BE49-F238E27FC236}">
                <a16:creationId xmlns:a16="http://schemas.microsoft.com/office/drawing/2014/main" id="{DE5DC8DD-3D7A-AA86-6936-663CBBC052AF}"/>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4</a:t>
            </a:r>
            <a:endParaRPr lang="ar-EG" b="1" dirty="0"/>
          </a:p>
        </p:txBody>
      </p:sp>
    </p:spTree>
    <p:extLst>
      <p:ext uri="{BB962C8B-B14F-4D97-AF65-F5344CB8AC3E}">
        <p14:creationId xmlns:p14="http://schemas.microsoft.com/office/powerpoint/2010/main" val="18184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8DDD6BA-104B-2242-0A95-0F934FF092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C729F2-23E4-0C4C-90D0-F4BB5553EE8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B597DEAF-322E-71BD-D884-0BA4F184D60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EF006AE-A843-0338-9719-C2F50565E77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dirty="0"/>
          </a:p>
        </p:txBody>
      </p:sp>
      <p:pic>
        <p:nvPicPr>
          <p:cNvPr id="110" name="Google Shape;110;p1" title="download.png">
            <a:extLst>
              <a:ext uri="{FF2B5EF4-FFF2-40B4-BE49-F238E27FC236}">
                <a16:creationId xmlns:a16="http://schemas.microsoft.com/office/drawing/2014/main" id="{C0BD863B-29C8-D995-1924-C00FF01541B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6F6CE5D6-BABB-6658-11C6-26BA8FAD871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Proposed Solution</a:t>
            </a:r>
          </a:p>
        </p:txBody>
      </p:sp>
      <p:sp>
        <p:nvSpPr>
          <p:cNvPr id="8" name="Google Shape;105;p1">
            <a:extLst>
              <a:ext uri="{FF2B5EF4-FFF2-40B4-BE49-F238E27FC236}">
                <a16:creationId xmlns:a16="http://schemas.microsoft.com/office/drawing/2014/main" id="{2FAA4FD0-F4AA-3C48-6F62-34B3885AE1A5}"/>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3" name="TextBox 2">
            <a:extLst>
              <a:ext uri="{FF2B5EF4-FFF2-40B4-BE49-F238E27FC236}">
                <a16:creationId xmlns:a16="http://schemas.microsoft.com/office/drawing/2014/main" id="{00A8BE72-839F-9CF6-CC36-E5E63A6F41F8}"/>
              </a:ext>
            </a:extLst>
          </p:cNvPr>
          <p:cNvSpPr txBox="1"/>
          <p:nvPr/>
        </p:nvSpPr>
        <p:spPr>
          <a:xfrm>
            <a:off x="342900" y="1578491"/>
            <a:ext cx="11176000" cy="4739759"/>
          </a:xfrm>
          <a:prstGeom prst="rect">
            <a:avLst/>
          </a:prstGeom>
          <a:noFill/>
        </p:spPr>
        <p:txBody>
          <a:bodyPr wrap="square" rtlCol="0">
            <a:spAutoFit/>
          </a:bodyPr>
          <a:lstStyle/>
          <a:p>
            <a:pPr algn="just">
              <a:buNone/>
            </a:pPr>
            <a:r>
              <a:rPr lang="en-US" sz="2800" dirty="0">
                <a:solidFill>
                  <a:schemeClr val="tx1">
                    <a:lumMod val="65000"/>
                    <a:lumOff val="35000"/>
                  </a:schemeClr>
                </a:solidFill>
                <a:latin typeface="Aptos ExtraBold" panose="020B0004020202020204" pitchFamily="34" charset="0"/>
              </a:rPr>
              <a:t>We built a machine learning model that uses historical sales data and time-based features to forecast future demand. </a:t>
            </a:r>
          </a:p>
          <a:p>
            <a:pPr algn="just">
              <a:buNone/>
            </a:pPr>
            <a:endParaRPr lang="en-US" dirty="0">
              <a:solidFill>
                <a:schemeClr val="tx1">
                  <a:lumMod val="65000"/>
                  <a:lumOff val="35000"/>
                </a:schemeClr>
              </a:solidFill>
              <a:latin typeface="Aptos ExtraBold" panose="020B0004020202020204" pitchFamily="34" charset="0"/>
            </a:endParaRPr>
          </a:p>
          <a:p>
            <a:pPr algn="just">
              <a:buNone/>
            </a:pPr>
            <a:r>
              <a:rPr lang="en-US" sz="2800" dirty="0">
                <a:solidFill>
                  <a:srgbClr val="0FAB7D"/>
                </a:solidFill>
                <a:latin typeface="Aptos ExtraBold" panose="020B0004020202020204" pitchFamily="34" charset="0"/>
              </a:rPr>
              <a:t>Key steps included:</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Segment analysis through EDA.</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Feature engineering (lags, promotions, seasonality).</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Model training with </a:t>
            </a:r>
            <a:r>
              <a:rPr lang="en-US" sz="2400" dirty="0" err="1">
                <a:solidFill>
                  <a:schemeClr val="tx1">
                    <a:lumMod val="65000"/>
                    <a:lumOff val="35000"/>
                  </a:schemeClr>
                </a:solidFill>
                <a:latin typeface="Aptos ExtraBold" panose="020B0004020202020204" pitchFamily="34" charset="0"/>
              </a:rPr>
              <a:t>XGBoost</a:t>
            </a:r>
            <a:r>
              <a:rPr lang="en-US" sz="2400" dirty="0">
                <a:solidFill>
                  <a:schemeClr val="tx1">
                    <a:lumMod val="65000"/>
                    <a:lumOff val="35000"/>
                  </a:schemeClr>
                </a:solidFill>
                <a:latin typeface="Aptos ExtraBold" panose="020B0004020202020204" pitchFamily="34" charset="0"/>
              </a:rPr>
              <a:t> for high accuracy.</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Deployment using Flask to serve forecasts via API.</a:t>
            </a:r>
          </a:p>
          <a:p>
            <a:pPr marL="457200" indent="-457200" algn="just">
              <a:buClr>
                <a:schemeClr val="tx1">
                  <a:lumMod val="65000"/>
                  <a:lumOff val="35000"/>
                </a:schemeClr>
              </a:buClr>
              <a:buFont typeface="Courier New" panose="02070309020205020404" pitchFamily="49" charset="0"/>
              <a:buChar char="o"/>
            </a:pPr>
            <a:r>
              <a:rPr lang="en-US" sz="2400" dirty="0">
                <a:solidFill>
                  <a:schemeClr val="tx1">
                    <a:lumMod val="65000"/>
                    <a:lumOff val="35000"/>
                  </a:schemeClr>
                </a:solidFill>
                <a:latin typeface="Aptos ExtraBold" panose="020B0004020202020204" pitchFamily="34" charset="0"/>
              </a:rPr>
              <a:t>Forecast generation to guide inventory and marketing decisions.</a:t>
            </a:r>
          </a:p>
          <a:p>
            <a:pPr algn="just"/>
            <a:endParaRPr lang="en-US" sz="1200" dirty="0">
              <a:solidFill>
                <a:schemeClr val="tx1">
                  <a:lumMod val="65000"/>
                  <a:lumOff val="35000"/>
                </a:schemeClr>
              </a:solidFill>
              <a:latin typeface="Aptos ExtraBold" panose="020B0004020202020204" pitchFamily="34" charset="0"/>
            </a:endParaRPr>
          </a:p>
          <a:p>
            <a:pPr algn="just"/>
            <a:r>
              <a:rPr lang="en-US" sz="2800" dirty="0">
                <a:solidFill>
                  <a:schemeClr val="tx1">
                    <a:lumMod val="65000"/>
                    <a:lumOff val="35000"/>
                  </a:schemeClr>
                </a:solidFill>
                <a:latin typeface="Aptos ExtraBold" panose="020B0004020202020204" pitchFamily="34" charset="0"/>
              </a:rPr>
              <a:t>This solution enables accurate, accessible, and data-driven sales planning.</a:t>
            </a:r>
          </a:p>
          <a:p>
            <a:pPr algn="just"/>
            <a:endParaRPr lang="en-US" dirty="0"/>
          </a:p>
        </p:txBody>
      </p:sp>
      <p:sp>
        <p:nvSpPr>
          <p:cNvPr id="6" name="Google Shape;105;p1">
            <a:extLst>
              <a:ext uri="{FF2B5EF4-FFF2-40B4-BE49-F238E27FC236}">
                <a16:creationId xmlns:a16="http://schemas.microsoft.com/office/drawing/2014/main" id="{DED12042-7DC0-2512-4C2F-5F118A37A07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5</a:t>
            </a:r>
            <a:endParaRPr lang="ar-EG" b="1" dirty="0"/>
          </a:p>
        </p:txBody>
      </p:sp>
    </p:spTree>
    <p:extLst>
      <p:ext uri="{BB962C8B-B14F-4D97-AF65-F5344CB8AC3E}">
        <p14:creationId xmlns:p14="http://schemas.microsoft.com/office/powerpoint/2010/main" val="237821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CAC8F8-5224-3BBB-48A4-4F29BC4FC6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DA160A2-FE09-5EFB-E87B-8670F8FE1AE0}"/>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7D68587B-A54B-5D31-3FBD-3AC8CC1666C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84A5446C-4701-DAAA-2FED-4053FEC96831}"/>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dirty="0"/>
          </a:p>
        </p:txBody>
      </p:sp>
      <p:pic>
        <p:nvPicPr>
          <p:cNvPr id="110" name="Google Shape;110;p1" title="download.png">
            <a:extLst>
              <a:ext uri="{FF2B5EF4-FFF2-40B4-BE49-F238E27FC236}">
                <a16:creationId xmlns:a16="http://schemas.microsoft.com/office/drawing/2014/main" id="{E70AE179-9763-BCBF-DB63-41EE4693D8C9}"/>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ADA1C5C-E5FB-7545-0E5D-E078250FDBD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576649C-7771-067F-2186-D05D64C8DA9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graphicFrame>
        <p:nvGraphicFramePr>
          <p:cNvPr id="3" name="Diagram 2">
            <a:extLst>
              <a:ext uri="{FF2B5EF4-FFF2-40B4-BE49-F238E27FC236}">
                <a16:creationId xmlns:a16="http://schemas.microsoft.com/office/drawing/2014/main" id="{738F659B-A907-C9C6-38B0-A7249AC16F1C}"/>
              </a:ext>
            </a:extLst>
          </p:cNvPr>
          <p:cNvGraphicFramePr/>
          <p:nvPr>
            <p:extLst>
              <p:ext uri="{D42A27DB-BD31-4B8C-83A1-F6EECF244321}">
                <p14:modId xmlns:p14="http://schemas.microsoft.com/office/powerpoint/2010/main" val="2635237888"/>
              </p:ext>
            </p:extLst>
          </p:nvPr>
        </p:nvGraphicFramePr>
        <p:xfrm>
          <a:off x="7734300" y="1060090"/>
          <a:ext cx="4457700" cy="5130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FD9FD81F-4DE2-F498-BE34-95A376A2A5AB}"/>
              </a:ext>
            </a:extLst>
          </p:cNvPr>
          <p:cNvSpPr txBox="1"/>
          <p:nvPr/>
        </p:nvSpPr>
        <p:spPr>
          <a:xfrm>
            <a:off x="554558" y="1531476"/>
            <a:ext cx="7390369" cy="3046988"/>
          </a:xfrm>
          <a:prstGeom prst="rect">
            <a:avLst/>
          </a:prstGeom>
          <a:noFill/>
        </p:spPr>
        <p:txBody>
          <a:bodyPr wrap="square" rtlCol="0">
            <a:spAutoFit/>
          </a:bodyPr>
          <a:lstStyle/>
          <a:p>
            <a:r>
              <a:rPr lang="en-US" sz="1600" b="1" i="0" dirty="0">
                <a:solidFill>
                  <a:srgbClr val="0FAB7D"/>
                </a:solidFill>
                <a:effectLst/>
                <a:latin typeface="Aptos ExtraBold" panose="020B0004020202020204" pitchFamily="34" charset="0"/>
              </a:rPr>
              <a:t>1.Problem Understanding:</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Defined business objective: Improve sales forecasting accuracy to optimize inventory and planning.</a:t>
            </a:r>
            <a:endParaRPr lang="en-US" sz="1600" b="1" i="0" dirty="0">
              <a:solidFill>
                <a:schemeClr val="tx1">
                  <a:lumMod val="65000"/>
                  <a:lumOff val="35000"/>
                </a:schemeClr>
              </a:solidFill>
              <a:effectLst/>
              <a:latin typeface="Aptos ExtraBold" panose="020B0004020202020204" pitchFamily="34" charset="0"/>
            </a:endParaRPr>
          </a:p>
          <a:p>
            <a:r>
              <a:rPr lang="en-US" sz="1600" b="1" i="0" dirty="0">
                <a:solidFill>
                  <a:srgbClr val="0FAB7D"/>
                </a:solidFill>
                <a:effectLst/>
                <a:latin typeface="Aptos ExtraBold" panose="020B0004020202020204" pitchFamily="34" charset="0"/>
              </a:rPr>
              <a:t>2. </a:t>
            </a:r>
            <a:r>
              <a:rPr lang="en-US" sz="1600" b="1" dirty="0">
                <a:solidFill>
                  <a:srgbClr val="0FAB7D"/>
                </a:solidFill>
                <a:latin typeface="Aptos ExtraBold" panose="020B0004020202020204" pitchFamily="34" charset="0"/>
              </a:rPr>
              <a:t>Data Collection:</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Collected historical sales data, customer segments, promotional events, holidays, and weather factors.</a:t>
            </a:r>
            <a:endParaRPr lang="en-US" sz="1600" b="1" dirty="0">
              <a:solidFill>
                <a:schemeClr val="tx1">
                  <a:lumMod val="65000"/>
                  <a:lumOff val="35000"/>
                </a:schemeClr>
              </a:solidFill>
              <a:latin typeface="Aptos ExtraBold" panose="020B0004020202020204" pitchFamily="34" charset="0"/>
            </a:endParaRPr>
          </a:p>
          <a:p>
            <a:r>
              <a:rPr lang="en-US" sz="1600" b="1" i="0" dirty="0">
                <a:solidFill>
                  <a:srgbClr val="0FAB7D"/>
                </a:solidFill>
                <a:effectLst/>
                <a:latin typeface="Aptos ExtraBold" panose="020B0004020202020204" pitchFamily="34" charset="0"/>
              </a:rPr>
              <a:t>3. </a:t>
            </a:r>
            <a:r>
              <a:rPr lang="en-US" sz="1600" b="1" dirty="0">
                <a:solidFill>
                  <a:srgbClr val="0FAB7D"/>
                </a:solidFill>
                <a:latin typeface="Aptos ExtraBold" panose="020B0004020202020204" pitchFamily="34" charset="0"/>
              </a:rPr>
              <a:t>Data Preprocessing:</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Handled missing values, outliers, and duplicates.</a:t>
            </a:r>
            <a:endParaRPr lang="en-US" sz="1600" b="1" dirty="0">
              <a:solidFill>
                <a:schemeClr val="tx1">
                  <a:lumMod val="65000"/>
                  <a:lumOff val="35000"/>
                </a:schemeClr>
              </a:solidFill>
              <a:latin typeface="Aptos ExtraBold" panose="020B0004020202020204" pitchFamily="34" charset="0"/>
            </a:endParaRP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Performed feature engineering</a:t>
            </a:r>
            <a:endParaRPr lang="en-US" sz="1600" b="1" dirty="0">
              <a:solidFill>
                <a:schemeClr val="tx1">
                  <a:lumMod val="65000"/>
                  <a:lumOff val="35000"/>
                </a:schemeClr>
              </a:solidFill>
              <a:latin typeface="Aptos ExtraBold" panose="020B0004020202020204" pitchFamily="34" charset="0"/>
            </a:endParaRPr>
          </a:p>
          <a:p>
            <a:r>
              <a:rPr lang="en-US" sz="1600" b="1" i="0" dirty="0">
                <a:solidFill>
                  <a:srgbClr val="0FAB7D"/>
                </a:solidFill>
                <a:effectLst/>
                <a:latin typeface="Aptos ExtraBold" panose="020B0004020202020204" pitchFamily="34" charset="0"/>
              </a:rPr>
              <a:t>4. </a:t>
            </a:r>
            <a:r>
              <a:rPr lang="en-US" sz="1600" b="1" dirty="0">
                <a:solidFill>
                  <a:srgbClr val="0FAB7D"/>
                </a:solidFill>
                <a:latin typeface="Aptos ExtraBold" panose="020B0004020202020204" pitchFamily="34" charset="0"/>
              </a:rPr>
              <a:t>Exploratory Data Analysis (EDA):</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Identified trends, seasonality, and high-performing segments</a:t>
            </a:r>
            <a:endParaRPr lang="en-US" sz="1600" b="1" dirty="0">
              <a:solidFill>
                <a:schemeClr val="tx1">
                  <a:lumMod val="65000"/>
                  <a:lumOff val="35000"/>
                </a:schemeClr>
              </a:solidFill>
              <a:latin typeface="Aptos ExtraBold" panose="020B0004020202020204" pitchFamily="34" charset="0"/>
            </a:endParaRP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Visualized segment-wise sales and demand behavior.</a:t>
            </a:r>
            <a:endParaRPr lang="en-US" sz="1600" b="1" dirty="0">
              <a:solidFill>
                <a:schemeClr val="tx1">
                  <a:lumMod val="65000"/>
                  <a:lumOff val="35000"/>
                </a:schemeClr>
              </a:solidFill>
              <a:latin typeface="Aptos ExtraBold" panose="020B0004020202020204" pitchFamily="34" charset="0"/>
            </a:endParaRPr>
          </a:p>
        </p:txBody>
      </p:sp>
      <p:sp>
        <p:nvSpPr>
          <p:cNvPr id="7" name="TextBox 6">
            <a:extLst>
              <a:ext uri="{FF2B5EF4-FFF2-40B4-BE49-F238E27FC236}">
                <a16:creationId xmlns:a16="http://schemas.microsoft.com/office/drawing/2014/main" id="{7C6E65F4-00D3-3BC1-8BF3-2E4C0111D6BD}"/>
              </a:ext>
            </a:extLst>
          </p:cNvPr>
          <p:cNvSpPr txBox="1"/>
          <p:nvPr/>
        </p:nvSpPr>
        <p:spPr>
          <a:xfrm>
            <a:off x="554558" y="4555019"/>
            <a:ext cx="7390369" cy="1569660"/>
          </a:xfrm>
          <a:prstGeom prst="rect">
            <a:avLst/>
          </a:prstGeom>
          <a:noFill/>
        </p:spPr>
        <p:txBody>
          <a:bodyPr wrap="square" rtlCol="0">
            <a:spAutoFit/>
          </a:bodyPr>
          <a:lstStyle/>
          <a:p>
            <a:r>
              <a:rPr lang="en-US" sz="1600" b="1" i="0" dirty="0">
                <a:solidFill>
                  <a:srgbClr val="0FAB7D"/>
                </a:solidFill>
                <a:effectLst/>
                <a:latin typeface="Aptos ExtraBold" panose="020B0004020202020204" pitchFamily="34" charset="0"/>
              </a:rPr>
              <a:t>5.</a:t>
            </a:r>
            <a:r>
              <a:rPr lang="en-US" sz="1600" dirty="0">
                <a:solidFill>
                  <a:srgbClr val="0FAB7D"/>
                </a:solidFill>
                <a:latin typeface="Aptos ExtraBold" panose="020B0004020202020204" pitchFamily="34" charset="0"/>
              </a:rPr>
              <a:t> </a:t>
            </a:r>
            <a:r>
              <a:rPr lang="en-US" sz="1600" b="1" dirty="0">
                <a:solidFill>
                  <a:srgbClr val="0FAB7D"/>
                </a:solidFill>
                <a:latin typeface="Aptos ExtraBold" panose="020B0004020202020204" pitchFamily="34" charset="0"/>
              </a:rPr>
              <a:t>Model Development</a:t>
            </a:r>
            <a:r>
              <a:rPr lang="en-US" sz="1600" b="1" i="0" dirty="0">
                <a:solidFill>
                  <a:srgbClr val="0FAB7D"/>
                </a:solidFill>
                <a:effectLst/>
                <a:latin typeface="Aptos ExtraBold" panose="020B0004020202020204" pitchFamily="34" charset="0"/>
              </a:rPr>
              <a:t>:</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Tested multiple models.</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Selected best-performing model based on RMSE and accuracy.</a:t>
            </a:r>
            <a:endParaRPr lang="en-US" sz="1600" b="1" i="0" dirty="0">
              <a:solidFill>
                <a:schemeClr val="tx1">
                  <a:lumMod val="65000"/>
                  <a:lumOff val="35000"/>
                </a:schemeClr>
              </a:solidFill>
              <a:effectLst/>
              <a:latin typeface="Aptos ExtraBold" panose="020B0004020202020204" pitchFamily="34" charset="0"/>
            </a:endParaRPr>
          </a:p>
          <a:p>
            <a:r>
              <a:rPr lang="en-US" sz="1600" b="1" i="0" dirty="0">
                <a:solidFill>
                  <a:srgbClr val="0FAB7D"/>
                </a:solidFill>
                <a:effectLst/>
                <a:latin typeface="Aptos ExtraBold" panose="020B0004020202020204" pitchFamily="34" charset="0"/>
              </a:rPr>
              <a:t>6. </a:t>
            </a:r>
            <a:r>
              <a:rPr lang="en-US" sz="1600" b="1" dirty="0">
                <a:solidFill>
                  <a:srgbClr val="0FAB7D"/>
                </a:solidFill>
                <a:latin typeface="Aptos ExtraBold" panose="020B0004020202020204" pitchFamily="34" charset="0"/>
              </a:rPr>
              <a:t>Model Deployment:</a:t>
            </a:r>
          </a:p>
          <a:p>
            <a:pPr marL="800100" lvl="1" indent="-342900">
              <a:buFont typeface="Arial" panose="020B0604020202020204" pitchFamily="34" charset="0"/>
              <a:buChar char="•"/>
            </a:pPr>
            <a:r>
              <a:rPr lang="en-US" sz="1600" dirty="0">
                <a:solidFill>
                  <a:schemeClr val="tx1">
                    <a:lumMod val="65000"/>
                    <a:lumOff val="35000"/>
                  </a:schemeClr>
                </a:solidFill>
                <a:latin typeface="Aptos ExtraBold" panose="020B0004020202020204" pitchFamily="34" charset="0"/>
              </a:rPr>
              <a:t>Deployed model using Flask and IBM Cloud to generate real-time predictions.</a:t>
            </a:r>
            <a:endParaRPr lang="en-US" sz="1600" b="1" dirty="0">
              <a:solidFill>
                <a:schemeClr val="tx1">
                  <a:lumMod val="65000"/>
                  <a:lumOff val="35000"/>
                </a:schemeClr>
              </a:solidFill>
              <a:latin typeface="Aptos ExtraBold" panose="020B0004020202020204" pitchFamily="34" charset="0"/>
            </a:endParaRPr>
          </a:p>
        </p:txBody>
      </p:sp>
      <p:sp>
        <p:nvSpPr>
          <p:cNvPr id="9" name="Google Shape;105;p1">
            <a:extLst>
              <a:ext uri="{FF2B5EF4-FFF2-40B4-BE49-F238E27FC236}">
                <a16:creationId xmlns:a16="http://schemas.microsoft.com/office/drawing/2014/main" id="{19AA6E5B-8A10-60F6-1557-818EF49865D4}"/>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6</a:t>
            </a:r>
            <a:endParaRPr lang="ar-EG" b="1" dirty="0"/>
          </a:p>
        </p:txBody>
      </p:sp>
    </p:spTree>
    <p:extLst>
      <p:ext uri="{BB962C8B-B14F-4D97-AF65-F5344CB8AC3E}">
        <p14:creationId xmlns:p14="http://schemas.microsoft.com/office/powerpoint/2010/main" val="1907825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345ED48-DAA3-15EE-89D3-F48FD489D0B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0290822-E269-3618-FA82-02CB5C8B664B}"/>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Google Shape;105;p1">
            <a:extLst>
              <a:ext uri="{FF2B5EF4-FFF2-40B4-BE49-F238E27FC236}">
                <a16:creationId xmlns:a16="http://schemas.microsoft.com/office/drawing/2014/main" id="{B5E9FE2A-E19D-12AC-E103-8FDA55599CD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BEF122B-DF72-99B8-FAC9-F1AECF2F0ABA}"/>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dirty="0"/>
          </a:p>
        </p:txBody>
      </p:sp>
      <p:pic>
        <p:nvPicPr>
          <p:cNvPr id="110" name="Google Shape;110;p1" title="download.png">
            <a:extLst>
              <a:ext uri="{FF2B5EF4-FFF2-40B4-BE49-F238E27FC236}">
                <a16:creationId xmlns:a16="http://schemas.microsoft.com/office/drawing/2014/main" id="{4CF3216D-CD47-9365-2653-3B8CC1750D2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D0B6EC3-C3BB-6981-4876-46D691AA46B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EA91552-7AC1-E7BD-2E70-8365FEA25AF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36BD86D-0918-2907-F36C-7B87AB793BF2}"/>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“Problem Understanding”</a:t>
            </a:r>
          </a:p>
        </p:txBody>
      </p:sp>
      <p:sp>
        <p:nvSpPr>
          <p:cNvPr id="10" name="TextBox 9">
            <a:extLst>
              <a:ext uri="{FF2B5EF4-FFF2-40B4-BE49-F238E27FC236}">
                <a16:creationId xmlns:a16="http://schemas.microsoft.com/office/drawing/2014/main" id="{0B7E2ECF-68F6-DE1B-2B5B-F1EFBF16EA3A}"/>
              </a:ext>
            </a:extLst>
          </p:cNvPr>
          <p:cNvSpPr txBox="1"/>
          <p:nvPr/>
        </p:nvSpPr>
        <p:spPr>
          <a:xfrm>
            <a:off x="293299" y="2020927"/>
            <a:ext cx="8160587" cy="3785652"/>
          </a:xfrm>
          <a:prstGeom prst="rect">
            <a:avLst/>
          </a:prstGeom>
          <a:noFill/>
        </p:spPr>
        <p:txBody>
          <a:bodyPr wrap="square">
            <a:spAutoFit/>
          </a:bodyPr>
          <a:lstStyle/>
          <a:p>
            <a:pPr algn="just">
              <a:buNone/>
            </a:pPr>
            <a:r>
              <a:rPr lang="en-US" sz="2400" b="1" dirty="0">
                <a:solidFill>
                  <a:srgbClr val="1869A6"/>
                </a:solidFill>
                <a:latin typeface="Aptos ExtraBold" panose="020B0004020202020204" pitchFamily="34" charset="0"/>
              </a:rPr>
              <a:t>Business Objective:</a:t>
            </a:r>
          </a:p>
          <a:p>
            <a:pPr algn="just">
              <a:buNone/>
            </a:pPr>
            <a:r>
              <a:rPr lang="en-US" sz="2400" dirty="0">
                <a:solidFill>
                  <a:schemeClr val="tx1">
                    <a:lumMod val="65000"/>
                    <a:lumOff val="35000"/>
                  </a:schemeClr>
                </a:solidFill>
                <a:latin typeface="Aptos ExtraBold" panose="020B0004020202020204" pitchFamily="34" charset="0"/>
              </a:rPr>
              <a:t>To enhance the accuracy of sales forecasting in order to optimize inventory levels, reduce waste, and align business operations with real demand.</a:t>
            </a:r>
          </a:p>
          <a:p>
            <a:pPr algn="just"/>
            <a:endParaRPr lang="en-US" sz="2400" b="1" dirty="0">
              <a:solidFill>
                <a:srgbClr val="1869A6"/>
              </a:solidFill>
              <a:latin typeface="Aptos ExtraBold" panose="020B0004020202020204" pitchFamily="34" charset="0"/>
            </a:endParaRPr>
          </a:p>
          <a:p>
            <a:pPr algn="just"/>
            <a:r>
              <a:rPr lang="en-US" sz="2400" b="1" dirty="0">
                <a:solidFill>
                  <a:srgbClr val="1869A6"/>
                </a:solidFill>
                <a:latin typeface="Aptos ExtraBold" panose="020B0004020202020204" pitchFamily="34" charset="0"/>
              </a:rPr>
              <a:t>Challenge:</a:t>
            </a:r>
            <a:endParaRPr lang="en-US" sz="2400" b="1" dirty="0">
              <a:solidFill>
                <a:schemeClr val="tx1">
                  <a:lumMod val="65000"/>
                  <a:lumOff val="35000"/>
                </a:schemeClr>
              </a:solidFill>
              <a:latin typeface="Aptos ExtraBold" panose="020B0004020202020204" pitchFamily="34" charset="0"/>
            </a:endParaRPr>
          </a:p>
          <a:p>
            <a:pPr algn="just"/>
            <a:r>
              <a:rPr lang="en-US" sz="2400" dirty="0">
                <a:solidFill>
                  <a:schemeClr val="tx1">
                    <a:lumMod val="65000"/>
                    <a:lumOff val="35000"/>
                  </a:schemeClr>
                </a:solidFill>
                <a:latin typeface="Aptos ExtraBold" panose="020B0004020202020204" pitchFamily="34" charset="0"/>
              </a:rPr>
              <a:t>Traditional forecasting methods fail to account for time-based patterns and external influences like promotions or customer segment behavior, leading to overstocking or stockouts.</a:t>
            </a:r>
          </a:p>
        </p:txBody>
      </p:sp>
      <p:sp>
        <p:nvSpPr>
          <p:cNvPr id="11" name="Google Shape;105;p1">
            <a:extLst>
              <a:ext uri="{FF2B5EF4-FFF2-40B4-BE49-F238E27FC236}">
                <a16:creationId xmlns:a16="http://schemas.microsoft.com/office/drawing/2014/main" id="{1F51F3C3-6780-B1FD-3142-F94AC9F262A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7</a:t>
            </a:r>
            <a:endParaRPr lang="ar-EG" b="1" dirty="0"/>
          </a:p>
        </p:txBody>
      </p:sp>
    </p:spTree>
    <p:extLst>
      <p:ext uri="{BB962C8B-B14F-4D97-AF65-F5344CB8AC3E}">
        <p14:creationId xmlns:p14="http://schemas.microsoft.com/office/powerpoint/2010/main" val="1270311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F821378-CCFC-1A41-4A9D-DC22C10A6D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50599A9-400E-4DC4-5DA5-80ACACF21134}"/>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D21847C-1CF9-A470-5BAF-0685A6AB9A0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319730B0-34CB-A38A-A38B-D09FA271901D}"/>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dirty="0"/>
          </a:p>
        </p:txBody>
      </p:sp>
      <p:pic>
        <p:nvPicPr>
          <p:cNvPr id="110" name="Google Shape;110;p1" title="download.png">
            <a:extLst>
              <a:ext uri="{FF2B5EF4-FFF2-40B4-BE49-F238E27FC236}">
                <a16:creationId xmlns:a16="http://schemas.microsoft.com/office/drawing/2014/main" id="{76B27CE3-B104-CC29-CF8C-69025F6AFC13}"/>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1A12E40-B152-C38F-1B69-AEFCA4AA0F7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F01BBCCD-F40D-51CE-8A0D-AB7CF65072EF}"/>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C28C2B22-1E3B-3E3D-F86F-5F92A862C96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Collection”</a:t>
            </a:r>
          </a:p>
        </p:txBody>
      </p:sp>
      <p:sp>
        <p:nvSpPr>
          <p:cNvPr id="6" name="Rectangle 1">
            <a:extLst>
              <a:ext uri="{FF2B5EF4-FFF2-40B4-BE49-F238E27FC236}">
                <a16:creationId xmlns:a16="http://schemas.microsoft.com/office/drawing/2014/main" id="{595341AB-E7E3-CCD4-4B65-196FB9979654}"/>
              </a:ext>
            </a:extLst>
          </p:cNvPr>
          <p:cNvSpPr>
            <a:spLocks noChangeArrowheads="1"/>
          </p:cNvSpPr>
          <p:nvPr/>
        </p:nvSpPr>
        <p:spPr bwMode="auto">
          <a:xfrm>
            <a:off x="439946" y="2045931"/>
            <a:ext cx="7867291"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869A6"/>
                </a:solidFill>
                <a:effectLst/>
                <a:latin typeface="Aptos ExtraBold" panose="020B0004020202020204" pitchFamily="34" charset="0"/>
              </a:rPr>
              <a:t>Data Source:</a:t>
            </a:r>
            <a:endParaRPr kumimoji="0" lang="en-US" altLang="en-US" sz="2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Historical sales data from Kaggle (CSV dataset).</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Included features: </a:t>
            </a:r>
            <a:r>
              <a:rPr lang="en-US" sz="1600" dirty="0">
                <a:solidFill>
                  <a:srgbClr val="0FAB7D"/>
                </a:solidFill>
                <a:latin typeface="Aptos ExtraBold" panose="020B0004020202020204" pitchFamily="34" charset="0"/>
              </a:rPr>
              <a:t>Row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Order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Order Date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Ship Date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Ship Mode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Customer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Customer Name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Segment, Country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City, State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Postal Code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Region</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Product ID</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Category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Sub-Category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Product Name</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Sales</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Quantity</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Discount</a:t>
            </a:r>
            <a:r>
              <a:rPr lang="en-US" sz="1600" dirty="0">
                <a:solidFill>
                  <a:schemeClr val="tx1">
                    <a:lumMod val="65000"/>
                    <a:lumOff val="35000"/>
                  </a:schemeClr>
                </a:solidFill>
                <a:latin typeface="Aptos ExtraBold" panose="020B0004020202020204" pitchFamily="34" charset="0"/>
              </a:rPr>
              <a:t>, </a:t>
            </a:r>
            <a:r>
              <a:rPr lang="en-US" sz="1600" dirty="0">
                <a:solidFill>
                  <a:srgbClr val="0FAB7D"/>
                </a:solidFill>
                <a:latin typeface="Aptos ExtraBold" panose="020B0004020202020204" pitchFamily="34" charset="0"/>
              </a:rPr>
              <a:t>Profit</a:t>
            </a:r>
            <a:r>
              <a:rPr lang="en-US" sz="1600" dirty="0">
                <a:solidFill>
                  <a:schemeClr val="tx1">
                    <a:lumMod val="65000"/>
                    <a:lumOff val="35000"/>
                  </a:schemeClr>
                </a:solidFill>
                <a:latin typeface="Aptos ExtraBold" panose="020B0004020202020204" pitchFamily="34" charset="0"/>
              </a:rPr>
              <a:t>.</a:t>
            </a:r>
            <a:endParaRPr kumimoji="0" lang="en-US" altLang="en-US" sz="16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1869A6"/>
                </a:solidFill>
                <a:effectLst/>
                <a:latin typeface="Aptos ExtraBold" panose="020B0004020202020204" pitchFamily="34" charset="0"/>
              </a:rPr>
              <a:t>Data Scope:</a:t>
            </a:r>
            <a:endParaRPr kumimoji="0" lang="en-US" altLang="en-US" sz="2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Captures transactions across multiple customer segments and product categories.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Date range spans multiple years, allowing analysis of trends and seasonality.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ptos ExtraBold" panose="020B0004020202020204" pitchFamily="34" charset="0"/>
            </a:endParaRPr>
          </a:p>
        </p:txBody>
      </p:sp>
      <p:sp>
        <p:nvSpPr>
          <p:cNvPr id="7" name="Google Shape;105;p1">
            <a:extLst>
              <a:ext uri="{FF2B5EF4-FFF2-40B4-BE49-F238E27FC236}">
                <a16:creationId xmlns:a16="http://schemas.microsoft.com/office/drawing/2014/main" id="{00020EF1-92E2-03B5-5643-AF2CAFDA3744}"/>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8</a:t>
            </a:r>
            <a:endParaRPr lang="ar-EG" b="1" dirty="0"/>
          </a:p>
        </p:txBody>
      </p:sp>
    </p:spTree>
    <p:extLst>
      <p:ext uri="{BB962C8B-B14F-4D97-AF65-F5344CB8AC3E}">
        <p14:creationId xmlns:p14="http://schemas.microsoft.com/office/powerpoint/2010/main" val="2397935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4662B85-B74A-01C8-342E-574077F550A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06EB47-FD98-D814-24E6-2C203DF8295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21DA7581-ADDB-EED4-0EFC-851882C6A94F}"/>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D134B20-47F6-9052-BF1C-9449F100F9D9}"/>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dirty="0"/>
          </a:p>
        </p:txBody>
      </p:sp>
      <p:pic>
        <p:nvPicPr>
          <p:cNvPr id="110" name="Google Shape;110;p1" title="download.png">
            <a:extLst>
              <a:ext uri="{FF2B5EF4-FFF2-40B4-BE49-F238E27FC236}">
                <a16:creationId xmlns:a16="http://schemas.microsoft.com/office/drawing/2014/main" id="{94B8A278-7696-1263-218B-E3C62B5DD09D}"/>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A8AB6C17-6B86-462C-F428-913C45EFE33F}"/>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6942B201-AF91-B424-F051-8C7ABBD054A2}"/>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5DCEAC86-B7E3-F44C-40F5-4578F0689313}"/>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F2D073C4-10FF-7317-7579-C5A43A6F12C4}"/>
              </a:ext>
            </a:extLst>
          </p:cNvPr>
          <p:cNvSpPr>
            <a:spLocks noChangeArrowheads="1"/>
          </p:cNvSpPr>
          <p:nvPr/>
        </p:nvSpPr>
        <p:spPr bwMode="auto">
          <a:xfrm>
            <a:off x="353556" y="2083430"/>
            <a:ext cx="8281359" cy="330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1: </a:t>
            </a:r>
            <a:r>
              <a:rPr kumimoji="0" lang="en-US" altLang="en-US" sz="2400" b="1" i="0" u="none" strike="noStrike" cap="none" normalizeH="0" baseline="0" dirty="0">
                <a:ln>
                  <a:noFill/>
                </a:ln>
                <a:solidFill>
                  <a:srgbClr val="1869A6"/>
                </a:solidFill>
                <a:effectLst/>
                <a:latin typeface="Aptos ExtraBold" panose="020B0004020202020204" pitchFamily="34" charset="0"/>
              </a:rPr>
              <a:t>Data Cleaning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Date Conversion: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Converted </a:t>
            </a:r>
            <a:r>
              <a:rPr kumimoji="0" lang="en-US" altLang="en-US" sz="2000" b="0" i="1" u="sng" strike="noStrike" cap="none" normalizeH="0" baseline="0" dirty="0">
                <a:ln>
                  <a:noFill/>
                </a:ln>
                <a:solidFill>
                  <a:schemeClr val="tx1">
                    <a:lumMod val="65000"/>
                    <a:lumOff val="35000"/>
                  </a:schemeClr>
                </a:solidFill>
                <a:effectLst/>
                <a:latin typeface="Aptos ExtraBold" panose="020B0004020202020204" pitchFamily="34" charset="0"/>
              </a:rPr>
              <a:t>Order Date</a:t>
            </a:r>
            <a:r>
              <a:rPr kumimoji="0" lang="en-US" altLang="en-US" sz="2000" b="0"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and </a:t>
            </a:r>
            <a:r>
              <a:rPr kumimoji="0" lang="en-US" altLang="en-US" sz="2000" b="0" i="1" u="sng" strike="noStrike" cap="none" normalizeH="0" baseline="0" dirty="0">
                <a:ln>
                  <a:noFill/>
                </a:ln>
                <a:solidFill>
                  <a:schemeClr val="tx1">
                    <a:lumMod val="65000"/>
                    <a:lumOff val="35000"/>
                  </a:schemeClr>
                </a:solidFill>
                <a:effectLst/>
                <a:latin typeface="Aptos ExtraBold" panose="020B0004020202020204" pitchFamily="34" charset="0"/>
              </a:rPr>
              <a:t>Ship Date</a:t>
            </a:r>
            <a:r>
              <a:rPr kumimoji="0" lang="en-US" altLang="en-US" sz="2000" b="0"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to datetime format for time-based operations.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u="none" strike="noStrike" cap="none" normalizeH="0" baseline="0" dirty="0">
                <a:ln>
                  <a:noFill/>
                </a:ln>
                <a:solidFill>
                  <a:schemeClr val="tx1"/>
                </a:solidFill>
                <a:effectLst/>
                <a:latin typeface="Aptos ExtraBold" panose="020B0004020202020204" pitchFamily="34" charset="0"/>
              </a:rPr>
              <a:t>Removed Unnecessary Columns: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Dropped irrelevant or duplicate columns not useful for modeling (e.g., IDs).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u="none" strike="noStrike" cap="none" normalizeH="0" baseline="0" dirty="0">
                <a:ln>
                  <a:noFill/>
                </a:ln>
                <a:solidFill>
                  <a:schemeClr val="tx1"/>
                </a:solidFill>
                <a:effectLst/>
                <a:latin typeface="Aptos ExtraBold" panose="020B0004020202020204" pitchFamily="34" charset="0"/>
              </a:rPr>
              <a:t>Handled Missing Values:</a:t>
            </a:r>
            <a:r>
              <a:rPr kumimoji="0" lang="en-US" altLang="en-US" sz="2000" b="0" u="none" strike="noStrike" cap="none" normalizeH="0" baseline="0" dirty="0">
                <a:ln>
                  <a:noFill/>
                </a:ln>
                <a:solidFill>
                  <a:schemeClr val="tx1">
                    <a:lumMod val="65000"/>
                    <a:lumOff val="35000"/>
                  </a:schemeClr>
                </a:solidFill>
                <a:effectLst/>
                <a:latin typeface="Aptos ExtraBold" panose="020B0004020202020204" pitchFamily="34" charset="0"/>
              </a:rPr>
              <a:t> </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Checked for and confirmed the absence of missing values in relevant columns.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solidFill>
                <a:effectLst/>
                <a:latin typeface="Aptos ExtraBold" panose="020B0004020202020204" pitchFamily="34" charset="0"/>
              </a:rPr>
              <a:t>Removed Duplicates &amp; Outliers:</a:t>
            </a: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 Ensured data uniqueness and integrity by removing any duplicated records or outliers.</a:t>
            </a: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9" name="Google Shape;105;p1">
            <a:extLst>
              <a:ext uri="{FF2B5EF4-FFF2-40B4-BE49-F238E27FC236}">
                <a16:creationId xmlns:a16="http://schemas.microsoft.com/office/drawing/2014/main" id="{4770E942-4F63-412A-D1C2-E7657619018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9</a:t>
            </a:r>
            <a:endParaRPr lang="ar-EG" b="1" dirty="0"/>
          </a:p>
        </p:txBody>
      </p:sp>
    </p:spTree>
    <p:extLst>
      <p:ext uri="{BB962C8B-B14F-4D97-AF65-F5344CB8AC3E}">
        <p14:creationId xmlns:p14="http://schemas.microsoft.com/office/powerpoint/2010/main" val="383994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746CFD-CF00-8EDE-936B-6F7BBB9938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855A11B-04D8-20F3-DF54-D414916B592A}"/>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82DDA17-EC32-F025-B197-55F556D0BB8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14DD3BF-DF41-AD25-7697-7D6A48735F9D}"/>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dirty="0"/>
          </a:p>
        </p:txBody>
      </p:sp>
      <p:pic>
        <p:nvPicPr>
          <p:cNvPr id="110" name="Google Shape;110;p1" title="download.png">
            <a:extLst>
              <a:ext uri="{FF2B5EF4-FFF2-40B4-BE49-F238E27FC236}">
                <a16:creationId xmlns:a16="http://schemas.microsoft.com/office/drawing/2014/main" id="{CDE9246A-9040-355B-7C15-8EC04391DDE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F93F5540-AD5E-2C22-5952-ADCC8920DA7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886F11C-9A41-8B2C-7ABA-2D5B6A8D6FD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B336029-66E9-8919-962D-CF63975E1A4B}"/>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6E9B1B5B-DFDB-BF0E-6E79-93B05245C9D3}"/>
              </a:ext>
            </a:extLst>
          </p:cNvPr>
          <p:cNvSpPr>
            <a:spLocks noChangeArrowheads="1"/>
          </p:cNvSpPr>
          <p:nvPr/>
        </p:nvSpPr>
        <p:spPr bwMode="auto">
          <a:xfrm>
            <a:off x="353556" y="2104869"/>
            <a:ext cx="8281359"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2: </a:t>
            </a:r>
            <a:r>
              <a:rPr kumimoji="0" lang="en-US" altLang="en-US" sz="2400" b="1" i="0" u="none" strike="noStrike" cap="none" normalizeH="0" baseline="0" dirty="0">
                <a:ln>
                  <a:noFill/>
                </a:ln>
                <a:solidFill>
                  <a:srgbClr val="1869A6"/>
                </a:solidFill>
                <a:effectLst/>
                <a:latin typeface="Aptos ExtraBold" panose="020B0004020202020204" pitchFamily="34" charset="0"/>
              </a:rPr>
              <a:t>Feature Engineering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Time-Based Features: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Extracted Year, Month, Day, and Weekday from Order Date.</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Sales Aggregation: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Grouped sales data monthly by Segment to generate a time-series format.</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Lag Features: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Created lag-based features (e.g., previous month’s sales) to capture momentum.</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B370CDF3-7D84-7AD2-C664-4D85CFD3E3A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10</a:t>
            </a:r>
            <a:endParaRPr lang="ar-EG" b="1" dirty="0"/>
          </a:p>
        </p:txBody>
      </p:sp>
    </p:spTree>
    <p:extLst>
      <p:ext uri="{BB962C8B-B14F-4D97-AF65-F5344CB8AC3E}">
        <p14:creationId xmlns:p14="http://schemas.microsoft.com/office/powerpoint/2010/main" val="912802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36D0ECC-7B41-4CB3-7772-F6B3774BCF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A39308-E4D9-C5F1-DB6C-6078C8198843}"/>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4CB5F283-FE60-CF35-17B0-A4117929952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5A251133-969E-3F28-70AB-AC93DFD54C3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dirty="0"/>
          </a:p>
        </p:txBody>
      </p:sp>
      <p:pic>
        <p:nvPicPr>
          <p:cNvPr id="110" name="Google Shape;110;p1" title="download.png">
            <a:extLst>
              <a:ext uri="{FF2B5EF4-FFF2-40B4-BE49-F238E27FC236}">
                <a16:creationId xmlns:a16="http://schemas.microsoft.com/office/drawing/2014/main" id="{EC6C05A1-424D-897A-E0B6-FEDFF562A5A3}"/>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E74E335-D004-0802-C033-A3EC46D878DD}"/>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9784CE62-2030-0CC0-935B-B880DA530E1E}"/>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E8B8E5D-BFF8-1244-05A1-3874ECA54668}"/>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“Data Preprocessing”</a:t>
            </a:r>
          </a:p>
        </p:txBody>
      </p:sp>
      <p:sp>
        <p:nvSpPr>
          <p:cNvPr id="7" name="Rectangle 1">
            <a:extLst>
              <a:ext uri="{FF2B5EF4-FFF2-40B4-BE49-F238E27FC236}">
                <a16:creationId xmlns:a16="http://schemas.microsoft.com/office/drawing/2014/main" id="{53D22B88-F81A-5B2C-1731-101AF0BE8C7B}"/>
              </a:ext>
            </a:extLst>
          </p:cNvPr>
          <p:cNvSpPr>
            <a:spLocks noChangeArrowheads="1"/>
          </p:cNvSpPr>
          <p:nvPr/>
        </p:nvSpPr>
        <p:spPr bwMode="auto">
          <a:xfrm>
            <a:off x="317021" y="2099121"/>
            <a:ext cx="8281359"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Part 3: </a:t>
            </a:r>
            <a:r>
              <a:rPr kumimoji="0" lang="en-US" altLang="en-US" sz="2400" b="1" i="0" u="none" strike="noStrike" cap="none" normalizeH="0" baseline="0" dirty="0">
                <a:ln>
                  <a:noFill/>
                </a:ln>
                <a:solidFill>
                  <a:srgbClr val="1869A6"/>
                </a:solidFill>
                <a:effectLst/>
                <a:latin typeface="Aptos ExtraBold" panose="020B0004020202020204" pitchFamily="34" charset="0"/>
              </a:rPr>
              <a:t>Encoding &amp; Transformation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Categorical Encoding: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Encoded segment and categorical columns where necessary.</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solidFill>
                <a:effectLst/>
                <a:latin typeface="Aptos ExtraBold" panose="020B0004020202020204" pitchFamily="34" charset="0"/>
              </a:rPr>
              <a:t>Data Formatting: </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Reformatted the grouped data into a structured time series </a:t>
            </a:r>
            <a:r>
              <a:rPr kumimoji="0" lang="en-US" altLang="en-US" sz="2000" u="none" strike="noStrike" cap="none" normalizeH="0" baseline="0" dirty="0" err="1">
                <a:ln>
                  <a:noFill/>
                </a:ln>
                <a:solidFill>
                  <a:schemeClr val="tx1">
                    <a:lumMod val="65000"/>
                    <a:lumOff val="35000"/>
                  </a:schemeClr>
                </a:solidFill>
                <a:effectLst/>
                <a:latin typeface="Aptos ExtraBold" panose="020B0004020202020204" pitchFamily="34" charset="0"/>
              </a:rPr>
              <a:t>dataframe</a:t>
            </a: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 for modeling.</a:t>
            </a: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CA3E728B-E6AB-A59B-92BE-8BE3F44B9DD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11</a:t>
            </a:r>
            <a:endParaRPr lang="ar-EG" b="1" dirty="0"/>
          </a:p>
        </p:txBody>
      </p:sp>
    </p:spTree>
    <p:extLst>
      <p:ext uri="{BB962C8B-B14F-4D97-AF65-F5344CB8AC3E}">
        <p14:creationId xmlns:p14="http://schemas.microsoft.com/office/powerpoint/2010/main" val="331645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3B2F7AF-CF27-8D47-1E68-1F225D5B4A56}"/>
            </a:ext>
          </a:extLst>
        </p:cNvPr>
        <p:cNvGrpSpPr/>
        <p:nvPr/>
      </p:nvGrpSpPr>
      <p:grpSpPr>
        <a:xfrm>
          <a:off x="0" y="0"/>
          <a:ext cx="0" cy="0"/>
          <a:chOff x="0" y="0"/>
          <a:chExt cx="0" cy="0"/>
        </a:xfrm>
      </p:grpSpPr>
      <p:pic>
        <p:nvPicPr>
          <p:cNvPr id="3082" name="Picture 10">
            <a:extLst>
              <a:ext uri="{FF2B5EF4-FFF2-40B4-BE49-F238E27FC236}">
                <a16:creationId xmlns:a16="http://schemas.microsoft.com/office/drawing/2014/main" id="{28E74B3A-013F-068C-2FF8-B181177DAC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326" y="4054297"/>
            <a:ext cx="5176378" cy="219704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476CA67E-7629-B744-4BE0-82149663D6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6616" y="1352590"/>
            <a:ext cx="3748522" cy="2546550"/>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12DB18B-9A23-5C25-0A38-49A89658E40D}"/>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984EBD5E-1C19-EEBB-A9E8-391A8A31B74D}"/>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5144AA2-F103-B6BD-C21C-707A3C58CDF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dirty="0"/>
          </a:p>
        </p:txBody>
      </p:sp>
      <p:pic>
        <p:nvPicPr>
          <p:cNvPr id="110" name="Google Shape;110;p1" title="download.png">
            <a:extLst>
              <a:ext uri="{FF2B5EF4-FFF2-40B4-BE49-F238E27FC236}">
                <a16:creationId xmlns:a16="http://schemas.microsoft.com/office/drawing/2014/main" id="{53E32C47-41D7-73A9-BCEB-F418AFA95509}"/>
              </a:ext>
            </a:extLst>
          </p:cNvPr>
          <p:cNvPicPr preferRelativeResize="0"/>
          <p:nvPr/>
        </p:nvPicPr>
        <p:blipFill>
          <a:blip r:embed="rId5">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CE1AA45-EB2B-2417-7A47-9BFEF9DD947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15202D22-90DD-9BB9-6C59-33ADC69B2A1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37E2FCCE-F978-8125-A0E5-1077C5A3F312}"/>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9" name="TextBox 8">
            <a:extLst>
              <a:ext uri="{FF2B5EF4-FFF2-40B4-BE49-F238E27FC236}">
                <a16:creationId xmlns:a16="http://schemas.microsoft.com/office/drawing/2014/main" id="{145A820A-8C3D-7545-436B-1402E2EE511D}"/>
              </a:ext>
            </a:extLst>
          </p:cNvPr>
          <p:cNvSpPr txBox="1"/>
          <p:nvPr/>
        </p:nvSpPr>
        <p:spPr>
          <a:xfrm>
            <a:off x="10299941" y="1566765"/>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1</a:t>
            </a:r>
          </a:p>
        </p:txBody>
      </p:sp>
      <p:sp>
        <p:nvSpPr>
          <p:cNvPr id="10" name="TextBox 9">
            <a:extLst>
              <a:ext uri="{FF2B5EF4-FFF2-40B4-BE49-F238E27FC236}">
                <a16:creationId xmlns:a16="http://schemas.microsoft.com/office/drawing/2014/main" id="{CF83FD3B-57B1-6A80-DBDB-05040F1DC31C}"/>
              </a:ext>
            </a:extLst>
          </p:cNvPr>
          <p:cNvSpPr txBox="1"/>
          <p:nvPr/>
        </p:nvSpPr>
        <p:spPr>
          <a:xfrm>
            <a:off x="10213675" y="5660567"/>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2</a:t>
            </a:r>
          </a:p>
        </p:txBody>
      </p:sp>
      <p:sp>
        <p:nvSpPr>
          <p:cNvPr id="12" name="TextBox 11">
            <a:extLst>
              <a:ext uri="{FF2B5EF4-FFF2-40B4-BE49-F238E27FC236}">
                <a16:creationId xmlns:a16="http://schemas.microsoft.com/office/drawing/2014/main" id="{FA6E5CA3-D4AD-9508-C18A-95D09A85CF8C}"/>
              </a:ext>
            </a:extLst>
          </p:cNvPr>
          <p:cNvSpPr txBox="1"/>
          <p:nvPr/>
        </p:nvSpPr>
        <p:spPr>
          <a:xfrm>
            <a:off x="273452" y="1820029"/>
            <a:ext cx="7588725"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1: Number of Unique Orders vs. Customers</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compares the total number of unique orders (1764) to the number of unique customers (707 ) in the dataset.</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Customers place multiple orders on average (~2.5 per customer), indicating repeat business or bulk purchasing behavior.</a:t>
            </a:r>
          </a:p>
        </p:txBody>
      </p:sp>
      <p:sp>
        <p:nvSpPr>
          <p:cNvPr id="15" name="TextBox 14">
            <a:extLst>
              <a:ext uri="{FF2B5EF4-FFF2-40B4-BE49-F238E27FC236}">
                <a16:creationId xmlns:a16="http://schemas.microsoft.com/office/drawing/2014/main" id="{A99AB1B6-762E-D498-FE69-8F1BE486AF38}"/>
              </a:ext>
            </a:extLst>
          </p:cNvPr>
          <p:cNvSpPr txBox="1"/>
          <p:nvPr/>
        </p:nvSpPr>
        <p:spPr>
          <a:xfrm>
            <a:off x="273452" y="4075518"/>
            <a:ext cx="6098874"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2: Shipping Mode Distribution</a:t>
            </a:r>
          </a:p>
          <a:p>
            <a:pPr algn="l">
              <a:buNone/>
            </a:pPr>
            <a:endParaRPr lang="en-US" sz="500" b="1" dirty="0">
              <a:solidFill>
                <a:srgbClr val="1869A6"/>
              </a:solidFill>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how often each shipping mode was used.</a:t>
            </a:r>
            <a:endParaRPr lang="en-US" sz="1600" dirty="0">
              <a:solidFill>
                <a:schemeClr val="tx1">
                  <a:lumMod val="65000"/>
                  <a:lumOff val="35000"/>
                </a:schemeClr>
              </a:solidFill>
              <a:latin typeface="Aptos ExtraBold" panose="020B0004020202020204" pitchFamily="34" charset="0"/>
            </a:endParaRPr>
          </a:p>
          <a:p>
            <a:pPr algn="l">
              <a:buNone/>
            </a:pPr>
            <a:endParaRPr lang="en-US" sz="500"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Most customers prefer cost-effective Standard Class , while faster options like Same Day are rarely chosen.</a:t>
            </a:r>
          </a:p>
        </p:txBody>
      </p:sp>
      <p:sp>
        <p:nvSpPr>
          <p:cNvPr id="16" name="Google Shape;105;p1">
            <a:extLst>
              <a:ext uri="{FF2B5EF4-FFF2-40B4-BE49-F238E27FC236}">
                <a16:creationId xmlns:a16="http://schemas.microsoft.com/office/drawing/2014/main" id="{3BE98C08-D5FB-03FE-7BDE-C3AE4760EBD3}"/>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12</a:t>
            </a:r>
            <a:endParaRPr lang="ar-EG" b="1" dirty="0"/>
          </a:p>
        </p:txBody>
      </p:sp>
    </p:spTree>
    <p:extLst>
      <p:ext uri="{BB962C8B-B14F-4D97-AF65-F5344CB8AC3E}">
        <p14:creationId xmlns:p14="http://schemas.microsoft.com/office/powerpoint/2010/main" val="3052065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EC4FA99-612B-5C36-13AE-2747DF53A92C}"/>
            </a:ext>
          </a:extLst>
        </p:cNvPr>
        <p:cNvGrpSpPr/>
        <p:nvPr/>
      </p:nvGrpSpPr>
      <p:grpSpPr>
        <a:xfrm>
          <a:off x="0" y="0"/>
          <a:ext cx="0" cy="0"/>
          <a:chOff x="0" y="0"/>
          <a:chExt cx="0" cy="0"/>
        </a:xfrm>
      </p:grpSpPr>
      <p:pic>
        <p:nvPicPr>
          <p:cNvPr id="4100" name="Picture 4">
            <a:extLst>
              <a:ext uri="{FF2B5EF4-FFF2-40B4-BE49-F238E27FC236}">
                <a16:creationId xmlns:a16="http://schemas.microsoft.com/office/drawing/2014/main" id="{5CD2D435-A79E-4CD5-3B01-FBB67474E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503" y="1586050"/>
            <a:ext cx="4265363" cy="2633834"/>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C28165F-0FC6-7E13-F48D-A1C5E703C7DA}"/>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6D1E4E20-439E-D469-9125-21C9AA217340}"/>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BBAF922-1470-A841-3F4E-9CAE14A6790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dirty="0"/>
          </a:p>
        </p:txBody>
      </p:sp>
      <p:pic>
        <p:nvPicPr>
          <p:cNvPr id="110" name="Google Shape;110;p1" title="download.png">
            <a:extLst>
              <a:ext uri="{FF2B5EF4-FFF2-40B4-BE49-F238E27FC236}">
                <a16:creationId xmlns:a16="http://schemas.microsoft.com/office/drawing/2014/main" id="{1C80376E-81B3-3C28-1ECF-4F2B0285286B}"/>
              </a:ext>
            </a:extLst>
          </p:cNvPr>
          <p:cNvPicPr preferRelativeResize="0"/>
          <p:nvPr/>
        </p:nvPicPr>
        <p:blipFill>
          <a:blip r:embed="rId4">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8AD2289-B613-D214-F6A5-32C9E89E8DB9}"/>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5EA9BD4-4BD1-5D2F-C88F-CAE8E0BE7A7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6976F18-DD66-029D-F5FF-DCFFD67F064E}"/>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AD94EE54-BDF6-BF05-4716-811F23CF83BC}"/>
              </a:ext>
            </a:extLst>
          </p:cNvPr>
          <p:cNvSpPr txBox="1"/>
          <p:nvPr/>
        </p:nvSpPr>
        <p:spPr>
          <a:xfrm>
            <a:off x="273453" y="1656134"/>
            <a:ext cx="6052050"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3: Product Sub-Category Distribution</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how frequently different furniture sub-categories appear in the dataset.</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Customers buy more furniture accessories (Furnishings) and seating (Chairs) than larger items like Tables or Bookcases .</a:t>
            </a:r>
          </a:p>
        </p:txBody>
      </p:sp>
      <p:sp>
        <p:nvSpPr>
          <p:cNvPr id="15" name="TextBox 14">
            <a:extLst>
              <a:ext uri="{FF2B5EF4-FFF2-40B4-BE49-F238E27FC236}">
                <a16:creationId xmlns:a16="http://schemas.microsoft.com/office/drawing/2014/main" id="{11535D39-B040-D423-7CE2-8D0C2BCBE442}"/>
              </a:ext>
            </a:extLst>
          </p:cNvPr>
          <p:cNvSpPr txBox="1"/>
          <p:nvPr/>
        </p:nvSpPr>
        <p:spPr>
          <a:xfrm>
            <a:off x="273452" y="4075518"/>
            <a:ext cx="6098874"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4: Average Order Value by Segment</a:t>
            </a:r>
          </a:p>
          <a:p>
            <a:pPr algn="l">
              <a:buNone/>
            </a:pPr>
            <a:endParaRPr lang="en-US" sz="500" b="1" dirty="0">
              <a:solidFill>
                <a:srgbClr val="1869A6"/>
              </a:solidFill>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shows the average order value for each customer segment.</a:t>
            </a:r>
            <a:endParaRPr lang="en-US" sz="1600" dirty="0">
              <a:solidFill>
                <a:schemeClr val="tx1">
                  <a:lumMod val="65000"/>
                  <a:lumOff val="35000"/>
                </a:schemeClr>
              </a:solidFill>
              <a:latin typeface="Aptos ExtraBold" panose="020B0004020202020204" pitchFamily="34" charset="0"/>
            </a:endParaRPr>
          </a:p>
          <a:p>
            <a:pPr algn="l">
              <a:buNone/>
            </a:pPr>
            <a:endParaRPr lang="en-US" sz="500"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Consumer and Corporate customers spend about the same per order, while Home Office customers spend slightly less..</a:t>
            </a:r>
          </a:p>
        </p:txBody>
      </p:sp>
      <p:sp>
        <p:nvSpPr>
          <p:cNvPr id="9" name="TextBox 8">
            <a:extLst>
              <a:ext uri="{FF2B5EF4-FFF2-40B4-BE49-F238E27FC236}">
                <a16:creationId xmlns:a16="http://schemas.microsoft.com/office/drawing/2014/main" id="{BF795CB1-AC87-4B17-9F81-F425C0E62BFB}"/>
              </a:ext>
            </a:extLst>
          </p:cNvPr>
          <p:cNvSpPr txBox="1"/>
          <p:nvPr/>
        </p:nvSpPr>
        <p:spPr>
          <a:xfrm>
            <a:off x="10286708" y="3656682"/>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3</a:t>
            </a:r>
          </a:p>
        </p:txBody>
      </p:sp>
      <p:pic>
        <p:nvPicPr>
          <p:cNvPr id="4102" name="Picture 6">
            <a:extLst>
              <a:ext uri="{FF2B5EF4-FFF2-40B4-BE49-F238E27FC236}">
                <a16:creationId xmlns:a16="http://schemas.microsoft.com/office/drawing/2014/main" id="{A2C1A3CE-E63E-08A0-A916-F25A76BCEF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16275" y="4384897"/>
            <a:ext cx="4335591" cy="188049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EED818-6AA1-4FB9-531D-3D4CA4578175}"/>
              </a:ext>
            </a:extLst>
          </p:cNvPr>
          <p:cNvSpPr txBox="1"/>
          <p:nvPr/>
        </p:nvSpPr>
        <p:spPr>
          <a:xfrm rot="16200000">
            <a:off x="10612672" y="5540779"/>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4</a:t>
            </a:r>
          </a:p>
        </p:txBody>
      </p:sp>
      <p:sp>
        <p:nvSpPr>
          <p:cNvPr id="7" name="Google Shape;105;p1">
            <a:extLst>
              <a:ext uri="{FF2B5EF4-FFF2-40B4-BE49-F238E27FC236}">
                <a16:creationId xmlns:a16="http://schemas.microsoft.com/office/drawing/2014/main" id="{D1CD7D4A-DB86-5AFB-B478-05F498ED2E32}"/>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13</a:t>
            </a:r>
            <a:endParaRPr lang="ar-EG" b="1" dirty="0"/>
          </a:p>
        </p:txBody>
      </p:sp>
    </p:spTree>
    <p:extLst>
      <p:ext uri="{BB962C8B-B14F-4D97-AF65-F5344CB8AC3E}">
        <p14:creationId xmlns:p14="http://schemas.microsoft.com/office/powerpoint/2010/main" val="195852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A96F67C-811F-E633-C9AF-7A2781C6C4F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9B48F0-17C1-44F0-DC82-A094CEFCFB89}"/>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0D7DCF0-CCE7-77BF-DC79-6557C77DC2B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1C82152-4A3A-89CB-425E-4D8C4AE0DFF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dirty="0"/>
          </a:p>
        </p:txBody>
      </p:sp>
      <p:pic>
        <p:nvPicPr>
          <p:cNvPr id="110" name="Google Shape;110;p1" title="download.png">
            <a:extLst>
              <a:ext uri="{FF2B5EF4-FFF2-40B4-BE49-F238E27FC236}">
                <a16:creationId xmlns:a16="http://schemas.microsoft.com/office/drawing/2014/main" id="{49C5050F-E1EA-3B36-9D60-5D261717B350}"/>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3F22C443-0A71-13AE-2199-BA4F2F9C5273}"/>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A56617B-7A48-BA2B-54B5-7C99391B2CBF}"/>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A77EA71E-315E-8DD5-9872-83DEE641661F}"/>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1E4B2607-B900-9667-3F55-BF547EF825C2}"/>
              </a:ext>
            </a:extLst>
          </p:cNvPr>
          <p:cNvSpPr txBox="1"/>
          <p:nvPr/>
        </p:nvSpPr>
        <p:spPr>
          <a:xfrm>
            <a:off x="333838" y="2279953"/>
            <a:ext cx="4928275" cy="2739211"/>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5: Top 10 States by Total Sales</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horizontal bar chart ranks the top 10 states based on their total sales. The chart shows the following.</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California Dominates Sales : California has significantly higher sales compared to other states, indicating it is a major market for the business .</a:t>
            </a:r>
          </a:p>
        </p:txBody>
      </p:sp>
      <p:pic>
        <p:nvPicPr>
          <p:cNvPr id="6148" name="Picture 4">
            <a:extLst>
              <a:ext uri="{FF2B5EF4-FFF2-40B4-BE49-F238E27FC236}">
                <a16:creationId xmlns:a16="http://schemas.microsoft.com/office/drawing/2014/main" id="{9C5311A4-CFE0-5F57-5EC9-A3A69CA391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7377" y="2368380"/>
            <a:ext cx="6325500" cy="2649626"/>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A7099DB-647D-22AA-88DE-81E68B967A92}"/>
              </a:ext>
            </a:extLst>
          </p:cNvPr>
          <p:cNvSpPr txBox="1"/>
          <p:nvPr/>
        </p:nvSpPr>
        <p:spPr>
          <a:xfrm>
            <a:off x="10506373" y="4419464"/>
            <a:ext cx="1517648"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5</a:t>
            </a:r>
          </a:p>
        </p:txBody>
      </p:sp>
      <p:sp>
        <p:nvSpPr>
          <p:cNvPr id="6" name="Google Shape;105;p1">
            <a:extLst>
              <a:ext uri="{FF2B5EF4-FFF2-40B4-BE49-F238E27FC236}">
                <a16:creationId xmlns:a16="http://schemas.microsoft.com/office/drawing/2014/main" id="{F6429029-BAFB-3273-3E1E-A12AEF9F9F1C}"/>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14</a:t>
            </a:r>
            <a:endParaRPr lang="ar-EG" b="1" dirty="0"/>
          </a:p>
        </p:txBody>
      </p:sp>
    </p:spTree>
    <p:extLst>
      <p:ext uri="{BB962C8B-B14F-4D97-AF65-F5344CB8AC3E}">
        <p14:creationId xmlns:p14="http://schemas.microsoft.com/office/powerpoint/2010/main" val="126560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C8A2271-C893-B159-2255-1D1550E11B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E2FF2B-5035-AEA5-2520-D6919DAF8052}"/>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851645D7-A019-FD61-7BD3-93F6C77DEE8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3D7422D-2FE0-948B-2D1E-62E8E50DE05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dirty="0"/>
          </a:p>
        </p:txBody>
      </p:sp>
      <p:pic>
        <p:nvPicPr>
          <p:cNvPr id="110" name="Google Shape;110;p1" title="download.png">
            <a:extLst>
              <a:ext uri="{FF2B5EF4-FFF2-40B4-BE49-F238E27FC236}">
                <a16:creationId xmlns:a16="http://schemas.microsoft.com/office/drawing/2014/main" id="{C5599491-9007-DF87-6D52-1C47A507E058}"/>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7092F5A1-1E6B-2ED4-A39B-3E6AF6C1C2AD}"/>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E684301-45F7-B5CE-FEF9-C681B9A6F79D}"/>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8D0C16BF-731D-AB44-CF46-CB25FD10D44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E7901C6C-AD80-C9DE-2D5E-60BF8F77BD27}"/>
              </a:ext>
            </a:extLst>
          </p:cNvPr>
          <p:cNvSpPr txBox="1"/>
          <p:nvPr/>
        </p:nvSpPr>
        <p:spPr>
          <a:xfrm>
            <a:off x="618158" y="2182505"/>
            <a:ext cx="5774016" cy="372409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6: Monthly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line chart illustrates the total sales over time, measured monthly from January 2014 to January 2018 .</a:t>
            </a:r>
          </a:p>
          <a:p>
            <a:pPr algn="l">
              <a:buNone/>
            </a:pPr>
            <a:r>
              <a:rPr lang="en-US" sz="1600" b="0" i="0" dirty="0">
                <a:solidFill>
                  <a:schemeClr val="tx1">
                    <a:lumMod val="65000"/>
                    <a:lumOff val="35000"/>
                  </a:schemeClr>
                </a:solidFill>
                <a:effectLst/>
                <a:latin typeface="Aptos ExtraBold" panose="020B0004020202020204" pitchFamily="34" charset="0"/>
              </a:rPr>
              <a:t> The x-axis represents the year-month, and the y-axis shows the total sales in dollars..</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Steady sales growth from 2014 to 2018.</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Seasonal peaks suggest strong holiday and mid-year demand.</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Mid-2016 dip indicates a possible market challenge or supply issue.</a:t>
            </a: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Post-2016 recovery shows resilience and growth potential.</a:t>
            </a:r>
          </a:p>
        </p:txBody>
      </p:sp>
      <p:pic>
        <p:nvPicPr>
          <p:cNvPr id="7170" name="Picture 2">
            <a:extLst>
              <a:ext uri="{FF2B5EF4-FFF2-40B4-BE49-F238E27FC236}">
                <a16:creationId xmlns:a16="http://schemas.microsoft.com/office/drawing/2014/main" id="{13E6F24F-4FBB-AD1E-B5FC-FE24026D7E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2185" y="2182505"/>
            <a:ext cx="4751657" cy="3329437"/>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0BBEE18-C235-22F9-86CB-104EF1663B80}"/>
              </a:ext>
            </a:extLst>
          </p:cNvPr>
          <p:cNvSpPr txBox="1"/>
          <p:nvPr/>
        </p:nvSpPr>
        <p:spPr>
          <a:xfrm>
            <a:off x="10670817" y="4612188"/>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6</a:t>
            </a:r>
          </a:p>
        </p:txBody>
      </p:sp>
      <p:sp>
        <p:nvSpPr>
          <p:cNvPr id="3" name="Google Shape;105;p1">
            <a:extLst>
              <a:ext uri="{FF2B5EF4-FFF2-40B4-BE49-F238E27FC236}">
                <a16:creationId xmlns:a16="http://schemas.microsoft.com/office/drawing/2014/main" id="{D7FF8225-051C-7059-B9E0-379246B87BAF}"/>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15</a:t>
            </a:r>
            <a:endParaRPr lang="ar-EG" b="1" dirty="0"/>
          </a:p>
        </p:txBody>
      </p:sp>
    </p:spTree>
    <p:extLst>
      <p:ext uri="{BB962C8B-B14F-4D97-AF65-F5344CB8AC3E}">
        <p14:creationId xmlns:p14="http://schemas.microsoft.com/office/powerpoint/2010/main" val="3062522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D903C06-9220-D572-B8B5-91A2B2E64E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3B5EF58-4000-8931-38EE-57BD43AB4476}"/>
              </a:ext>
            </a:extLst>
          </p:cNvPr>
          <p:cNvSpPr/>
          <p:nvPr/>
        </p:nvSpPr>
        <p:spPr>
          <a:xfrm>
            <a:off x="0" y="1946832"/>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9373CAD-7A19-E1E6-265A-AF4CAB8BC76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41ACBAAA-0F88-49BA-9EEF-DA8DA18AFA7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dirty="0"/>
          </a:p>
        </p:txBody>
      </p:sp>
      <p:pic>
        <p:nvPicPr>
          <p:cNvPr id="110" name="Google Shape;110;p1" title="download.png">
            <a:extLst>
              <a:ext uri="{FF2B5EF4-FFF2-40B4-BE49-F238E27FC236}">
                <a16:creationId xmlns:a16="http://schemas.microsoft.com/office/drawing/2014/main" id="{5DCBD153-86C3-E6F3-B3D5-CBCC0B686A45}"/>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C7B258D5-612D-FE63-739B-0E164613EB7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F3EED39F-B6FE-DBDC-8D8E-20462F01D9B1}"/>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6948DD17-3815-FE48-5E6F-605EA1F1F56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1478EEC4-4633-6647-51E7-F99B7AC44475}"/>
              </a:ext>
            </a:extLst>
          </p:cNvPr>
          <p:cNvSpPr txBox="1"/>
          <p:nvPr/>
        </p:nvSpPr>
        <p:spPr>
          <a:xfrm>
            <a:off x="477739" y="2467937"/>
            <a:ext cx="4911022" cy="2000548"/>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7: Yearly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year from 2014 to 2017.</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Sales have consistently increased year-over-year , with a steady growth trend over the four years.</a:t>
            </a:r>
          </a:p>
        </p:txBody>
      </p:sp>
      <p:pic>
        <p:nvPicPr>
          <p:cNvPr id="8194" name="Picture 2">
            <a:extLst>
              <a:ext uri="{FF2B5EF4-FFF2-40B4-BE49-F238E27FC236}">
                <a16:creationId xmlns:a16="http://schemas.microsoft.com/office/drawing/2014/main" id="{FFB0ED97-570C-AE48-DF00-1BDBBC5EF6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2872" y="2389541"/>
            <a:ext cx="4381577" cy="2656914"/>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70FE4F7-EF7C-3357-53FD-5B13C169831A}"/>
              </a:ext>
            </a:extLst>
          </p:cNvPr>
          <p:cNvSpPr txBox="1"/>
          <p:nvPr/>
        </p:nvSpPr>
        <p:spPr>
          <a:xfrm>
            <a:off x="7357733" y="2555367"/>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7</a:t>
            </a:r>
          </a:p>
        </p:txBody>
      </p:sp>
      <p:sp>
        <p:nvSpPr>
          <p:cNvPr id="3" name="Google Shape;105;p1">
            <a:extLst>
              <a:ext uri="{FF2B5EF4-FFF2-40B4-BE49-F238E27FC236}">
                <a16:creationId xmlns:a16="http://schemas.microsoft.com/office/drawing/2014/main" id="{243B5357-2F2F-4D78-6311-4D0592CB474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16</a:t>
            </a:r>
            <a:endParaRPr lang="ar-EG" b="1" dirty="0"/>
          </a:p>
        </p:txBody>
      </p:sp>
    </p:spTree>
    <p:extLst>
      <p:ext uri="{BB962C8B-B14F-4D97-AF65-F5344CB8AC3E}">
        <p14:creationId xmlns:p14="http://schemas.microsoft.com/office/powerpoint/2010/main" val="1925071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D10DF93-2508-8B48-79B6-238FECA3CC9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23E34FF-657B-CA9D-6EDA-A7A02B3ACE53}"/>
              </a:ext>
            </a:extLst>
          </p:cNvPr>
          <p:cNvSpPr/>
          <p:nvPr/>
        </p:nvSpPr>
        <p:spPr>
          <a:xfrm>
            <a:off x="-1" y="1940944"/>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65E37060-7D51-49E8-B54F-E2912D20CABE}"/>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1117B3CA-0AF6-7035-A440-464EF3A2B1B0}"/>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dirty="0"/>
          </a:p>
        </p:txBody>
      </p:sp>
      <p:pic>
        <p:nvPicPr>
          <p:cNvPr id="110" name="Google Shape;110;p1" title="download.png">
            <a:extLst>
              <a:ext uri="{FF2B5EF4-FFF2-40B4-BE49-F238E27FC236}">
                <a16:creationId xmlns:a16="http://schemas.microsoft.com/office/drawing/2014/main" id="{215A5416-686C-EF01-1D05-DAC96D664A0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38D2726-55E6-FE8F-D21D-CF4731548CC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D18E1FC8-101C-6904-1CD5-6D80B98B2FB7}"/>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B67F4D53-CAE5-D92F-70B0-37088A45A433}"/>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DC1824C6-389E-6B39-81E6-E0588C75FB87}"/>
              </a:ext>
            </a:extLst>
          </p:cNvPr>
          <p:cNvSpPr txBox="1"/>
          <p:nvPr/>
        </p:nvSpPr>
        <p:spPr>
          <a:xfrm>
            <a:off x="618158" y="2182505"/>
            <a:ext cx="4911022" cy="372409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8: Sales Trend by Day of the Week</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day of the week.</a:t>
            </a:r>
          </a:p>
          <a:p>
            <a:pPr algn="l">
              <a:buNone/>
            </a:pPr>
            <a:endParaRPr lang="en-US" sz="500" b="0" i="0" dirty="0">
              <a:solidFill>
                <a:srgbClr val="0FAB7D"/>
              </a:solidFill>
              <a:effectLst/>
              <a:latin typeface="Aptos ExtraBold" panose="020B0004020202020204" pitchFamily="34" charset="0"/>
            </a:endParaRPr>
          </a:p>
          <a:p>
            <a:pPr algn="l"/>
            <a:r>
              <a:rPr lang="en-US" sz="1600" b="0" i="0" dirty="0">
                <a:solidFill>
                  <a:srgbClr val="0FAB7D"/>
                </a:solidFill>
                <a:effectLst/>
                <a:latin typeface="Aptos ExtraBold" panose="020B0004020202020204" pitchFamily="34" charset="0"/>
              </a:rPr>
              <a:t>Key Insight:</a:t>
            </a:r>
            <a:endParaRPr lang="en-US" sz="1600" dirty="0">
              <a:solidFill>
                <a:srgbClr val="0FAB7D"/>
              </a:solidFill>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Highest Sales on Monday.</a:t>
            </a:r>
          </a:p>
          <a:p>
            <a:pPr algn="l"/>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Lowest Sales on Wednesday.</a:t>
            </a:r>
          </a:p>
          <a:p>
            <a:pPr algn="l"/>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Midweek Recovery : </a:t>
            </a:r>
            <a:r>
              <a:rPr lang="en-US" b="0" i="0" dirty="0">
                <a:solidFill>
                  <a:schemeClr val="tx1">
                    <a:lumMod val="65000"/>
                    <a:lumOff val="35000"/>
                  </a:schemeClr>
                </a:solidFill>
                <a:effectLst/>
                <a:latin typeface="Aptos ExtraBold" panose="020B0004020202020204" pitchFamily="34" charset="0"/>
              </a:rPr>
              <a:t>Thursday and Friday show a recovery in sales, suggesting increased customer engagement toward the end of the week.</a:t>
            </a:r>
          </a:p>
          <a:p>
            <a:pPr marL="285750" indent="-285750" algn="l">
              <a:buFont typeface="Courier New" panose="02070309020205020404" pitchFamily="49" charset="0"/>
              <a:buChar char="o"/>
            </a:pPr>
            <a:endParaRPr lang="en-US" sz="500" b="0" i="0" dirty="0">
              <a:solidFill>
                <a:schemeClr val="tx1">
                  <a:lumMod val="65000"/>
                  <a:lumOff val="35000"/>
                </a:schemeClr>
              </a:solidFill>
              <a:effectLst/>
              <a:latin typeface="Aptos ExtraBold" panose="020B0004020202020204" pitchFamily="34" charset="0"/>
            </a:endParaRPr>
          </a:p>
          <a:p>
            <a:pPr marL="285750" indent="-285750" algn="l">
              <a:buFont typeface="Courier New" panose="02070309020205020404" pitchFamily="49" charset="0"/>
              <a:buChar char="o"/>
            </a:pPr>
            <a:r>
              <a:rPr lang="en-US" sz="1600" b="0" i="0" dirty="0">
                <a:solidFill>
                  <a:schemeClr val="tx1">
                    <a:lumMod val="65000"/>
                    <a:lumOff val="35000"/>
                  </a:schemeClr>
                </a:solidFill>
                <a:effectLst/>
                <a:latin typeface="Aptos ExtraBold" panose="020B0004020202020204" pitchFamily="34" charset="0"/>
              </a:rPr>
              <a:t>Weekend Performance : </a:t>
            </a:r>
            <a:r>
              <a:rPr lang="en-US" b="0" i="0" dirty="0">
                <a:solidFill>
                  <a:schemeClr val="tx1">
                    <a:lumMod val="65000"/>
                    <a:lumOff val="35000"/>
                  </a:schemeClr>
                </a:solidFill>
                <a:effectLst/>
                <a:latin typeface="Aptos ExtraBold" panose="020B0004020202020204" pitchFamily="34" charset="0"/>
              </a:rPr>
              <a:t>Saturday and Sunday maintain relatively high sales, showing consistent demand throughout the weekend.</a:t>
            </a:r>
            <a:endParaRPr lang="en-US" sz="1600" b="0" i="0" dirty="0">
              <a:solidFill>
                <a:schemeClr val="tx1">
                  <a:lumMod val="65000"/>
                  <a:lumOff val="35000"/>
                </a:schemeClr>
              </a:solidFill>
              <a:effectLst/>
              <a:latin typeface="Aptos ExtraBold" panose="020B0004020202020204" pitchFamily="34" charset="0"/>
            </a:endParaRPr>
          </a:p>
        </p:txBody>
      </p:sp>
      <p:pic>
        <p:nvPicPr>
          <p:cNvPr id="9218" name="Picture 2">
            <a:extLst>
              <a:ext uri="{FF2B5EF4-FFF2-40B4-BE49-F238E27FC236}">
                <a16:creationId xmlns:a16="http://schemas.microsoft.com/office/drawing/2014/main" id="{6A9F7158-E598-C341-3747-17C1B5BF2C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2405" y="2445169"/>
            <a:ext cx="5975338" cy="321539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4E3012C-9E4A-5CE8-AC1C-FC07679EE759}"/>
              </a:ext>
            </a:extLst>
          </p:cNvPr>
          <p:cNvSpPr txBox="1"/>
          <p:nvPr/>
        </p:nvSpPr>
        <p:spPr>
          <a:xfrm>
            <a:off x="10820981" y="2688376"/>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8</a:t>
            </a:r>
          </a:p>
        </p:txBody>
      </p:sp>
      <p:sp>
        <p:nvSpPr>
          <p:cNvPr id="3" name="Google Shape;105;p1">
            <a:extLst>
              <a:ext uri="{FF2B5EF4-FFF2-40B4-BE49-F238E27FC236}">
                <a16:creationId xmlns:a16="http://schemas.microsoft.com/office/drawing/2014/main" id="{81F85330-FC2C-544B-ABDD-43766C8BC10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17</a:t>
            </a:r>
            <a:endParaRPr lang="ar-EG" b="1" dirty="0"/>
          </a:p>
        </p:txBody>
      </p:sp>
    </p:spTree>
    <p:extLst>
      <p:ext uri="{BB962C8B-B14F-4D97-AF65-F5344CB8AC3E}">
        <p14:creationId xmlns:p14="http://schemas.microsoft.com/office/powerpoint/2010/main" val="3196312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168DF66-F178-BDC8-9409-842EF3AC300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94409D2-60BD-3B39-6B07-7C0113260DFE}"/>
              </a:ext>
            </a:extLst>
          </p:cNvPr>
          <p:cNvSpPr/>
          <p:nvPr/>
        </p:nvSpPr>
        <p:spPr>
          <a:xfrm>
            <a:off x="13771" y="2078967"/>
            <a:ext cx="5866501" cy="491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7A61BF4-B414-C718-904D-1102CF2C9B4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F2B82964-1F80-3997-D4B0-0DC15B48755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dirty="0"/>
          </a:p>
        </p:txBody>
      </p:sp>
      <p:pic>
        <p:nvPicPr>
          <p:cNvPr id="110" name="Google Shape;110;p1" title="download.png">
            <a:extLst>
              <a:ext uri="{FF2B5EF4-FFF2-40B4-BE49-F238E27FC236}">
                <a16:creationId xmlns:a16="http://schemas.microsoft.com/office/drawing/2014/main" id="{BC13B778-C345-B9BC-05A9-71647216D10E}"/>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FBF9833-10F1-1C8E-5DE8-917D0D58F1A0}"/>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C2BAA74F-9114-AB5C-F9C9-A8C3B7290C4A}"/>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4CF42C7A-87B4-7E17-B268-86EF5D53FA69}"/>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“Exploratory Data Analysis”</a:t>
            </a:r>
          </a:p>
        </p:txBody>
      </p:sp>
      <p:sp>
        <p:nvSpPr>
          <p:cNvPr id="12" name="TextBox 11">
            <a:extLst>
              <a:ext uri="{FF2B5EF4-FFF2-40B4-BE49-F238E27FC236}">
                <a16:creationId xmlns:a16="http://schemas.microsoft.com/office/drawing/2014/main" id="{AB42F35B-15B3-07E1-01FB-1B3C0223E5E5}"/>
              </a:ext>
            </a:extLst>
          </p:cNvPr>
          <p:cNvSpPr txBox="1"/>
          <p:nvPr/>
        </p:nvSpPr>
        <p:spPr>
          <a:xfrm>
            <a:off x="138467" y="2078967"/>
            <a:ext cx="5361259" cy="3600986"/>
          </a:xfrm>
          <a:prstGeom prst="rect">
            <a:avLst/>
          </a:prstGeom>
          <a:noFill/>
        </p:spPr>
        <p:txBody>
          <a:bodyPr wrap="square">
            <a:spAutoFit/>
          </a:bodyPr>
          <a:lstStyle/>
          <a:p>
            <a:pPr algn="l">
              <a:buNone/>
            </a:pPr>
            <a:r>
              <a:rPr lang="en-US" sz="1800" b="1" i="0" dirty="0">
                <a:solidFill>
                  <a:srgbClr val="1869A6"/>
                </a:solidFill>
                <a:effectLst/>
                <a:latin typeface="Aptos ExtraBold" panose="020B0004020202020204" pitchFamily="34" charset="0"/>
              </a:rPr>
              <a:t>Graph 9: Sales Seasonality - Monthly Sales Trend</a:t>
            </a:r>
            <a:endParaRPr lang="en-US" sz="1800" b="1" dirty="0">
              <a:solidFill>
                <a:srgbClr val="1869A6"/>
              </a:solidFill>
              <a:latin typeface="Aptos ExtraBold" panose="020B0004020202020204" pitchFamily="34" charset="0"/>
            </a:endParaRPr>
          </a:p>
          <a:p>
            <a:pPr algn="l">
              <a:buNone/>
            </a:pPr>
            <a:endParaRPr lang="en-US" sz="500" b="1" i="0" dirty="0">
              <a:solidFill>
                <a:srgbClr val="1869A6"/>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Description:</a:t>
            </a:r>
            <a:br>
              <a:rPr lang="en-US" sz="1600" b="0" i="0" dirty="0">
                <a:solidFill>
                  <a:schemeClr val="tx1"/>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This bar chart shows the total sales for each month of the year, highlighting seasonal trends in sales performance.</a:t>
            </a:r>
          </a:p>
          <a:p>
            <a:pPr algn="l">
              <a:buNone/>
            </a:pPr>
            <a:endParaRPr lang="en-US" sz="500" b="0" i="0" dirty="0">
              <a:solidFill>
                <a:srgbClr val="0FAB7D"/>
              </a:solidFill>
              <a:effectLst/>
              <a:latin typeface="Aptos ExtraBold" panose="020B0004020202020204" pitchFamily="34" charset="0"/>
            </a:endParaRPr>
          </a:p>
          <a:p>
            <a:pPr algn="l">
              <a:buNone/>
            </a:pPr>
            <a:r>
              <a:rPr lang="en-US" sz="1600" b="0" i="0" dirty="0">
                <a:solidFill>
                  <a:srgbClr val="0FAB7D"/>
                </a:solidFill>
                <a:effectLst/>
                <a:latin typeface="Aptos ExtraBold" panose="020B0004020202020204" pitchFamily="34" charset="0"/>
              </a:rPr>
              <a:t>Key Insight:</a:t>
            </a:r>
            <a:br>
              <a:rPr lang="en-US" sz="1600" b="0" i="0" dirty="0">
                <a:solidFill>
                  <a:srgbClr val="0FAB7D"/>
                </a:solidFill>
                <a:effectLst/>
                <a:latin typeface="Aptos ExtraBold" panose="020B0004020202020204" pitchFamily="34" charset="0"/>
              </a:rPr>
            </a:br>
            <a:r>
              <a:rPr lang="en-US" sz="1600" b="0" i="0" dirty="0">
                <a:solidFill>
                  <a:schemeClr val="tx1">
                    <a:lumMod val="65000"/>
                    <a:lumOff val="35000"/>
                  </a:schemeClr>
                </a:solidFill>
                <a:effectLst/>
                <a:latin typeface="Aptos ExtraBold" panose="020B0004020202020204" pitchFamily="34" charset="0"/>
              </a:rPr>
              <a:t>-</a:t>
            </a:r>
            <a:r>
              <a:rPr lang="en-US" sz="1600" b="0" i="0" dirty="0">
                <a:solidFill>
                  <a:srgbClr val="0FAB7D"/>
                </a:solidFill>
                <a:effectLst/>
                <a:latin typeface="Aptos ExtraBold" panose="020B0004020202020204" pitchFamily="34" charset="0"/>
              </a:rPr>
              <a:t> </a:t>
            </a:r>
            <a:r>
              <a:rPr lang="en-US" sz="1600" b="0" i="0" dirty="0">
                <a:solidFill>
                  <a:schemeClr val="tx1">
                    <a:lumMod val="65000"/>
                    <a:lumOff val="35000"/>
                  </a:schemeClr>
                </a:solidFill>
                <a:effectLst/>
                <a:latin typeface="Aptos ExtraBold" panose="020B0004020202020204" pitchFamily="34" charset="0"/>
              </a:rPr>
              <a:t>Seasonal Patterns </a:t>
            </a:r>
            <a:r>
              <a:rPr lang="en-US" b="0" i="0" dirty="0">
                <a:solidFill>
                  <a:schemeClr val="tx1">
                    <a:lumMod val="65000"/>
                    <a:lumOff val="35000"/>
                  </a:schemeClr>
                </a:solidFill>
                <a:effectLst/>
                <a:latin typeface="Aptos ExtraBold" panose="020B0004020202020204" pitchFamily="34" charset="0"/>
              </a:rPr>
              <a:t>: Sales see a low point in January and February after the holidays, then steadily increase from March to September, reaching their highest point in November and December due to holiday shopping.</a:t>
            </a:r>
          </a:p>
          <a:p>
            <a:pPr algn="l">
              <a:buNone/>
            </a:pPr>
            <a:endParaRPr lang="en-US" b="0" i="0" dirty="0">
              <a:solidFill>
                <a:schemeClr val="tx1">
                  <a:lumMod val="65000"/>
                  <a:lumOff val="35000"/>
                </a:schemeClr>
              </a:solidFill>
              <a:effectLst/>
              <a:latin typeface="Aptos ExtraBold" panose="020B0004020202020204" pitchFamily="34" charset="0"/>
            </a:endParaRPr>
          </a:p>
          <a:p>
            <a:pPr algn="l">
              <a:buNone/>
            </a:pPr>
            <a:r>
              <a:rPr lang="en-US" sz="1600" b="0" i="0" dirty="0">
                <a:solidFill>
                  <a:schemeClr val="tx1">
                    <a:lumMod val="65000"/>
                    <a:lumOff val="35000"/>
                  </a:schemeClr>
                </a:solidFill>
                <a:effectLst/>
                <a:latin typeface="Aptos ExtraBold" panose="020B0004020202020204" pitchFamily="34" charset="0"/>
              </a:rPr>
              <a:t>- Holiday Impact : </a:t>
            </a:r>
            <a:r>
              <a:rPr lang="en-US" b="0" i="0" dirty="0">
                <a:solidFill>
                  <a:schemeClr val="tx1">
                    <a:lumMod val="65000"/>
                    <a:lumOff val="35000"/>
                  </a:schemeClr>
                </a:solidFill>
                <a:effectLst/>
                <a:latin typeface="Aptos ExtraBold" panose="020B0004020202020204" pitchFamily="34" charset="0"/>
              </a:rPr>
              <a:t>The significant spike in November and December reflects strong consumer spending during the holiday season.</a:t>
            </a:r>
            <a:endParaRPr lang="en-US" sz="1600" b="0" i="0" dirty="0">
              <a:solidFill>
                <a:schemeClr val="tx1">
                  <a:lumMod val="65000"/>
                  <a:lumOff val="35000"/>
                </a:schemeClr>
              </a:solidFill>
              <a:effectLst/>
              <a:latin typeface="Aptos ExtraBold" panose="020B0004020202020204" pitchFamily="34" charset="0"/>
            </a:endParaRPr>
          </a:p>
        </p:txBody>
      </p:sp>
      <p:pic>
        <p:nvPicPr>
          <p:cNvPr id="10242" name="Picture 2">
            <a:extLst>
              <a:ext uri="{FF2B5EF4-FFF2-40B4-BE49-F238E27FC236}">
                <a16:creationId xmlns:a16="http://schemas.microsoft.com/office/drawing/2014/main" id="{6844E2CE-5D4E-FD13-99C0-EABE4C6118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4422" y="2303774"/>
            <a:ext cx="6256729" cy="3366818"/>
          </a:xfrm>
          <a:prstGeom prst="rect">
            <a:avLst/>
          </a:prstGeom>
          <a:ln w="3175"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202C9C6-3B3F-3C2D-C278-3D9172F760DF}"/>
              </a:ext>
            </a:extLst>
          </p:cNvPr>
          <p:cNvSpPr txBox="1"/>
          <p:nvPr/>
        </p:nvSpPr>
        <p:spPr>
          <a:xfrm>
            <a:off x="6295385" y="2600405"/>
            <a:ext cx="822185" cy="261610"/>
          </a:xfrm>
          <a:prstGeom prst="rect">
            <a:avLst/>
          </a:prstGeom>
          <a:noFill/>
        </p:spPr>
        <p:txBody>
          <a:bodyPr wrap="square" rtlCol="0">
            <a:spAutoFit/>
          </a:bodyPr>
          <a:lstStyle/>
          <a:p>
            <a:pPr algn="ctr"/>
            <a:r>
              <a:rPr lang="en-US" sz="1100" b="1" dirty="0">
                <a:solidFill>
                  <a:schemeClr val="tx1"/>
                </a:solidFill>
                <a:latin typeface="Aptos ExtraBold" panose="020B0004020202020204" pitchFamily="34" charset="0"/>
              </a:rPr>
              <a:t>Graph 9</a:t>
            </a:r>
          </a:p>
        </p:txBody>
      </p:sp>
      <p:sp>
        <p:nvSpPr>
          <p:cNvPr id="3" name="Google Shape;105;p1">
            <a:extLst>
              <a:ext uri="{FF2B5EF4-FFF2-40B4-BE49-F238E27FC236}">
                <a16:creationId xmlns:a16="http://schemas.microsoft.com/office/drawing/2014/main" id="{D60B1D76-788F-E32A-989A-974D431722C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18</a:t>
            </a:r>
            <a:endParaRPr lang="ar-EG" b="1" dirty="0"/>
          </a:p>
        </p:txBody>
      </p:sp>
    </p:spTree>
    <p:extLst>
      <p:ext uri="{BB962C8B-B14F-4D97-AF65-F5344CB8AC3E}">
        <p14:creationId xmlns:p14="http://schemas.microsoft.com/office/powerpoint/2010/main" val="3500120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5094D7-1260-94B7-5ED1-787509CFE9C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29AFB1C-5028-4FCD-4FB8-28CF4FB0BEA9}"/>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2364C1ED-BF13-6CAB-EC9B-DE554B8F526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F241CCA-CF4B-64B4-500D-64EFC1B590E5}"/>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dirty="0"/>
          </a:p>
        </p:txBody>
      </p:sp>
      <p:pic>
        <p:nvPicPr>
          <p:cNvPr id="110" name="Google Shape;110;p1" title="download.png">
            <a:extLst>
              <a:ext uri="{FF2B5EF4-FFF2-40B4-BE49-F238E27FC236}">
                <a16:creationId xmlns:a16="http://schemas.microsoft.com/office/drawing/2014/main" id="{29CCEA33-82A3-9E76-2AF5-8826AE28003F}"/>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C8FDAA5-3427-6FC7-A331-C646CA3742C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1CAABA53-3CF4-D26D-4D6C-39274D9D7066}"/>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642CC63A-7F5A-64B5-73F5-E676F0B841CF}"/>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5DFC338D-B71A-489A-257C-C207962C8264}"/>
              </a:ext>
            </a:extLst>
          </p:cNvPr>
          <p:cNvSpPr>
            <a:spLocks noChangeArrowheads="1"/>
          </p:cNvSpPr>
          <p:nvPr/>
        </p:nvSpPr>
        <p:spPr bwMode="auto">
          <a:xfrm>
            <a:off x="558561" y="1902182"/>
            <a:ext cx="69723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chemeClr val="tx1">
                    <a:lumMod val="65000"/>
                    <a:lumOff val="35000"/>
                  </a:schemeClr>
                </a:solidFill>
                <a:latin typeface="Aptos ExtraBold" panose="020B0004020202020204" pitchFamily="34" charset="0"/>
              </a:rPr>
              <a:t>After completing data preprocessing and exploratory analysis, we developed and evaluated several machine learning models to predict weekly sales, our objective was to identify the most accurate and generalizable model to help optimize inventory, staffing, and marketing strategies.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2000" dirty="0">
              <a:solidFill>
                <a:schemeClr val="tx1">
                  <a:lumMod val="65000"/>
                  <a:lumOff val="35000"/>
                </a:schemeClr>
              </a:solidFill>
              <a:latin typeface="Aptos ExtraBold"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dirty="0">
                <a:solidFill>
                  <a:srgbClr val="1869A6"/>
                </a:solidFill>
                <a:latin typeface="Aptos ExtraBold" panose="020B0004020202020204" pitchFamily="34" charset="0"/>
              </a:rPr>
              <a:t>Models Explored:</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Linear Regression </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Decision Tree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Random Forest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Regressor</a:t>
            </a:r>
          </a:p>
          <a:p>
            <a:pPr marL="285750" marR="0" lvl="0" indent="-28575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err="1">
                <a:solidFill>
                  <a:schemeClr val="tx1">
                    <a:lumMod val="65000"/>
                    <a:lumOff val="35000"/>
                  </a:schemeClr>
                </a:solidFill>
                <a:latin typeface="Aptos ExtraBold" panose="020B0004020202020204" pitchFamily="34" charset="0"/>
              </a:rPr>
              <a:t>XGBoost</a:t>
            </a:r>
            <a:r>
              <a:rPr lang="en-US" altLang="en-US" sz="2000" dirty="0">
                <a:solidFill>
                  <a:schemeClr val="tx1">
                    <a:lumMod val="65000"/>
                    <a:lumOff val="35000"/>
                  </a:schemeClr>
                </a:solidFill>
                <a:latin typeface="Aptos ExtraBold" panose="020B0004020202020204" pitchFamily="34" charset="0"/>
              </a:rPr>
              <a:t> with Log-Transformed Target</a:t>
            </a:r>
          </a:p>
        </p:txBody>
      </p:sp>
      <p:sp>
        <p:nvSpPr>
          <p:cNvPr id="9" name="Google Shape;105;p1">
            <a:extLst>
              <a:ext uri="{FF2B5EF4-FFF2-40B4-BE49-F238E27FC236}">
                <a16:creationId xmlns:a16="http://schemas.microsoft.com/office/drawing/2014/main" id="{41BFD160-5F8F-B44D-D753-8B1E72C2FC69}"/>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19</a:t>
            </a:r>
            <a:endParaRPr lang="ar-EG" b="1" dirty="0"/>
          </a:p>
        </p:txBody>
      </p:sp>
    </p:spTree>
    <p:extLst>
      <p:ext uri="{BB962C8B-B14F-4D97-AF65-F5344CB8AC3E}">
        <p14:creationId xmlns:p14="http://schemas.microsoft.com/office/powerpoint/2010/main" val="2767960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DFC0D0-1445-D7C3-0644-384689146D8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FE078F-4D2C-E2AC-92DC-EED556251744}"/>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A141C716-8321-7B79-93A8-C1F19A94CCD7}"/>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AC71AA56-4729-5340-2B4E-2FE9EA7250D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dirty="0"/>
          </a:p>
        </p:txBody>
      </p:sp>
      <p:pic>
        <p:nvPicPr>
          <p:cNvPr id="110" name="Google Shape;110;p1" title="download.png">
            <a:extLst>
              <a:ext uri="{FF2B5EF4-FFF2-40B4-BE49-F238E27FC236}">
                <a16:creationId xmlns:a16="http://schemas.microsoft.com/office/drawing/2014/main" id="{9DDE9CD2-8B8D-245A-F42C-FCCF58022A56}"/>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C2B23BD9-052D-DD14-7F67-E7B12309A182}"/>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92A2040F-123F-A965-B967-6CEB9804599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46632038-5FF8-3023-8052-AE7070976825}"/>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3C340273-E38A-3385-0456-A90278FA0FF6}"/>
              </a:ext>
            </a:extLst>
          </p:cNvPr>
          <p:cNvSpPr>
            <a:spLocks noChangeArrowheads="1"/>
          </p:cNvSpPr>
          <p:nvPr/>
        </p:nvSpPr>
        <p:spPr bwMode="auto">
          <a:xfrm>
            <a:off x="420914" y="2165189"/>
            <a:ext cx="7861824"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1.Linear Regression:</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Target:</a:t>
            </a:r>
            <a:r>
              <a:rPr lang="en-US" altLang="en-US" sz="2000" dirty="0">
                <a:solidFill>
                  <a:schemeClr val="tx1">
                    <a:lumMod val="65000"/>
                    <a:lumOff val="35000"/>
                  </a:schemeClr>
                </a:solidFill>
                <a:latin typeface="Aptos ExtraBold" panose="020B0004020202020204" pitchFamily="34" charset="0"/>
              </a:rPr>
              <a:t> Weekly Sales Data </a:t>
            </a: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Processing:</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Train-Test split: 80% – 20%</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Standardized features</a:t>
            </a:r>
          </a:p>
          <a:p>
            <a:pPr lvl="2" eaLnBrk="0" fontAlgn="base" hangingPunct="0">
              <a:spcBef>
                <a:spcPct val="0"/>
              </a:spcBef>
              <a:spcAft>
                <a:spcPct val="0"/>
              </a:spcAft>
              <a:buClrTx/>
            </a:pPr>
            <a:endParaRPr lang="en-US" altLang="en-US" sz="2000" dirty="0">
              <a:solidFill>
                <a:schemeClr val="tx1">
                  <a:lumMod val="65000"/>
                  <a:lumOff val="35000"/>
                </a:schemeClr>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Model explains ~42.7% of the variance in test data.</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Good start but shows underfitting – fails to capture complex, non-linear trends.</a:t>
            </a:r>
          </a:p>
        </p:txBody>
      </p:sp>
      <p:graphicFrame>
        <p:nvGraphicFramePr>
          <p:cNvPr id="6" name="Table 5">
            <a:extLst>
              <a:ext uri="{FF2B5EF4-FFF2-40B4-BE49-F238E27FC236}">
                <a16:creationId xmlns:a16="http://schemas.microsoft.com/office/drawing/2014/main" id="{4652DC83-2A6F-889E-75DC-58CD2F61746F}"/>
              </a:ext>
            </a:extLst>
          </p:cNvPr>
          <p:cNvGraphicFramePr>
            <a:graphicFrameLocks noGrp="1"/>
          </p:cNvGraphicFramePr>
          <p:nvPr>
            <p:extLst>
              <p:ext uri="{D42A27DB-BD31-4B8C-83A1-F6EECF244321}">
                <p14:modId xmlns:p14="http://schemas.microsoft.com/office/powerpoint/2010/main" val="2623966024"/>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1.00</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179.2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32,111.44</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129.65</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D3FB09B7-5892-7049-6595-68D92C843205}"/>
              </a:ext>
            </a:extLst>
          </p:cNvPr>
          <p:cNvGraphicFramePr>
            <a:graphicFrameLocks noGrp="1"/>
          </p:cNvGraphicFramePr>
          <p:nvPr>
            <p:extLst>
              <p:ext uri="{D42A27DB-BD31-4B8C-83A1-F6EECF244321}">
                <p14:modId xmlns:p14="http://schemas.microsoft.com/office/powerpoint/2010/main" val="1822950500"/>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0.0478</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0.427</a:t>
                      </a:r>
                      <a:endParaRPr lang="en-US" b="1" dirty="0"/>
                    </a:p>
                  </a:txBody>
                  <a:tcPr anchor="ctr"/>
                </a:tc>
                <a:extLst>
                  <a:ext uri="{0D108BD9-81ED-4DB2-BD59-A6C34878D82A}">
                    <a16:rowId xmlns:a16="http://schemas.microsoft.com/office/drawing/2014/main" val="2137564356"/>
                  </a:ext>
                </a:extLst>
              </a:tr>
            </a:tbl>
          </a:graphicData>
        </a:graphic>
      </p:graphicFrame>
      <p:sp>
        <p:nvSpPr>
          <p:cNvPr id="11" name="Google Shape;105;p1">
            <a:extLst>
              <a:ext uri="{FF2B5EF4-FFF2-40B4-BE49-F238E27FC236}">
                <a16:creationId xmlns:a16="http://schemas.microsoft.com/office/drawing/2014/main" id="{FCE4D479-57F8-265B-8110-CC5F37281A9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20</a:t>
            </a:r>
            <a:endParaRPr lang="ar-EG" b="1" dirty="0"/>
          </a:p>
        </p:txBody>
      </p:sp>
    </p:spTree>
    <p:extLst>
      <p:ext uri="{BB962C8B-B14F-4D97-AF65-F5344CB8AC3E}">
        <p14:creationId xmlns:p14="http://schemas.microsoft.com/office/powerpoint/2010/main" val="3220118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F5F0F25-5729-CA07-00E7-92011C51CFE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8A23BE-2B11-FF10-5AAE-ABCF669B80A7}"/>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0F397DF7-7102-C958-1FE3-5EF3BF1CAA2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6B2A498-C19D-7F6B-735A-A30CC9D6D6B2}"/>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dirty="0"/>
          </a:p>
        </p:txBody>
      </p:sp>
      <p:pic>
        <p:nvPicPr>
          <p:cNvPr id="110" name="Google Shape;110;p1" title="download.png">
            <a:extLst>
              <a:ext uri="{FF2B5EF4-FFF2-40B4-BE49-F238E27FC236}">
                <a16:creationId xmlns:a16="http://schemas.microsoft.com/office/drawing/2014/main" id="{8A69F4C0-26C8-B863-FB03-44B4CEC00D1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87B002F6-158A-DE17-8928-EF98179C4020}"/>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07BDB0C-6F42-55AF-BED4-F9535D64478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F0011D61-BD10-444E-3CB8-B700F4D004EE}"/>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186703E5-0A8B-2BBB-71F9-86FE22905190}"/>
              </a:ext>
            </a:extLst>
          </p:cNvPr>
          <p:cNvSpPr>
            <a:spLocks noChangeArrowheads="1"/>
          </p:cNvSpPr>
          <p:nvPr/>
        </p:nvSpPr>
        <p:spPr bwMode="auto">
          <a:xfrm>
            <a:off x="420914" y="2319076"/>
            <a:ext cx="78618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2. Decision Tree Regressor:</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Target:</a:t>
            </a:r>
            <a:r>
              <a:rPr lang="en-US" altLang="en-US" sz="2000" dirty="0">
                <a:solidFill>
                  <a:schemeClr val="tx1">
                    <a:lumMod val="65000"/>
                    <a:lumOff val="35000"/>
                  </a:schemeClr>
                </a:solidFill>
                <a:latin typeface="Aptos ExtraBold" panose="020B0004020202020204" pitchFamily="34" charset="0"/>
              </a:rPr>
              <a:t> Weekly Sales Data </a:t>
            </a: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Processing:</a:t>
            </a:r>
          </a:p>
          <a:p>
            <a:pPr lvl="2" eaLnBrk="0" fontAlgn="base" hangingPunct="0">
              <a:spcBef>
                <a:spcPct val="0"/>
              </a:spcBef>
              <a:spcAft>
                <a:spcPct val="0"/>
              </a:spcAft>
              <a:buClrTx/>
            </a:pPr>
            <a:r>
              <a:rPr lang="en-US" altLang="en-US" sz="2000" dirty="0">
                <a:solidFill>
                  <a:schemeClr val="tx1">
                    <a:lumMod val="65000"/>
                    <a:lumOff val="35000"/>
                  </a:schemeClr>
                </a:solidFill>
                <a:latin typeface="Aptos ExtraBold" panose="020B0004020202020204" pitchFamily="34" charset="0"/>
              </a:rPr>
              <a:t>	- Random state set to ensure reproducibility.</a:t>
            </a:r>
          </a:p>
          <a:p>
            <a:pPr lvl="2" eaLnBrk="0" fontAlgn="base" hangingPunct="0">
              <a:spcBef>
                <a:spcPct val="0"/>
              </a:spcBef>
              <a:spcAft>
                <a:spcPct val="0"/>
              </a:spcAft>
              <a:buClrTx/>
            </a:pPr>
            <a:endParaRPr lang="en-US" altLang="en-US" sz="2000" dirty="0">
              <a:solidFill>
                <a:schemeClr val="tx1">
                  <a:lumMod val="65000"/>
                  <a:lumOff val="35000"/>
                </a:schemeClr>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Better performance than Linear Regression.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Captures more complex relationships.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High train R² indicates possible overfitting.</a:t>
            </a:r>
          </a:p>
        </p:txBody>
      </p:sp>
      <p:graphicFrame>
        <p:nvGraphicFramePr>
          <p:cNvPr id="6" name="Table 5">
            <a:extLst>
              <a:ext uri="{FF2B5EF4-FFF2-40B4-BE49-F238E27FC236}">
                <a16:creationId xmlns:a16="http://schemas.microsoft.com/office/drawing/2014/main" id="{FFFB6148-48F9-E152-A505-050B0EAAD84B}"/>
              </a:ext>
            </a:extLst>
          </p:cNvPr>
          <p:cNvGraphicFramePr>
            <a:graphicFrameLocks noGrp="1"/>
          </p:cNvGraphicFramePr>
          <p:nvPr>
            <p:extLst>
              <p:ext uri="{D42A27DB-BD31-4B8C-83A1-F6EECF244321}">
                <p14:modId xmlns:p14="http://schemas.microsoft.com/office/powerpoint/2010/main" val="536028493"/>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0.62</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165.25</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27,307.89</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101.26</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E3E2AAAE-974C-D1B4-823C-56878118FEF2}"/>
              </a:ext>
            </a:extLst>
          </p:cNvPr>
          <p:cNvGraphicFramePr>
            <a:graphicFrameLocks noGrp="1"/>
          </p:cNvGraphicFramePr>
          <p:nvPr>
            <p:extLst>
              <p:ext uri="{D42A27DB-BD31-4B8C-83A1-F6EECF244321}">
                <p14:modId xmlns:p14="http://schemas.microsoft.com/office/powerpoint/2010/main" val="2277679307"/>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b="1" dirty="0"/>
                        <a:t>1.000</a:t>
                      </a:r>
                      <a:r>
                        <a:rPr lang="en-US" dirty="0"/>
                        <a:t> </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0.513</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850E0514-7DEA-0F79-B1A2-0F3F422B6C9D}"/>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21</a:t>
            </a:r>
            <a:endParaRPr lang="ar-EG" b="1" dirty="0"/>
          </a:p>
        </p:txBody>
      </p:sp>
    </p:spTree>
    <p:extLst>
      <p:ext uri="{BB962C8B-B14F-4D97-AF65-F5344CB8AC3E}">
        <p14:creationId xmlns:p14="http://schemas.microsoft.com/office/powerpoint/2010/main" val="2148706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4C5926-943B-39FA-3DC1-7F29722370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7C804E-166B-85F4-26A4-5D06F8E703DA}"/>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5F00B92-3DCA-1F31-B295-7324C9E5D058}"/>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CA06A1C9-86EB-E77B-5BE8-FF097171B6B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dirty="0"/>
          </a:p>
        </p:txBody>
      </p:sp>
      <p:pic>
        <p:nvPicPr>
          <p:cNvPr id="110" name="Google Shape;110;p1" title="download.png">
            <a:extLst>
              <a:ext uri="{FF2B5EF4-FFF2-40B4-BE49-F238E27FC236}">
                <a16:creationId xmlns:a16="http://schemas.microsoft.com/office/drawing/2014/main" id="{588135D0-0B12-0947-334B-6652AC1DD5B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1AFE9FB2-63DA-C950-06FD-E82D984BF152}"/>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8F5B0471-DD35-DB9E-FF10-9E46D6E57395}"/>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8DBAF73F-C6CB-B82B-29CF-0333F670EA2C}"/>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483E5105-308C-9E3C-009F-38D8CAB3718C}"/>
              </a:ext>
            </a:extLst>
          </p:cNvPr>
          <p:cNvSpPr>
            <a:spLocks noChangeArrowheads="1"/>
          </p:cNvSpPr>
          <p:nvPr/>
        </p:nvSpPr>
        <p:spPr bwMode="auto">
          <a:xfrm>
            <a:off x="420914" y="1988424"/>
            <a:ext cx="7861824"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3. Random Forest:</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Hyperparameters: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n_estimators</a:t>
            </a:r>
            <a:r>
              <a:rPr lang="en-US" altLang="en-US" sz="2000" dirty="0">
                <a:solidFill>
                  <a:schemeClr val="tx1">
                    <a:lumMod val="65000"/>
                    <a:lumOff val="35000"/>
                  </a:schemeClr>
                </a:solidFill>
                <a:latin typeface="Aptos ExtraBold" panose="020B0004020202020204" pitchFamily="34" charset="0"/>
              </a:rPr>
              <a:t> = 100</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min_samples_leaf</a:t>
            </a:r>
            <a:r>
              <a:rPr lang="en-US" altLang="en-US" sz="2000" dirty="0">
                <a:solidFill>
                  <a:schemeClr val="tx1">
                    <a:lumMod val="65000"/>
                    <a:lumOff val="35000"/>
                  </a:schemeClr>
                </a:solidFill>
                <a:latin typeface="Aptos ExtraBold" panose="020B0004020202020204" pitchFamily="34" charset="0"/>
              </a:rPr>
              <a:t> = 5</a:t>
            </a:r>
            <a:br>
              <a:rPr lang="en-US" altLang="en-US" sz="2000" dirty="0">
                <a:solidFill>
                  <a:schemeClr val="tx1">
                    <a:lumMod val="65000"/>
                    <a:lumOff val="35000"/>
                  </a:schemeClr>
                </a:solidFill>
                <a:latin typeface="Aptos ExtraBold" panose="020B0004020202020204" pitchFamily="34" charset="0"/>
              </a:rPr>
            </a:b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max_depth</a:t>
            </a:r>
            <a:r>
              <a:rPr lang="en-US" altLang="en-US" sz="2000" dirty="0">
                <a:solidFill>
                  <a:schemeClr val="tx1">
                    <a:lumMod val="65000"/>
                    <a:lumOff val="35000"/>
                  </a:schemeClr>
                </a:solidFill>
                <a:latin typeface="Aptos ExtraBold" panose="020B0004020202020204" pitchFamily="34" charset="0"/>
              </a:rPr>
              <a:t> = None</a:t>
            </a:r>
          </a:p>
          <a:p>
            <a:pPr lvl="2" eaLnBrk="0" fontAlgn="base" hangingPunct="0">
              <a:spcBef>
                <a:spcPct val="0"/>
              </a:spcBef>
              <a:spcAft>
                <a:spcPct val="0"/>
              </a:spcAft>
              <a:buClrTx/>
            </a:pP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Strong generalization (less overfitting than Decision Tree).</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RMSE is only ~52.7% of average weekly sales (241.83).</a:t>
            </a:r>
          </a:p>
        </p:txBody>
      </p:sp>
      <p:graphicFrame>
        <p:nvGraphicFramePr>
          <p:cNvPr id="6" name="Table 5">
            <a:extLst>
              <a:ext uri="{FF2B5EF4-FFF2-40B4-BE49-F238E27FC236}">
                <a16:creationId xmlns:a16="http://schemas.microsoft.com/office/drawing/2014/main" id="{314247A8-7DB1-5D77-1E35-8D6EF945375F}"/>
              </a:ext>
            </a:extLst>
          </p:cNvPr>
          <p:cNvGraphicFramePr>
            <a:graphicFrameLocks noGrp="1"/>
          </p:cNvGraphicFramePr>
          <p:nvPr>
            <p:extLst>
              <p:ext uri="{D42A27DB-BD31-4B8C-83A1-F6EECF244321}">
                <p14:modId xmlns:p14="http://schemas.microsoft.com/office/powerpoint/2010/main" val="3936645405"/>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0.54</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127.42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16,235.72</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79.87</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2A6BF361-F4A4-E5DD-BF1A-6FC49D77B2B6}"/>
              </a:ext>
            </a:extLst>
          </p:cNvPr>
          <p:cNvGraphicFramePr>
            <a:graphicFrameLocks noGrp="1"/>
          </p:cNvGraphicFramePr>
          <p:nvPr>
            <p:extLst>
              <p:ext uri="{D42A27DB-BD31-4B8C-83A1-F6EECF244321}">
                <p14:modId xmlns:p14="http://schemas.microsoft.com/office/powerpoint/2010/main" val="3339729125"/>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0.88 </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0.71</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AC9AA22E-B69F-C3D2-539B-B72F27AB6740}"/>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22</a:t>
            </a:r>
            <a:endParaRPr lang="ar-EG" b="1" dirty="0"/>
          </a:p>
        </p:txBody>
      </p:sp>
    </p:spTree>
    <p:extLst>
      <p:ext uri="{BB962C8B-B14F-4D97-AF65-F5344CB8AC3E}">
        <p14:creationId xmlns:p14="http://schemas.microsoft.com/office/powerpoint/2010/main" val="893021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FF5BD1B-6AA9-139C-6421-A3CD159ED6C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E7A9FC-83FF-0116-8D6F-9A2DAF526BC2}"/>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C10E072C-F25C-7074-BFF1-D928A186C03C}"/>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FF6D09F-698B-A517-A42C-1FA51A984616}"/>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dirty="0"/>
          </a:p>
        </p:txBody>
      </p:sp>
      <p:pic>
        <p:nvPicPr>
          <p:cNvPr id="110" name="Google Shape;110;p1" title="download.png">
            <a:extLst>
              <a:ext uri="{FF2B5EF4-FFF2-40B4-BE49-F238E27FC236}">
                <a16:creationId xmlns:a16="http://schemas.microsoft.com/office/drawing/2014/main" id="{50E652AC-9220-0103-5CEB-C87D2F3E4F89}"/>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E8E859D9-5E16-DBDE-E52D-8B68441D668F}"/>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79F9088-7D61-98FA-9DD1-7692135AF45C}"/>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0F1CE359-E8FA-D97F-0411-8EB75CC9212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4875FB1B-5CE6-2DB8-3CBA-4F11EEE35E7E}"/>
              </a:ext>
            </a:extLst>
          </p:cNvPr>
          <p:cNvSpPr>
            <a:spLocks noChangeArrowheads="1"/>
          </p:cNvSpPr>
          <p:nvPr/>
        </p:nvSpPr>
        <p:spPr bwMode="auto">
          <a:xfrm>
            <a:off x="420914" y="1834536"/>
            <a:ext cx="7861824"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4. </a:t>
            </a:r>
            <a:r>
              <a:rPr lang="en-US" altLang="en-US" sz="2400" b="1" dirty="0" err="1">
                <a:solidFill>
                  <a:srgbClr val="1869A6"/>
                </a:solidFill>
                <a:latin typeface="Aptos ExtraBold" panose="020B0004020202020204" pitchFamily="34" charset="0"/>
              </a:rPr>
              <a:t>XGBoost</a:t>
            </a:r>
            <a:r>
              <a:rPr lang="en-US" altLang="en-US" sz="2400" b="1" dirty="0">
                <a:solidFill>
                  <a:srgbClr val="1869A6"/>
                </a:solidFill>
                <a:latin typeface="Aptos ExtraBold" panose="020B0004020202020204" pitchFamily="34" charset="0"/>
              </a:rPr>
              <a:t>:</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ptos ExtraBold" panose="020B0004020202020204" pitchFamily="34" charset="0"/>
              </a:rPr>
              <a:t>Hyperparameters: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n_estimators</a:t>
            </a:r>
            <a:r>
              <a:rPr lang="en-US" altLang="en-US" sz="2000" dirty="0">
                <a:solidFill>
                  <a:schemeClr val="tx1">
                    <a:lumMod val="65000"/>
                    <a:lumOff val="35000"/>
                  </a:schemeClr>
                </a:solidFill>
                <a:latin typeface="Aptos ExtraBold" panose="020B0004020202020204" pitchFamily="34" charset="0"/>
              </a:rPr>
              <a:t> = 100</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learning_rate</a:t>
            </a:r>
            <a:r>
              <a:rPr lang="en-US" altLang="en-US" sz="2000" dirty="0">
                <a:solidFill>
                  <a:schemeClr val="tx1">
                    <a:lumMod val="65000"/>
                    <a:lumOff val="35000"/>
                  </a:schemeClr>
                </a:solidFill>
                <a:latin typeface="Aptos ExtraBold" panose="020B0004020202020204" pitchFamily="34" charset="0"/>
              </a:rPr>
              <a:t> = 0.1</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 </a:t>
            </a:r>
            <a:r>
              <a:rPr lang="en-US" altLang="en-US" sz="2000" dirty="0" err="1">
                <a:solidFill>
                  <a:schemeClr val="tx1">
                    <a:lumMod val="65000"/>
                    <a:lumOff val="35000"/>
                  </a:schemeClr>
                </a:solidFill>
                <a:latin typeface="Aptos ExtraBold" panose="020B0004020202020204" pitchFamily="34" charset="0"/>
              </a:rPr>
              <a:t>max_depth</a:t>
            </a:r>
            <a:r>
              <a:rPr lang="en-US" altLang="en-US" sz="2000" dirty="0">
                <a:solidFill>
                  <a:schemeClr val="tx1">
                    <a:lumMod val="65000"/>
                    <a:lumOff val="35000"/>
                  </a:schemeClr>
                </a:solidFill>
                <a:latin typeface="Aptos ExtraBold" panose="020B0004020202020204" pitchFamily="34" charset="0"/>
              </a:rPr>
              <a:t> = 6</a:t>
            </a:r>
          </a:p>
          <a:p>
            <a:pPr lvl="2" eaLnBrk="0" fontAlgn="base" hangingPunct="0">
              <a:spcBef>
                <a:spcPct val="0"/>
              </a:spcBef>
              <a:spcAft>
                <a:spcPct val="0"/>
              </a:spcAft>
              <a:buClrTx/>
            </a:pP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Excellent training fit and strong generalization.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RMSE is ~53.3% of average weekly sales.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Fast training with great accuracy</a:t>
            </a:r>
          </a:p>
        </p:txBody>
      </p:sp>
      <p:graphicFrame>
        <p:nvGraphicFramePr>
          <p:cNvPr id="6" name="Table 5">
            <a:extLst>
              <a:ext uri="{FF2B5EF4-FFF2-40B4-BE49-F238E27FC236}">
                <a16:creationId xmlns:a16="http://schemas.microsoft.com/office/drawing/2014/main" id="{E1F12A21-D1A0-87B8-0579-D3DFBABF1A7B}"/>
              </a:ext>
            </a:extLst>
          </p:cNvPr>
          <p:cNvGraphicFramePr>
            <a:graphicFrameLocks noGrp="1"/>
          </p:cNvGraphicFramePr>
          <p:nvPr>
            <p:extLst>
              <p:ext uri="{D42A27DB-BD31-4B8C-83A1-F6EECF244321}">
                <p14:modId xmlns:p14="http://schemas.microsoft.com/office/powerpoint/2010/main" val="2844000897"/>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0.55</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128.84</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16,599.59</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80.31</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5EEDC0E3-497B-767F-2CB9-0737C5FD4287}"/>
              </a:ext>
            </a:extLst>
          </p:cNvPr>
          <p:cNvGraphicFramePr>
            <a:graphicFrameLocks noGrp="1"/>
          </p:cNvGraphicFramePr>
          <p:nvPr>
            <p:extLst>
              <p:ext uri="{D42A27DB-BD31-4B8C-83A1-F6EECF244321}">
                <p14:modId xmlns:p14="http://schemas.microsoft.com/office/powerpoint/2010/main" val="3731033426"/>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0.97</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0.70</a:t>
                      </a:r>
                      <a:endParaRPr lang="en-US" b="1" dirty="0"/>
                    </a:p>
                  </a:txBody>
                  <a:tcPr anchor="ctr"/>
                </a:tc>
                <a:extLst>
                  <a:ext uri="{0D108BD9-81ED-4DB2-BD59-A6C34878D82A}">
                    <a16:rowId xmlns:a16="http://schemas.microsoft.com/office/drawing/2014/main" val="2137564356"/>
                  </a:ext>
                </a:extLst>
              </a:tr>
            </a:tbl>
          </a:graphicData>
        </a:graphic>
      </p:graphicFrame>
      <p:sp>
        <p:nvSpPr>
          <p:cNvPr id="3" name="Google Shape;105;p1">
            <a:extLst>
              <a:ext uri="{FF2B5EF4-FFF2-40B4-BE49-F238E27FC236}">
                <a16:creationId xmlns:a16="http://schemas.microsoft.com/office/drawing/2014/main" id="{024D236D-D78E-DC77-C511-B2ABF214837A}"/>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23</a:t>
            </a:r>
            <a:endParaRPr lang="ar-EG" b="1" dirty="0"/>
          </a:p>
        </p:txBody>
      </p:sp>
    </p:spTree>
    <p:extLst>
      <p:ext uri="{BB962C8B-B14F-4D97-AF65-F5344CB8AC3E}">
        <p14:creationId xmlns:p14="http://schemas.microsoft.com/office/powerpoint/2010/main" val="3046593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DEA40E5-C0E9-1610-2389-9FDAA0F913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2CA6B5A-F550-CCA5-E24E-30BB6E8EF453}"/>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B6741670-0FEB-82AF-09C6-969B484FDBC9}"/>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0672FFF3-D1FE-3874-C461-C20351A75667}"/>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dirty="0"/>
          </a:p>
        </p:txBody>
      </p:sp>
      <p:pic>
        <p:nvPicPr>
          <p:cNvPr id="110" name="Google Shape;110;p1" title="download.png">
            <a:extLst>
              <a:ext uri="{FF2B5EF4-FFF2-40B4-BE49-F238E27FC236}">
                <a16:creationId xmlns:a16="http://schemas.microsoft.com/office/drawing/2014/main" id="{B54CCA1D-D889-D86E-BB45-49920755802C}"/>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5B5E1F57-23CB-111F-9CBB-4F83B062CCAE}"/>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0336FD0-980F-A7AA-B45E-48DBAB9D9AC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A23F336A-5591-6B04-3F8A-7F541B56D586}"/>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Development”</a:t>
            </a:r>
          </a:p>
        </p:txBody>
      </p:sp>
      <p:sp>
        <p:nvSpPr>
          <p:cNvPr id="7" name="Rectangle 1">
            <a:extLst>
              <a:ext uri="{FF2B5EF4-FFF2-40B4-BE49-F238E27FC236}">
                <a16:creationId xmlns:a16="http://schemas.microsoft.com/office/drawing/2014/main" id="{25EB68D8-1458-FCE4-0952-C94B568F5979}"/>
              </a:ext>
            </a:extLst>
          </p:cNvPr>
          <p:cNvSpPr>
            <a:spLocks noChangeArrowheads="1"/>
          </p:cNvSpPr>
          <p:nvPr/>
        </p:nvSpPr>
        <p:spPr bwMode="auto">
          <a:xfrm>
            <a:off x="420914" y="1865315"/>
            <a:ext cx="7861824"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5. </a:t>
            </a:r>
            <a:r>
              <a:rPr lang="en-US" altLang="en-US" sz="2400" b="1" dirty="0" err="1">
                <a:solidFill>
                  <a:srgbClr val="1869A6"/>
                </a:solidFill>
                <a:latin typeface="Aptos ExtraBold" panose="020B0004020202020204" pitchFamily="34" charset="0"/>
              </a:rPr>
              <a:t>XGBoost</a:t>
            </a:r>
            <a:r>
              <a:rPr lang="en-US" altLang="en-US" sz="2400" b="1" dirty="0">
                <a:solidFill>
                  <a:srgbClr val="1869A6"/>
                </a:solidFill>
                <a:latin typeface="Aptos ExtraBold" panose="020B0004020202020204" pitchFamily="34" charset="0"/>
              </a:rPr>
              <a:t> </a:t>
            </a:r>
            <a:r>
              <a:rPr lang="en-US" sz="2400" b="1" dirty="0">
                <a:solidFill>
                  <a:srgbClr val="1869A6"/>
                </a:solidFill>
                <a:latin typeface="Aptos ExtraBold" panose="020B0004020202020204" pitchFamily="34" charset="0"/>
              </a:rPr>
              <a:t>with Log-Transformed Target</a:t>
            </a:r>
            <a:r>
              <a:rPr lang="en-US" altLang="en-US" sz="2400" b="1" dirty="0">
                <a:solidFill>
                  <a:srgbClr val="1869A6"/>
                </a:solidFill>
                <a:latin typeface="Aptos ExtraBold" panose="020B0004020202020204" pitchFamily="34" charset="0"/>
              </a:rPr>
              <a:t> :</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solidFill>
                <a:latin typeface="Aptos ExtraBold" panose="020B0004020202020204" pitchFamily="34" charset="0"/>
              </a:rPr>
              <a:t>Why Log Transformation?</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a:t>
            </a:r>
            <a:r>
              <a:rPr lang="en-US" altLang="en-US" sz="2000" dirty="0">
                <a:solidFill>
                  <a:schemeClr val="tx1"/>
                </a:solidFill>
                <a:latin typeface="Aptos ExtraBold" panose="020B0004020202020204" pitchFamily="34" charset="0"/>
              </a:rPr>
              <a:t> </a:t>
            </a:r>
            <a:r>
              <a:rPr lang="en-US" sz="2000" dirty="0">
                <a:solidFill>
                  <a:schemeClr val="tx1">
                    <a:lumMod val="65000"/>
                    <a:lumOff val="35000"/>
                  </a:schemeClr>
                </a:solidFill>
                <a:latin typeface="Aptos ExtraBold" panose="020B0004020202020204" pitchFamily="34" charset="0"/>
              </a:rPr>
              <a:t>Sales data is skewed with extreme high values.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Log transformation (log1p) stabilizes variance and reduces impact of outliers.</a:t>
            </a:r>
          </a:p>
          <a:p>
            <a:pPr marR="0" lvl="0" algn="l"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	</a:t>
            </a:r>
            <a:endParaRPr lang="en-US" sz="2400" b="1" dirty="0">
              <a:solidFill>
                <a:srgbClr val="0FAB7D"/>
              </a:solidFill>
              <a:latin typeface="Aptos ExtraBold" panose="020B0004020202020204" pitchFamily="34" charset="0"/>
            </a:endParaRPr>
          </a:p>
          <a:p>
            <a:pPr lvl="2" eaLnBrk="0" fontAlgn="base" hangingPunct="0">
              <a:spcBef>
                <a:spcPct val="0"/>
              </a:spcBef>
              <a:spcAft>
                <a:spcPct val="0"/>
              </a:spcAft>
              <a:buClrTx/>
            </a:pPr>
            <a:r>
              <a:rPr lang="en-US" sz="2400" b="1" dirty="0">
                <a:solidFill>
                  <a:srgbClr val="0FAB7D"/>
                </a:solidFill>
                <a:latin typeface="Aptos ExtraBold" panose="020B0004020202020204" pitchFamily="34" charset="0"/>
              </a:rPr>
              <a:t>Interpretation:</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Highest test R² across all models.</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RMSLE is the lowest overall.</a:t>
            </a:r>
          </a:p>
          <a:p>
            <a:pPr marL="342900" lvl="2" indent="-342900" eaLnBrk="0" fontAlgn="base" hangingPunct="0">
              <a:spcBef>
                <a:spcPct val="0"/>
              </a:spcBef>
              <a:spcAft>
                <a:spcPct val="0"/>
              </a:spcAft>
              <a:buClrTx/>
              <a:buFont typeface="Courier New" panose="02070309020205020404" pitchFamily="49" charset="0"/>
              <a:buChar char="o"/>
            </a:pPr>
            <a:r>
              <a:rPr lang="en-US" altLang="en-US" sz="2000" dirty="0">
                <a:solidFill>
                  <a:schemeClr val="tx1">
                    <a:lumMod val="65000"/>
                    <a:lumOff val="35000"/>
                  </a:schemeClr>
                </a:solidFill>
                <a:latin typeface="Aptos ExtraBold" panose="020B0004020202020204" pitchFamily="34" charset="0"/>
              </a:rPr>
              <a:t>Indicates improved generalization and smoother predictions.</a:t>
            </a:r>
          </a:p>
        </p:txBody>
      </p:sp>
      <p:graphicFrame>
        <p:nvGraphicFramePr>
          <p:cNvPr id="6" name="Table 5">
            <a:extLst>
              <a:ext uri="{FF2B5EF4-FFF2-40B4-BE49-F238E27FC236}">
                <a16:creationId xmlns:a16="http://schemas.microsoft.com/office/drawing/2014/main" id="{59FBEF10-4B8E-5005-155F-BCDD30C48318}"/>
              </a:ext>
            </a:extLst>
          </p:cNvPr>
          <p:cNvGraphicFramePr>
            <a:graphicFrameLocks noGrp="1"/>
          </p:cNvGraphicFramePr>
          <p:nvPr>
            <p:extLst>
              <p:ext uri="{D42A27DB-BD31-4B8C-83A1-F6EECF244321}">
                <p14:modId xmlns:p14="http://schemas.microsoft.com/office/powerpoint/2010/main" val="3215435890"/>
              </p:ext>
            </p:extLst>
          </p:nvPr>
        </p:nvGraphicFramePr>
        <p:xfrm>
          <a:off x="8422104" y="1876527"/>
          <a:ext cx="3348982" cy="2475065"/>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95013">
                <a:tc gridSpan="2">
                  <a:txBody>
                    <a:bodyPr/>
                    <a:lstStyle/>
                    <a:p>
                      <a:pPr algn="ctr"/>
                      <a:r>
                        <a:rPr lang="en-US" sz="2500" dirty="0"/>
                        <a:t>Performance Metrics</a:t>
                      </a:r>
                    </a:p>
                  </a:txBody>
                  <a:tcPr anchor="ctr"/>
                </a:tc>
                <a:tc hMerge="1">
                  <a:txBody>
                    <a:bodyPr/>
                    <a:lstStyle/>
                    <a:p>
                      <a:endParaRPr lang="en-US" dirty="0"/>
                    </a:p>
                  </a:txBody>
                  <a:tcPr/>
                </a:tc>
                <a:extLst>
                  <a:ext uri="{0D108BD9-81ED-4DB2-BD59-A6C34878D82A}">
                    <a16:rowId xmlns:a16="http://schemas.microsoft.com/office/drawing/2014/main" val="2919094624"/>
                  </a:ext>
                </a:extLst>
              </a:tr>
              <a:tr h="495013">
                <a:tc>
                  <a:txBody>
                    <a:bodyPr/>
                    <a:lstStyle/>
                    <a:p>
                      <a:pPr algn="ctr"/>
                      <a:r>
                        <a:rPr lang="en-US" b="1" dirty="0"/>
                        <a:t>RMSLE</a:t>
                      </a:r>
                    </a:p>
                  </a:txBody>
                  <a:tcPr anchor="ctr"/>
                </a:tc>
                <a:tc>
                  <a:txBody>
                    <a:bodyPr/>
                    <a:lstStyle/>
                    <a:p>
                      <a:pPr algn="ctr"/>
                      <a:r>
                        <a:rPr lang="en-US" dirty="0"/>
                        <a:t>0.48</a:t>
                      </a:r>
                      <a:endParaRPr lang="en-US" b="1" dirty="0"/>
                    </a:p>
                  </a:txBody>
                  <a:tcPr anchor="ctr"/>
                </a:tc>
                <a:extLst>
                  <a:ext uri="{0D108BD9-81ED-4DB2-BD59-A6C34878D82A}">
                    <a16:rowId xmlns:a16="http://schemas.microsoft.com/office/drawing/2014/main" val="23947187"/>
                  </a:ext>
                </a:extLst>
              </a:tr>
              <a:tr h="495013">
                <a:tc>
                  <a:txBody>
                    <a:bodyPr/>
                    <a:lstStyle/>
                    <a:p>
                      <a:pPr algn="ctr"/>
                      <a:r>
                        <a:rPr lang="en-US" b="1" dirty="0"/>
                        <a:t>RMSE</a:t>
                      </a:r>
                    </a:p>
                  </a:txBody>
                  <a:tcPr anchor="ctr"/>
                </a:tc>
                <a:tc>
                  <a:txBody>
                    <a:bodyPr/>
                    <a:lstStyle/>
                    <a:p>
                      <a:pPr algn="ctr"/>
                      <a:r>
                        <a:rPr lang="en-US" dirty="0"/>
                        <a:t>132.2</a:t>
                      </a:r>
                      <a:endParaRPr lang="en-US" b="1" dirty="0"/>
                    </a:p>
                  </a:txBody>
                  <a:tcPr anchor="ctr"/>
                </a:tc>
                <a:extLst>
                  <a:ext uri="{0D108BD9-81ED-4DB2-BD59-A6C34878D82A}">
                    <a16:rowId xmlns:a16="http://schemas.microsoft.com/office/drawing/2014/main" val="2137564356"/>
                  </a:ext>
                </a:extLst>
              </a:tr>
              <a:tr h="495013">
                <a:tc>
                  <a:txBody>
                    <a:bodyPr/>
                    <a:lstStyle/>
                    <a:p>
                      <a:pPr algn="ctr"/>
                      <a:r>
                        <a:rPr lang="en-US" b="1" dirty="0"/>
                        <a:t>MSE</a:t>
                      </a:r>
                    </a:p>
                  </a:txBody>
                  <a:tcPr anchor="ctr"/>
                </a:tc>
                <a:tc>
                  <a:txBody>
                    <a:bodyPr/>
                    <a:lstStyle/>
                    <a:p>
                      <a:pPr algn="ctr"/>
                      <a:r>
                        <a:rPr lang="en-US" dirty="0"/>
                        <a:t>17,477.38</a:t>
                      </a:r>
                      <a:endParaRPr lang="en-US" b="1" dirty="0"/>
                    </a:p>
                  </a:txBody>
                  <a:tcPr anchor="ctr"/>
                </a:tc>
                <a:extLst>
                  <a:ext uri="{0D108BD9-81ED-4DB2-BD59-A6C34878D82A}">
                    <a16:rowId xmlns:a16="http://schemas.microsoft.com/office/drawing/2014/main" val="1878555358"/>
                  </a:ext>
                </a:extLst>
              </a:tr>
              <a:tr h="495013">
                <a:tc>
                  <a:txBody>
                    <a:bodyPr/>
                    <a:lstStyle/>
                    <a:p>
                      <a:pPr algn="ctr"/>
                      <a:r>
                        <a:rPr lang="en-US" b="1" dirty="0"/>
                        <a:t>MAE</a:t>
                      </a:r>
                    </a:p>
                  </a:txBody>
                  <a:tcPr anchor="ctr"/>
                </a:tc>
                <a:tc>
                  <a:txBody>
                    <a:bodyPr/>
                    <a:lstStyle/>
                    <a:p>
                      <a:pPr algn="ctr"/>
                      <a:r>
                        <a:rPr lang="en-US" dirty="0"/>
                        <a:t>77.32</a:t>
                      </a:r>
                      <a:endParaRPr lang="en-US" b="1" dirty="0"/>
                    </a:p>
                  </a:txBody>
                  <a:tcPr anchor="ctr"/>
                </a:tc>
                <a:extLst>
                  <a:ext uri="{0D108BD9-81ED-4DB2-BD59-A6C34878D82A}">
                    <a16:rowId xmlns:a16="http://schemas.microsoft.com/office/drawing/2014/main" val="3709831111"/>
                  </a:ext>
                </a:extLst>
              </a:tr>
            </a:tbl>
          </a:graphicData>
        </a:graphic>
      </p:graphicFrame>
      <p:graphicFrame>
        <p:nvGraphicFramePr>
          <p:cNvPr id="9" name="Table 8">
            <a:extLst>
              <a:ext uri="{FF2B5EF4-FFF2-40B4-BE49-F238E27FC236}">
                <a16:creationId xmlns:a16="http://schemas.microsoft.com/office/drawing/2014/main" id="{85F507FC-C878-5882-D2BB-5A23E02C65D3}"/>
              </a:ext>
            </a:extLst>
          </p:cNvPr>
          <p:cNvGraphicFramePr>
            <a:graphicFrameLocks noGrp="1"/>
          </p:cNvGraphicFramePr>
          <p:nvPr>
            <p:extLst>
              <p:ext uri="{D42A27DB-BD31-4B8C-83A1-F6EECF244321}">
                <p14:modId xmlns:p14="http://schemas.microsoft.com/office/powerpoint/2010/main" val="1224507209"/>
              </p:ext>
            </p:extLst>
          </p:nvPr>
        </p:nvGraphicFramePr>
        <p:xfrm>
          <a:off x="8422104" y="4505473"/>
          <a:ext cx="3348982" cy="1414590"/>
        </p:xfrm>
        <a:graphic>
          <a:graphicData uri="http://schemas.openxmlformats.org/drawingml/2006/table">
            <a:tbl>
              <a:tblPr firstRow="1" bandRow="1">
                <a:tableStyleId>{F5AB1C69-6EDB-4FF4-983F-18BD219EF322}</a:tableStyleId>
              </a:tblPr>
              <a:tblGrid>
                <a:gridCol w="1674491">
                  <a:extLst>
                    <a:ext uri="{9D8B030D-6E8A-4147-A177-3AD203B41FA5}">
                      <a16:colId xmlns:a16="http://schemas.microsoft.com/office/drawing/2014/main" val="4078473568"/>
                    </a:ext>
                  </a:extLst>
                </a:gridCol>
                <a:gridCol w="1674491">
                  <a:extLst>
                    <a:ext uri="{9D8B030D-6E8A-4147-A177-3AD203B41FA5}">
                      <a16:colId xmlns:a16="http://schemas.microsoft.com/office/drawing/2014/main" val="4078701055"/>
                    </a:ext>
                  </a:extLst>
                </a:gridCol>
              </a:tblGrid>
              <a:tr h="471075">
                <a:tc gridSpan="2">
                  <a:txBody>
                    <a:bodyPr/>
                    <a:lstStyle/>
                    <a:p>
                      <a:pPr algn="ctr"/>
                      <a:r>
                        <a:rPr lang="en-US" sz="2500" dirty="0"/>
                        <a:t>R² Score</a:t>
                      </a:r>
                    </a:p>
                  </a:txBody>
                  <a:tcPr anchor="ctr"/>
                </a:tc>
                <a:tc hMerge="1">
                  <a:txBody>
                    <a:bodyPr/>
                    <a:lstStyle/>
                    <a:p>
                      <a:endParaRPr lang="en-US" dirty="0"/>
                    </a:p>
                  </a:txBody>
                  <a:tcPr/>
                </a:tc>
                <a:extLst>
                  <a:ext uri="{0D108BD9-81ED-4DB2-BD59-A6C34878D82A}">
                    <a16:rowId xmlns:a16="http://schemas.microsoft.com/office/drawing/2014/main" val="2919094624"/>
                  </a:ext>
                </a:extLst>
              </a:tr>
              <a:tr h="471075">
                <a:tc>
                  <a:txBody>
                    <a:bodyPr/>
                    <a:lstStyle/>
                    <a:p>
                      <a:pPr algn="ctr"/>
                      <a:r>
                        <a:rPr lang="en-US" b="1" dirty="0"/>
                        <a:t>Training</a:t>
                      </a:r>
                    </a:p>
                  </a:txBody>
                  <a:tcPr anchor="ctr"/>
                </a:tc>
                <a:tc>
                  <a:txBody>
                    <a:bodyPr/>
                    <a:lstStyle/>
                    <a:p>
                      <a:pPr algn="ctr"/>
                      <a:r>
                        <a:rPr lang="en-US" dirty="0"/>
                        <a:t>0.97</a:t>
                      </a:r>
                      <a:endParaRPr lang="en-US" b="1" dirty="0"/>
                    </a:p>
                  </a:txBody>
                  <a:tcPr anchor="ctr"/>
                </a:tc>
                <a:extLst>
                  <a:ext uri="{0D108BD9-81ED-4DB2-BD59-A6C34878D82A}">
                    <a16:rowId xmlns:a16="http://schemas.microsoft.com/office/drawing/2014/main" val="23947187"/>
                  </a:ext>
                </a:extLst>
              </a:tr>
              <a:tr h="471075">
                <a:tc>
                  <a:txBody>
                    <a:bodyPr/>
                    <a:lstStyle/>
                    <a:p>
                      <a:pPr algn="ctr"/>
                      <a:r>
                        <a:rPr lang="en-US" b="1" dirty="0"/>
                        <a:t>Testing</a:t>
                      </a:r>
                    </a:p>
                  </a:txBody>
                  <a:tcPr anchor="ctr"/>
                </a:tc>
                <a:tc>
                  <a:txBody>
                    <a:bodyPr/>
                    <a:lstStyle/>
                    <a:p>
                      <a:pPr algn="ctr"/>
                      <a:r>
                        <a:rPr lang="en-US" dirty="0"/>
                        <a:t>0.87</a:t>
                      </a:r>
                      <a:endParaRPr lang="en-US" b="1" dirty="0"/>
                    </a:p>
                  </a:txBody>
                  <a:tcPr anchor="ctr"/>
                </a:tc>
                <a:extLst>
                  <a:ext uri="{0D108BD9-81ED-4DB2-BD59-A6C34878D82A}">
                    <a16:rowId xmlns:a16="http://schemas.microsoft.com/office/drawing/2014/main" val="2137564356"/>
                  </a:ext>
                </a:extLst>
              </a:tr>
            </a:tbl>
          </a:graphicData>
        </a:graphic>
      </p:graphicFrame>
      <p:sp>
        <p:nvSpPr>
          <p:cNvPr id="10" name="Google Shape;105;p1">
            <a:extLst>
              <a:ext uri="{FF2B5EF4-FFF2-40B4-BE49-F238E27FC236}">
                <a16:creationId xmlns:a16="http://schemas.microsoft.com/office/drawing/2014/main" id="{ABA66195-3A1F-A3CB-DD0F-058C7A882842}"/>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24</a:t>
            </a:r>
            <a:endParaRPr lang="ar-EG" b="1" dirty="0"/>
          </a:p>
        </p:txBody>
      </p:sp>
    </p:spTree>
    <p:extLst>
      <p:ext uri="{BB962C8B-B14F-4D97-AF65-F5344CB8AC3E}">
        <p14:creationId xmlns:p14="http://schemas.microsoft.com/office/powerpoint/2010/main" val="325622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75DC1DE-57C5-664A-E1C5-B98E67B7DF5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4E387B-DAAC-F6E9-7865-2489DE9AF965}"/>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6BD00B5-9969-4CAC-0218-0815C65D4F22}"/>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61DD503F-1B67-7B27-847D-7D0B01188E8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dirty="0"/>
          </a:p>
        </p:txBody>
      </p:sp>
      <p:pic>
        <p:nvPicPr>
          <p:cNvPr id="110" name="Google Shape;110;p1" title="download.png">
            <a:extLst>
              <a:ext uri="{FF2B5EF4-FFF2-40B4-BE49-F238E27FC236}">
                <a16:creationId xmlns:a16="http://schemas.microsoft.com/office/drawing/2014/main" id="{26C12B04-2FB4-C2C5-0E9A-0D61D4AEB612}"/>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5AC9BDC-8B63-3D41-1447-5D548D1E1B9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5E2343AE-981D-F50F-A715-73646FCFC6E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CFDFF2DD-5548-1AD7-1033-A796EACC0CBC}"/>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“Cross Validation”</a:t>
            </a:r>
          </a:p>
        </p:txBody>
      </p:sp>
      <p:sp>
        <p:nvSpPr>
          <p:cNvPr id="3" name="Google Shape;105;p1">
            <a:extLst>
              <a:ext uri="{FF2B5EF4-FFF2-40B4-BE49-F238E27FC236}">
                <a16:creationId xmlns:a16="http://schemas.microsoft.com/office/drawing/2014/main" id="{5CDDE745-ADC9-E248-E848-88D7A16638D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25</a:t>
            </a:r>
            <a:endParaRPr lang="ar-EG" b="1" dirty="0"/>
          </a:p>
        </p:txBody>
      </p:sp>
      <p:graphicFrame>
        <p:nvGraphicFramePr>
          <p:cNvPr id="9" name="Table 8">
            <a:extLst>
              <a:ext uri="{FF2B5EF4-FFF2-40B4-BE49-F238E27FC236}">
                <a16:creationId xmlns:a16="http://schemas.microsoft.com/office/drawing/2014/main" id="{568BE210-D81F-5CDA-CFD1-EADE0678EE8B}"/>
              </a:ext>
            </a:extLst>
          </p:cNvPr>
          <p:cNvGraphicFramePr>
            <a:graphicFrameLocks noGrp="1"/>
          </p:cNvGraphicFramePr>
          <p:nvPr>
            <p:extLst>
              <p:ext uri="{D42A27DB-BD31-4B8C-83A1-F6EECF244321}">
                <p14:modId xmlns:p14="http://schemas.microsoft.com/office/powerpoint/2010/main" val="2594789863"/>
              </p:ext>
            </p:extLst>
          </p:nvPr>
        </p:nvGraphicFramePr>
        <p:xfrm>
          <a:off x="4645818" y="2662182"/>
          <a:ext cx="7139781" cy="2354316"/>
        </p:xfrm>
        <a:graphic>
          <a:graphicData uri="http://schemas.openxmlformats.org/drawingml/2006/table">
            <a:tbl>
              <a:tblPr firstRow="1" bandRow="1">
                <a:tableStyleId>{F5AB1C69-6EDB-4FF4-983F-18BD219EF322}</a:tableStyleId>
              </a:tblPr>
              <a:tblGrid>
                <a:gridCol w="2342421">
                  <a:extLst>
                    <a:ext uri="{9D8B030D-6E8A-4147-A177-3AD203B41FA5}">
                      <a16:colId xmlns:a16="http://schemas.microsoft.com/office/drawing/2014/main" val="272350736"/>
                    </a:ext>
                  </a:extLst>
                </a:gridCol>
                <a:gridCol w="1143669">
                  <a:extLst>
                    <a:ext uri="{9D8B030D-6E8A-4147-A177-3AD203B41FA5}">
                      <a16:colId xmlns:a16="http://schemas.microsoft.com/office/drawing/2014/main" val="3592466"/>
                    </a:ext>
                  </a:extLst>
                </a:gridCol>
                <a:gridCol w="1273764">
                  <a:extLst>
                    <a:ext uri="{9D8B030D-6E8A-4147-A177-3AD203B41FA5}">
                      <a16:colId xmlns:a16="http://schemas.microsoft.com/office/drawing/2014/main" val="3915299753"/>
                    </a:ext>
                  </a:extLst>
                </a:gridCol>
                <a:gridCol w="1162030">
                  <a:extLst>
                    <a:ext uri="{9D8B030D-6E8A-4147-A177-3AD203B41FA5}">
                      <a16:colId xmlns:a16="http://schemas.microsoft.com/office/drawing/2014/main" val="1679470895"/>
                    </a:ext>
                  </a:extLst>
                </a:gridCol>
                <a:gridCol w="1217897">
                  <a:extLst>
                    <a:ext uri="{9D8B030D-6E8A-4147-A177-3AD203B41FA5}">
                      <a16:colId xmlns:a16="http://schemas.microsoft.com/office/drawing/2014/main" val="1652530711"/>
                    </a:ext>
                  </a:extLst>
                </a:gridCol>
              </a:tblGrid>
              <a:tr h="392386">
                <a:tc>
                  <a:txBody>
                    <a:bodyPr/>
                    <a:lstStyle/>
                    <a:p>
                      <a:pPr algn="ctr"/>
                      <a:r>
                        <a:rPr lang="en-US" sz="1800" dirty="0"/>
                        <a:t>Model</a:t>
                      </a:r>
                    </a:p>
                  </a:txBody>
                  <a:tcPr anchor="ctr"/>
                </a:tc>
                <a:tc>
                  <a:txBody>
                    <a:bodyPr/>
                    <a:lstStyle/>
                    <a:p>
                      <a:pPr algn="ctr"/>
                      <a:r>
                        <a:rPr lang="en-US" sz="1800" dirty="0"/>
                        <a:t>RMSLE</a:t>
                      </a:r>
                    </a:p>
                  </a:txBody>
                  <a:tcPr anchor="ctr"/>
                </a:tc>
                <a:tc>
                  <a:txBody>
                    <a:bodyPr/>
                    <a:lstStyle/>
                    <a:p>
                      <a:pPr algn="ctr"/>
                      <a:r>
                        <a:rPr lang="en-US" sz="1800" dirty="0"/>
                        <a:t>RMSE</a:t>
                      </a:r>
                    </a:p>
                  </a:txBody>
                  <a:tcPr anchor="ctr"/>
                </a:tc>
                <a:tc>
                  <a:txBody>
                    <a:bodyPr/>
                    <a:lstStyle/>
                    <a:p>
                      <a:pPr algn="ctr"/>
                      <a:r>
                        <a:rPr lang="en-US" sz="1800" dirty="0"/>
                        <a:t>MSE</a:t>
                      </a:r>
                    </a:p>
                  </a:txBody>
                  <a:tcPr anchor="ctr"/>
                </a:tc>
                <a:tc>
                  <a:txBody>
                    <a:bodyPr/>
                    <a:lstStyle/>
                    <a:p>
                      <a:pPr algn="ctr"/>
                      <a:r>
                        <a:rPr lang="en-US" sz="1800" dirty="0"/>
                        <a:t>MAE</a:t>
                      </a:r>
                    </a:p>
                  </a:txBody>
                  <a:tcPr anchor="ctr"/>
                </a:tc>
                <a:extLst>
                  <a:ext uri="{0D108BD9-81ED-4DB2-BD59-A6C34878D82A}">
                    <a16:rowId xmlns:a16="http://schemas.microsoft.com/office/drawing/2014/main" val="160995190"/>
                  </a:ext>
                </a:extLst>
              </a:tr>
              <a:tr h="392386">
                <a:tc>
                  <a:txBody>
                    <a:bodyPr/>
                    <a:lstStyle/>
                    <a:p>
                      <a:pPr algn="ctr"/>
                      <a:r>
                        <a:rPr lang="en-US" sz="1600" b="1" dirty="0"/>
                        <a:t>Linear Regression</a:t>
                      </a:r>
                    </a:p>
                  </a:txBody>
                  <a:tcPr anchor="ctr"/>
                </a:tc>
                <a:tc>
                  <a:txBody>
                    <a:bodyPr/>
                    <a:lstStyle/>
                    <a:p>
                      <a:pPr algn="ctr"/>
                      <a:r>
                        <a:rPr lang="en-US" sz="1600" b="0" dirty="0"/>
                        <a:t>0.999</a:t>
                      </a:r>
                    </a:p>
                  </a:txBody>
                  <a:tcPr anchor="ctr"/>
                </a:tc>
                <a:tc>
                  <a:txBody>
                    <a:bodyPr/>
                    <a:lstStyle/>
                    <a:p>
                      <a:pPr algn="ctr"/>
                      <a:r>
                        <a:rPr lang="en-US" sz="1600" b="0" dirty="0"/>
                        <a:t>178.697</a:t>
                      </a:r>
                    </a:p>
                  </a:txBody>
                  <a:tcPr anchor="ctr"/>
                </a:tc>
                <a:tc>
                  <a:txBody>
                    <a:bodyPr/>
                    <a:lstStyle/>
                    <a:p>
                      <a:pPr algn="ctr"/>
                      <a:r>
                        <a:rPr lang="en-US" sz="1600" b="0" dirty="0"/>
                        <a:t>31932.487</a:t>
                      </a:r>
                    </a:p>
                  </a:txBody>
                  <a:tcPr anchor="ctr"/>
                </a:tc>
                <a:tc>
                  <a:txBody>
                    <a:bodyPr/>
                    <a:lstStyle/>
                    <a:p>
                      <a:pPr algn="ctr"/>
                      <a:r>
                        <a:rPr lang="en-US" sz="1600" b="0" dirty="0"/>
                        <a:t>130.277</a:t>
                      </a:r>
                    </a:p>
                  </a:txBody>
                  <a:tcPr anchor="ctr"/>
                </a:tc>
                <a:extLst>
                  <a:ext uri="{0D108BD9-81ED-4DB2-BD59-A6C34878D82A}">
                    <a16:rowId xmlns:a16="http://schemas.microsoft.com/office/drawing/2014/main" val="14580226"/>
                  </a:ext>
                </a:extLst>
              </a:tr>
              <a:tr h="392386">
                <a:tc>
                  <a:txBody>
                    <a:bodyPr/>
                    <a:lstStyle/>
                    <a:p>
                      <a:pPr algn="ctr"/>
                      <a:r>
                        <a:rPr lang="en-US" sz="1600" b="1" dirty="0"/>
                        <a:t>Decision Tree</a:t>
                      </a:r>
                    </a:p>
                  </a:txBody>
                  <a:tcPr anchor="ctr"/>
                </a:tc>
                <a:tc>
                  <a:txBody>
                    <a:bodyPr/>
                    <a:lstStyle/>
                    <a:p>
                      <a:pPr algn="ctr"/>
                      <a:r>
                        <a:rPr lang="en-US" sz="1600" b="0" dirty="0"/>
                        <a:t>0.619</a:t>
                      </a:r>
                    </a:p>
                  </a:txBody>
                  <a:tcPr anchor="ctr"/>
                </a:tc>
                <a:tc>
                  <a:txBody>
                    <a:bodyPr/>
                    <a:lstStyle/>
                    <a:p>
                      <a:pPr algn="ctr"/>
                      <a:r>
                        <a:rPr lang="en-US" sz="1600" b="0" dirty="0"/>
                        <a:t>158.045</a:t>
                      </a:r>
                    </a:p>
                  </a:txBody>
                  <a:tcPr anchor="ctr"/>
                </a:tc>
                <a:tc>
                  <a:txBody>
                    <a:bodyPr/>
                    <a:lstStyle/>
                    <a:p>
                      <a:pPr algn="ctr"/>
                      <a:r>
                        <a:rPr lang="en-US" sz="1600" b="0" dirty="0"/>
                        <a:t>24978.293</a:t>
                      </a:r>
                    </a:p>
                  </a:txBody>
                  <a:tcPr anchor="ctr"/>
                </a:tc>
                <a:tc>
                  <a:txBody>
                    <a:bodyPr/>
                    <a:lstStyle/>
                    <a:p>
                      <a:pPr algn="ctr"/>
                      <a:r>
                        <a:rPr lang="en-US" sz="1600" b="0" dirty="0"/>
                        <a:t>94.348</a:t>
                      </a:r>
                    </a:p>
                  </a:txBody>
                  <a:tcPr anchor="ctr"/>
                </a:tc>
                <a:extLst>
                  <a:ext uri="{0D108BD9-81ED-4DB2-BD59-A6C34878D82A}">
                    <a16:rowId xmlns:a16="http://schemas.microsoft.com/office/drawing/2014/main" val="3381563736"/>
                  </a:ext>
                </a:extLst>
              </a:tr>
              <a:tr h="392386">
                <a:tc>
                  <a:txBody>
                    <a:bodyPr/>
                    <a:lstStyle/>
                    <a:p>
                      <a:pPr algn="ctr"/>
                      <a:r>
                        <a:rPr lang="en-US" sz="1600" b="1" dirty="0"/>
                        <a:t>Random Forest</a:t>
                      </a:r>
                    </a:p>
                  </a:txBody>
                  <a:tcPr anchor="ctr"/>
                </a:tc>
                <a:tc>
                  <a:txBody>
                    <a:bodyPr/>
                    <a:lstStyle/>
                    <a:p>
                      <a:pPr algn="ctr"/>
                      <a:r>
                        <a:rPr lang="en-US" sz="1600" b="0" dirty="0"/>
                        <a:t>0.515 </a:t>
                      </a:r>
                    </a:p>
                  </a:txBody>
                  <a:tcPr anchor="ctr"/>
                </a:tc>
                <a:tc>
                  <a:txBody>
                    <a:bodyPr/>
                    <a:lstStyle/>
                    <a:p>
                      <a:pPr algn="ctr"/>
                      <a:r>
                        <a:rPr lang="en-US" sz="1600" b="0" dirty="0"/>
                        <a:t>119.429 </a:t>
                      </a:r>
                    </a:p>
                  </a:txBody>
                  <a:tcPr anchor="ctr"/>
                </a:tc>
                <a:tc>
                  <a:txBody>
                    <a:bodyPr/>
                    <a:lstStyle/>
                    <a:p>
                      <a:pPr algn="ctr"/>
                      <a:r>
                        <a:rPr lang="en-US" sz="1600" b="0" dirty="0"/>
                        <a:t>14263.239 </a:t>
                      </a:r>
                    </a:p>
                  </a:txBody>
                  <a:tcPr anchor="ctr"/>
                </a:tc>
                <a:tc>
                  <a:txBody>
                    <a:bodyPr/>
                    <a:lstStyle/>
                    <a:p>
                      <a:pPr algn="ctr"/>
                      <a:r>
                        <a:rPr lang="en-US" sz="1600" b="0" dirty="0"/>
                        <a:t>75.771</a:t>
                      </a:r>
                    </a:p>
                  </a:txBody>
                  <a:tcPr anchor="ctr"/>
                </a:tc>
                <a:extLst>
                  <a:ext uri="{0D108BD9-81ED-4DB2-BD59-A6C34878D82A}">
                    <a16:rowId xmlns:a16="http://schemas.microsoft.com/office/drawing/2014/main" val="2436683925"/>
                  </a:ext>
                </a:extLst>
              </a:tr>
              <a:tr h="392386">
                <a:tc>
                  <a:txBody>
                    <a:bodyPr/>
                    <a:lstStyle/>
                    <a:p>
                      <a:pPr algn="ctr"/>
                      <a:r>
                        <a:rPr lang="en-US" sz="1600" b="1" dirty="0" err="1"/>
                        <a:t>XGBoost</a:t>
                      </a:r>
                      <a:endParaRPr lang="en-US" sz="1600" b="1" dirty="0"/>
                    </a:p>
                  </a:txBody>
                  <a:tcPr anchor="ctr"/>
                </a:tc>
                <a:tc>
                  <a:txBody>
                    <a:bodyPr/>
                    <a:lstStyle/>
                    <a:p>
                      <a:pPr algn="ctr"/>
                      <a:r>
                        <a:rPr lang="en-US" sz="1600" b="0" dirty="0"/>
                        <a:t>0.552 </a:t>
                      </a:r>
                    </a:p>
                  </a:txBody>
                  <a:tcPr anchor="ctr"/>
                </a:tc>
                <a:tc>
                  <a:txBody>
                    <a:bodyPr/>
                    <a:lstStyle/>
                    <a:p>
                      <a:pPr algn="ctr"/>
                      <a:r>
                        <a:rPr lang="en-US" sz="1600" b="0" dirty="0"/>
                        <a:t>116.891 </a:t>
                      </a:r>
                    </a:p>
                  </a:txBody>
                  <a:tcPr anchor="ctr"/>
                </a:tc>
                <a:tc>
                  <a:txBody>
                    <a:bodyPr/>
                    <a:lstStyle/>
                    <a:p>
                      <a:pPr algn="ctr"/>
                      <a:r>
                        <a:rPr lang="en-US" sz="1600" b="0" dirty="0"/>
                        <a:t>13663.398 </a:t>
                      </a:r>
                    </a:p>
                  </a:txBody>
                  <a:tcPr anchor="ctr"/>
                </a:tc>
                <a:tc>
                  <a:txBody>
                    <a:bodyPr/>
                    <a:lstStyle/>
                    <a:p>
                      <a:pPr algn="ctr"/>
                      <a:r>
                        <a:rPr lang="en-US" sz="1600" b="0" dirty="0"/>
                        <a:t>73.344</a:t>
                      </a:r>
                    </a:p>
                  </a:txBody>
                  <a:tcPr anchor="ctr"/>
                </a:tc>
                <a:extLst>
                  <a:ext uri="{0D108BD9-81ED-4DB2-BD59-A6C34878D82A}">
                    <a16:rowId xmlns:a16="http://schemas.microsoft.com/office/drawing/2014/main" val="3828388403"/>
                  </a:ext>
                </a:extLst>
              </a:tr>
              <a:tr h="392386">
                <a:tc>
                  <a:txBody>
                    <a:bodyPr/>
                    <a:lstStyle/>
                    <a:p>
                      <a:pPr algn="ctr"/>
                      <a:r>
                        <a:rPr lang="en-US" sz="1600" b="1" i="0" u="none" strike="noStrike" cap="none" dirty="0" err="1">
                          <a:solidFill>
                            <a:schemeClr val="dk1"/>
                          </a:solidFill>
                          <a:latin typeface="+mn-lt"/>
                          <a:ea typeface="+mn-ea"/>
                          <a:cs typeface="+mn-cs"/>
                          <a:sym typeface="Arial"/>
                        </a:rPr>
                        <a:t>XGBoost</a:t>
                      </a:r>
                      <a:r>
                        <a:rPr lang="en-US" sz="1600" b="1" i="0" u="none" strike="noStrike" cap="none" dirty="0">
                          <a:solidFill>
                            <a:schemeClr val="dk1"/>
                          </a:solidFill>
                          <a:latin typeface="+mn-lt"/>
                          <a:ea typeface="+mn-ea"/>
                          <a:cs typeface="+mn-cs"/>
                          <a:sym typeface="Arial"/>
                        </a:rPr>
                        <a:t> (Log Target)</a:t>
                      </a:r>
                    </a:p>
                  </a:txBody>
                  <a:tcPr anchor="ctr"/>
                </a:tc>
                <a:tc>
                  <a:txBody>
                    <a:bodyPr/>
                    <a:lstStyle/>
                    <a:p>
                      <a:pPr algn="ctr"/>
                      <a:r>
                        <a:rPr lang="en-US" sz="1600" b="0" i="0" u="none" strike="noStrike" cap="none" dirty="0">
                          <a:solidFill>
                            <a:schemeClr val="dk1"/>
                          </a:solidFill>
                          <a:latin typeface="+mn-lt"/>
                          <a:ea typeface="+mn-ea"/>
                          <a:cs typeface="+mn-cs"/>
                          <a:sym typeface="Arial"/>
                        </a:rPr>
                        <a:t>0.464</a:t>
                      </a:r>
                    </a:p>
                  </a:txBody>
                  <a:tcPr anchor="ctr"/>
                </a:tc>
                <a:tc>
                  <a:txBody>
                    <a:bodyPr/>
                    <a:lstStyle/>
                    <a:p>
                      <a:pPr algn="ctr"/>
                      <a:r>
                        <a:rPr lang="en-US" sz="1600" b="0" i="0" u="none" strike="noStrike" cap="none" dirty="0">
                          <a:solidFill>
                            <a:schemeClr val="dk1"/>
                          </a:solidFill>
                          <a:latin typeface="+mn-lt"/>
                          <a:ea typeface="+mn-ea"/>
                          <a:cs typeface="+mn-cs"/>
                          <a:sym typeface="Arial"/>
                        </a:rPr>
                        <a:t>118.420</a:t>
                      </a:r>
                    </a:p>
                  </a:txBody>
                  <a:tcPr anchor="ctr"/>
                </a:tc>
                <a:tc>
                  <a:txBody>
                    <a:bodyPr/>
                    <a:lstStyle/>
                    <a:p>
                      <a:pPr algn="ctr"/>
                      <a:r>
                        <a:rPr lang="en-US" sz="1600" b="0" i="0" u="none" strike="noStrike" cap="none" dirty="0">
                          <a:solidFill>
                            <a:schemeClr val="dk1"/>
                          </a:solidFill>
                          <a:latin typeface="+mn-lt"/>
                          <a:ea typeface="+mn-ea"/>
                          <a:cs typeface="+mn-cs"/>
                          <a:sym typeface="Arial"/>
                        </a:rPr>
                        <a:t>14023.196</a:t>
                      </a:r>
                    </a:p>
                  </a:txBody>
                  <a:tcPr anchor="ctr"/>
                </a:tc>
                <a:tc>
                  <a:txBody>
                    <a:bodyPr/>
                    <a:lstStyle/>
                    <a:p>
                      <a:pPr algn="ctr"/>
                      <a:r>
                        <a:rPr lang="en-US" sz="1600" b="0" i="0" u="none" strike="noStrike" cap="none" dirty="0">
                          <a:solidFill>
                            <a:schemeClr val="dk1"/>
                          </a:solidFill>
                          <a:latin typeface="+mn-lt"/>
                          <a:ea typeface="+mn-ea"/>
                          <a:cs typeface="+mn-cs"/>
                          <a:sym typeface="Arial"/>
                        </a:rPr>
                        <a:t>69.469</a:t>
                      </a:r>
                    </a:p>
                  </a:txBody>
                  <a:tcPr anchor="ctr"/>
                </a:tc>
                <a:extLst>
                  <a:ext uri="{0D108BD9-81ED-4DB2-BD59-A6C34878D82A}">
                    <a16:rowId xmlns:a16="http://schemas.microsoft.com/office/drawing/2014/main" val="4046106967"/>
                  </a:ext>
                </a:extLst>
              </a:tr>
            </a:tbl>
          </a:graphicData>
        </a:graphic>
      </p:graphicFrame>
      <p:sp>
        <p:nvSpPr>
          <p:cNvPr id="7" name="Rectangle 1">
            <a:extLst>
              <a:ext uri="{FF2B5EF4-FFF2-40B4-BE49-F238E27FC236}">
                <a16:creationId xmlns:a16="http://schemas.microsoft.com/office/drawing/2014/main" id="{E266F265-AFBE-C160-F9E9-317CFD8CBC96}"/>
              </a:ext>
            </a:extLst>
          </p:cNvPr>
          <p:cNvSpPr>
            <a:spLocks noChangeArrowheads="1"/>
          </p:cNvSpPr>
          <p:nvPr/>
        </p:nvSpPr>
        <p:spPr bwMode="auto">
          <a:xfrm>
            <a:off x="307237" y="1866900"/>
            <a:ext cx="403134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Interpretation:</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R="0" lvl="0" algn="just" defTabSz="914400" rtl="0" eaLnBrk="0" fontAlgn="base" latinLnBrk="0" hangingPunct="0">
              <a:lnSpc>
                <a:spcPct val="100000"/>
              </a:lnSpc>
              <a:spcBef>
                <a:spcPct val="0"/>
              </a:spcBef>
              <a:spcAft>
                <a:spcPct val="0"/>
              </a:spcAft>
              <a:buClrTx/>
              <a:buSzTx/>
              <a:tabLst/>
            </a:pPr>
            <a:r>
              <a:rPr lang="en-US" altLang="en-US" sz="2000" dirty="0">
                <a:solidFill>
                  <a:schemeClr val="tx1">
                    <a:lumMod val="65000"/>
                    <a:lumOff val="35000"/>
                  </a:schemeClr>
                </a:solidFill>
                <a:latin typeface="Aptos ExtraBold" panose="020B0004020202020204" pitchFamily="34" charset="0"/>
              </a:rPr>
              <a:t>-</a:t>
            </a:r>
            <a:r>
              <a:rPr lang="en-US" altLang="en-US" sz="2000" dirty="0">
                <a:solidFill>
                  <a:schemeClr val="tx1"/>
                </a:solidFill>
                <a:latin typeface="Aptos ExtraBold" panose="020B0004020202020204" pitchFamily="34" charset="0"/>
              </a:rPr>
              <a:t> </a:t>
            </a:r>
            <a:r>
              <a:rPr lang="en-US" sz="2000" dirty="0" err="1">
                <a:solidFill>
                  <a:schemeClr val="tx1">
                    <a:lumMod val="65000"/>
                    <a:lumOff val="35000"/>
                  </a:schemeClr>
                </a:solidFill>
                <a:latin typeface="Aptos ExtraBold" panose="020B0004020202020204" pitchFamily="34" charset="0"/>
              </a:rPr>
              <a:t>XGBoost</a:t>
            </a:r>
            <a:r>
              <a:rPr lang="en-US" sz="2000" dirty="0">
                <a:solidFill>
                  <a:schemeClr val="tx1">
                    <a:lumMod val="65000"/>
                    <a:lumOff val="35000"/>
                  </a:schemeClr>
                </a:solidFill>
                <a:latin typeface="Aptos ExtraBold" panose="020B0004020202020204" pitchFamily="34" charset="0"/>
              </a:rPr>
              <a:t> (Log Target) achieved the lowest RMSLE (0.464) and MAE (69.5), making it the most reliable for minimizing</a:t>
            </a:r>
          </a:p>
          <a:p>
            <a:pPr marR="0" lvl="0" algn="just" defTabSz="914400" rtl="0" eaLnBrk="0" fontAlgn="base" latinLnBrk="0" hangingPunct="0">
              <a:lnSpc>
                <a:spcPct val="100000"/>
              </a:lnSpc>
              <a:spcBef>
                <a:spcPct val="0"/>
              </a:spcBef>
              <a:spcAft>
                <a:spcPct val="0"/>
              </a:spcAft>
              <a:buClrTx/>
              <a:buSzTx/>
              <a:tabLst/>
            </a:pPr>
            <a:r>
              <a:rPr lang="en-US" sz="2000" dirty="0">
                <a:solidFill>
                  <a:schemeClr val="tx1">
                    <a:lumMod val="65000"/>
                    <a:lumOff val="35000"/>
                  </a:schemeClr>
                </a:solidFill>
                <a:latin typeface="Aptos ExtraBold" panose="020B0004020202020204" pitchFamily="34" charset="0"/>
              </a:rPr>
              <a:t> relative and absolute errors.</a:t>
            </a:r>
          </a:p>
          <a:p>
            <a:pPr marR="0" lvl="0" algn="just" defTabSz="914400" rtl="0" eaLnBrk="0" fontAlgn="base" latinLnBrk="0" hangingPunct="0">
              <a:lnSpc>
                <a:spcPct val="100000"/>
              </a:lnSpc>
              <a:spcBef>
                <a:spcPct val="0"/>
              </a:spcBef>
              <a:spcAft>
                <a:spcPct val="0"/>
              </a:spcAft>
              <a:buClrTx/>
              <a:buSzTx/>
              <a:tabLst/>
            </a:pPr>
            <a:endParaRPr lang="en-US" sz="2000" dirty="0">
              <a:solidFill>
                <a:schemeClr val="tx1">
                  <a:lumMod val="65000"/>
                  <a:lumOff val="35000"/>
                </a:schemeClr>
              </a:solidFill>
              <a:latin typeface="Aptos ExtraBold" panose="020B0004020202020204" pitchFamily="34" charset="0"/>
            </a:endParaRPr>
          </a:p>
          <a:p>
            <a:pPr marR="0" lvl="0" algn="just" defTabSz="914400" rtl="0" eaLnBrk="0" fontAlgn="base" latinLnBrk="0" hangingPunct="0">
              <a:lnSpc>
                <a:spcPct val="100000"/>
              </a:lnSpc>
              <a:spcBef>
                <a:spcPct val="0"/>
              </a:spcBef>
              <a:spcAft>
                <a:spcPct val="0"/>
              </a:spcAft>
              <a:buClrTx/>
              <a:buSzTx/>
              <a:tabLst/>
            </a:pPr>
            <a:r>
              <a:rPr lang="en-US" sz="2000" dirty="0">
                <a:solidFill>
                  <a:schemeClr val="tx1">
                    <a:lumMod val="65000"/>
                    <a:lumOff val="35000"/>
                  </a:schemeClr>
                </a:solidFill>
                <a:latin typeface="Aptos ExtraBold" panose="020B0004020202020204" pitchFamily="34" charset="0"/>
              </a:rPr>
              <a:t>- </a:t>
            </a:r>
            <a:r>
              <a:rPr lang="en-US" sz="2000" dirty="0" err="1">
                <a:solidFill>
                  <a:schemeClr val="tx1">
                    <a:lumMod val="65000"/>
                    <a:lumOff val="35000"/>
                  </a:schemeClr>
                </a:solidFill>
                <a:latin typeface="Aptos ExtraBold" panose="020B0004020202020204" pitchFamily="34" charset="0"/>
              </a:rPr>
              <a:t>XGBoost</a:t>
            </a:r>
            <a:r>
              <a:rPr lang="en-US" sz="2000" dirty="0">
                <a:solidFill>
                  <a:schemeClr val="tx1">
                    <a:lumMod val="65000"/>
                    <a:lumOff val="35000"/>
                  </a:schemeClr>
                </a:solidFill>
                <a:latin typeface="Aptos ExtraBold" panose="020B0004020202020204" pitchFamily="34" charset="0"/>
              </a:rPr>
              <a:t> with Log Target is the best choice for deployment as it balances accuracy and error robustness effectively.</a:t>
            </a:r>
          </a:p>
        </p:txBody>
      </p:sp>
    </p:spTree>
    <p:extLst>
      <p:ext uri="{BB962C8B-B14F-4D97-AF65-F5344CB8AC3E}">
        <p14:creationId xmlns:p14="http://schemas.microsoft.com/office/powerpoint/2010/main" val="4212774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AB7F14-0FD9-5B18-E1DD-B84FFA465F1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CA8AE24-784C-EC16-95E6-9FDF5D00BA8F}"/>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95D6E836-D142-F10F-87B3-65D2EF727725}"/>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6E7A244F-2050-EFEC-4132-A6429B7291AE}"/>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dirty="0"/>
          </a:p>
        </p:txBody>
      </p:sp>
      <p:pic>
        <p:nvPicPr>
          <p:cNvPr id="110" name="Google Shape;110;p1" title="download.png">
            <a:extLst>
              <a:ext uri="{FF2B5EF4-FFF2-40B4-BE49-F238E27FC236}">
                <a16:creationId xmlns:a16="http://schemas.microsoft.com/office/drawing/2014/main" id="{DB998071-3AF3-0EE1-5005-0968CB25DD46}"/>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6B59C2E6-E64D-3252-90DE-8BC7BFE08AE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344A0E51-1C3D-4732-5F14-A0FC9121CDF3}"/>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EC2890B5-6FA5-FDED-4B39-40A304E72E6D}"/>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Deployment”</a:t>
            </a:r>
          </a:p>
        </p:txBody>
      </p:sp>
      <p:sp>
        <p:nvSpPr>
          <p:cNvPr id="7" name="Rectangle 1">
            <a:extLst>
              <a:ext uri="{FF2B5EF4-FFF2-40B4-BE49-F238E27FC236}">
                <a16:creationId xmlns:a16="http://schemas.microsoft.com/office/drawing/2014/main" id="{A357C0A2-20F7-55DA-E36D-16E44854F0F5}"/>
              </a:ext>
            </a:extLst>
          </p:cNvPr>
          <p:cNvSpPr>
            <a:spLocks noChangeArrowheads="1"/>
          </p:cNvSpPr>
          <p:nvPr/>
        </p:nvSpPr>
        <p:spPr bwMode="auto">
          <a:xfrm>
            <a:off x="353556" y="1874036"/>
            <a:ext cx="8281359" cy="3154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1869A6"/>
                </a:solidFill>
                <a:latin typeface="Aptos ExtraBold" panose="020B0004020202020204" pitchFamily="34" charset="0"/>
              </a:rPr>
              <a:t>Deployment Strategy:</a:t>
            </a:r>
            <a:endParaRPr kumimoji="0" lang="en-US" altLang="en-US" sz="24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000" dirty="0">
                <a:solidFill>
                  <a:schemeClr val="tx1">
                    <a:lumMod val="65000"/>
                    <a:lumOff val="35000"/>
                  </a:schemeClr>
                </a:solidFill>
                <a:latin typeface="Aptos ExtraBold" panose="020B0004020202020204" pitchFamily="34" charset="0"/>
              </a:rPr>
              <a:t>Developed a Flask-based web application to host the forecasting model.</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u="none" strike="noStrike" cap="none" normalizeH="0" baseline="0" dirty="0">
              <a:ln>
                <a:noFill/>
              </a:ln>
              <a:solidFill>
                <a:schemeClr val="tx1"/>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u="none" strike="noStrike" cap="none" normalizeH="0" baseline="0" dirty="0">
                <a:ln>
                  <a:noFill/>
                </a:ln>
                <a:solidFill>
                  <a:schemeClr val="tx1">
                    <a:lumMod val="65000"/>
                    <a:lumOff val="35000"/>
                  </a:schemeClr>
                </a:solidFill>
                <a:effectLst/>
                <a:latin typeface="Aptos ExtraBold" panose="020B0004020202020204" pitchFamily="34" charset="0"/>
              </a:rPr>
              <a:t>Designed with HTML and CSS for a responsive and user-friendly interface.</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The user interface allows input of 12 key features like order date, ship mode, category, and profit for real-time sales predictions.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tx1">
                    <a:lumMod val="65000"/>
                    <a:lumOff val="35000"/>
                  </a:schemeClr>
                </a:solidFill>
                <a:effectLst/>
                <a:latin typeface="Aptos ExtraBold" panose="020B0004020202020204" pitchFamily="34" charset="0"/>
              </a:rPr>
              <a:t>Output displays the expected weekly sales based on the provided inputs.</a:t>
            </a:r>
          </a:p>
        </p:txBody>
      </p:sp>
      <p:sp>
        <p:nvSpPr>
          <p:cNvPr id="6" name="Google Shape;105;p1">
            <a:extLst>
              <a:ext uri="{FF2B5EF4-FFF2-40B4-BE49-F238E27FC236}">
                <a16:creationId xmlns:a16="http://schemas.microsoft.com/office/drawing/2014/main" id="{48CDFAE4-918E-31CC-A0F0-78E5DFF1E3B3}"/>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26</a:t>
            </a:r>
          </a:p>
        </p:txBody>
      </p:sp>
    </p:spTree>
    <p:extLst>
      <p:ext uri="{BB962C8B-B14F-4D97-AF65-F5344CB8AC3E}">
        <p14:creationId xmlns:p14="http://schemas.microsoft.com/office/powerpoint/2010/main" val="1354634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DFE62B1-20FE-2FBF-DE4C-310C4770EF2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877F42-DDF5-489C-0FA0-1E8C772F71F1}"/>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BF5FAC1-328A-1EDF-E825-8E21020AD291}"/>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46BB2D42-B37F-AB8B-B2B4-C6D7CDF54574}"/>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dirty="0"/>
          </a:p>
        </p:txBody>
      </p:sp>
      <p:pic>
        <p:nvPicPr>
          <p:cNvPr id="110" name="Google Shape;110;p1" title="download.png">
            <a:extLst>
              <a:ext uri="{FF2B5EF4-FFF2-40B4-BE49-F238E27FC236}">
                <a16:creationId xmlns:a16="http://schemas.microsoft.com/office/drawing/2014/main" id="{3630DED0-2430-DB5B-A0A0-CFCC06CA6C9B}"/>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9ABE62B1-F581-3218-8781-555B9748E201}"/>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16E30C64-52BD-6261-8BA7-E90D8310593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E92B09E3-69BE-03CA-3DC0-C5BC6579D7C2}"/>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Deployment”</a:t>
            </a:r>
          </a:p>
        </p:txBody>
      </p:sp>
      <p:sp>
        <p:nvSpPr>
          <p:cNvPr id="7" name="Rectangle 1">
            <a:extLst>
              <a:ext uri="{FF2B5EF4-FFF2-40B4-BE49-F238E27FC236}">
                <a16:creationId xmlns:a16="http://schemas.microsoft.com/office/drawing/2014/main" id="{1C573145-3343-D086-9B80-E0FDAE9B732B}"/>
              </a:ext>
            </a:extLst>
          </p:cNvPr>
          <p:cNvSpPr>
            <a:spLocks noChangeArrowheads="1"/>
          </p:cNvSpPr>
          <p:nvPr/>
        </p:nvSpPr>
        <p:spPr bwMode="auto">
          <a:xfrm>
            <a:off x="315338" y="2149598"/>
            <a:ext cx="4062996" cy="340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solidFill>
                  <a:srgbClr val="1869A6"/>
                </a:solidFill>
                <a:latin typeface="Aptos ExtraBold" panose="020B0004020202020204" pitchFamily="34" charset="0"/>
              </a:rPr>
              <a:t>Step 1:</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rPr>
              <a:t>Prepare all the data (mentioned in the input cells)  needed by the model to predict your sales properly.</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400" b="1" dirty="0">
                <a:solidFill>
                  <a:schemeClr val="tx1">
                    <a:lumMod val="65000"/>
                    <a:lumOff val="35000"/>
                  </a:schemeClr>
                </a:solidFill>
                <a:latin typeface="Aptos ExtraBold" panose="020B0004020202020204" pitchFamily="34" charset="0"/>
              </a:rPr>
              <a:t>Make sure that all the data is accurate.</a:t>
            </a:r>
            <a:endPar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9C4496E6-878C-0719-C426-DC37C7500BF5}"/>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a:t>
            </a:r>
            <a:r>
              <a:rPr lang="ar-EG" b="1" dirty="0"/>
              <a:t>7</a:t>
            </a:r>
            <a:endParaRPr lang="en-US" b="1" dirty="0"/>
          </a:p>
        </p:txBody>
      </p:sp>
      <p:pic>
        <p:nvPicPr>
          <p:cNvPr id="16" name="Picture 15">
            <a:extLst>
              <a:ext uri="{FF2B5EF4-FFF2-40B4-BE49-F238E27FC236}">
                <a16:creationId xmlns:a16="http://schemas.microsoft.com/office/drawing/2014/main" id="{C6816E20-6A07-026E-31CF-B6689DB6443A}"/>
              </a:ext>
            </a:extLst>
          </p:cNvPr>
          <p:cNvPicPr>
            <a:picLocks noChangeAspect="1"/>
          </p:cNvPicPr>
          <p:nvPr/>
        </p:nvPicPr>
        <p:blipFill>
          <a:blip r:embed="rId4"/>
          <a:srcRect/>
          <a:stretch/>
        </p:blipFill>
        <p:spPr>
          <a:xfrm>
            <a:off x="4558724" y="2174998"/>
            <a:ext cx="6810676" cy="3673509"/>
          </a:xfrm>
          <a:prstGeom prst="rect">
            <a:avLst/>
          </a:prstGeom>
          <a:ln w="3175" cap="sq">
            <a:solidFill>
              <a:srgbClr val="000000"/>
            </a:solidFill>
            <a:miter lim="800000"/>
          </a:ln>
          <a:effectLst>
            <a:outerShdw blurRad="57150" dist="50800" dir="2700000" algn="tl" rotWithShape="0">
              <a:srgbClr val="000000">
                <a:alpha val="40000"/>
              </a:srgbClr>
            </a:outerShdw>
            <a:softEdge rad="0"/>
          </a:effectLst>
        </p:spPr>
      </p:pic>
    </p:spTree>
    <p:extLst>
      <p:ext uri="{BB962C8B-B14F-4D97-AF65-F5344CB8AC3E}">
        <p14:creationId xmlns:p14="http://schemas.microsoft.com/office/powerpoint/2010/main" val="42223030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53AA77D-F504-0D77-F2BA-270E8C9293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8BA2E24-8A58-CFA4-1EC9-15910699443E}"/>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159C46D-50A4-2AA3-6160-A1A1B87BF26D}"/>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7C19468A-7986-4D5D-E09B-4052D54619C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dirty="0"/>
          </a:p>
        </p:txBody>
      </p:sp>
      <p:pic>
        <p:nvPicPr>
          <p:cNvPr id="110" name="Google Shape;110;p1" title="download.png">
            <a:extLst>
              <a:ext uri="{FF2B5EF4-FFF2-40B4-BE49-F238E27FC236}">
                <a16:creationId xmlns:a16="http://schemas.microsoft.com/office/drawing/2014/main" id="{0573C8C2-F582-7F3E-7E7A-239C6578ACCC}"/>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1934349-0F96-CC1B-D861-B6B25296B178}"/>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285F9581-9D3D-D570-4B82-1EC7C9951C4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60A821D9-A2A9-AC77-A5A0-4D1C218033EA}"/>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Deployment”</a:t>
            </a:r>
          </a:p>
        </p:txBody>
      </p:sp>
      <p:sp>
        <p:nvSpPr>
          <p:cNvPr id="7" name="Rectangle 1">
            <a:extLst>
              <a:ext uri="{FF2B5EF4-FFF2-40B4-BE49-F238E27FC236}">
                <a16:creationId xmlns:a16="http://schemas.microsoft.com/office/drawing/2014/main" id="{074263DD-2148-5BCB-78DB-4D1BF94E609C}"/>
              </a:ext>
            </a:extLst>
          </p:cNvPr>
          <p:cNvSpPr>
            <a:spLocks noChangeArrowheads="1"/>
          </p:cNvSpPr>
          <p:nvPr/>
        </p:nvSpPr>
        <p:spPr bwMode="auto">
          <a:xfrm>
            <a:off x="368759" y="2216544"/>
            <a:ext cx="4062996" cy="2231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solidFill>
                  <a:srgbClr val="1869A6"/>
                </a:solidFill>
                <a:latin typeface="Aptos ExtraBold" panose="020B0004020202020204" pitchFamily="34" charset="0"/>
              </a:rPr>
              <a:t>Step 2:</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500" b="1" dirty="0">
              <a:solidFill>
                <a:srgbClr val="1869A6"/>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rPr>
              <a:t>Fill in the cells.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400" b="1" dirty="0">
                <a:solidFill>
                  <a:schemeClr val="tx1">
                    <a:lumMod val="65000"/>
                    <a:lumOff val="35000"/>
                  </a:schemeClr>
                </a:solidFill>
                <a:latin typeface="Aptos ExtraBold" panose="020B0004020202020204" pitchFamily="34" charset="0"/>
              </a:rPr>
              <a:t>Review your inputs.</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lang="en-US" altLang="en-US" sz="500" b="1" dirty="0">
              <a:solidFill>
                <a:schemeClr val="tx1">
                  <a:lumMod val="65000"/>
                  <a:lumOff val="35000"/>
                </a:schemeClr>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lang="en-US" altLang="en-US" sz="500" b="1" dirty="0">
              <a:solidFill>
                <a:schemeClr val="tx1">
                  <a:lumMod val="65000"/>
                  <a:lumOff val="35000"/>
                </a:schemeClr>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rPr>
              <a:t>Press the run button.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1A328A09-EA2D-602A-9E46-5E3902F391AB}"/>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a:t>
            </a:r>
            <a:r>
              <a:rPr lang="ar-EG" b="1" dirty="0"/>
              <a:t>8</a:t>
            </a:r>
            <a:endParaRPr lang="en-US" b="1" dirty="0"/>
          </a:p>
        </p:txBody>
      </p:sp>
      <p:pic>
        <p:nvPicPr>
          <p:cNvPr id="16" name="Picture 15">
            <a:extLst>
              <a:ext uri="{FF2B5EF4-FFF2-40B4-BE49-F238E27FC236}">
                <a16:creationId xmlns:a16="http://schemas.microsoft.com/office/drawing/2014/main" id="{88AD576A-1469-2038-44AA-C4FE8B01ADB2}"/>
              </a:ext>
            </a:extLst>
          </p:cNvPr>
          <p:cNvPicPr>
            <a:picLocks noChangeAspect="1"/>
          </p:cNvPicPr>
          <p:nvPr/>
        </p:nvPicPr>
        <p:blipFill>
          <a:blip r:embed="rId4"/>
          <a:srcRect/>
          <a:stretch/>
        </p:blipFill>
        <p:spPr>
          <a:xfrm>
            <a:off x="4603152" y="2216545"/>
            <a:ext cx="6777244" cy="3621590"/>
          </a:xfrm>
          <a:prstGeom prst="rect">
            <a:avLst/>
          </a:prstGeom>
          <a:ln w="3175"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249111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42AE353-6F79-1F92-D526-51876430374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EFD8169-9C70-027E-4AE6-C7F436FBAAF6}"/>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DBDCF2BA-1BC5-A566-9CAF-34A2BF8C14C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99AA79F5-BBE5-D6F4-EB23-85C8D0B8785F}"/>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dirty="0"/>
          </a:p>
        </p:txBody>
      </p:sp>
      <p:pic>
        <p:nvPicPr>
          <p:cNvPr id="110" name="Google Shape;110;p1" title="download.png">
            <a:extLst>
              <a:ext uri="{FF2B5EF4-FFF2-40B4-BE49-F238E27FC236}">
                <a16:creationId xmlns:a16="http://schemas.microsoft.com/office/drawing/2014/main" id="{DD64BCEE-D84F-AF7E-ADA8-3E79C7892539}"/>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2451004F-165A-DDC7-277E-CD208BE6FC9C}"/>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Methodology</a:t>
            </a:r>
          </a:p>
        </p:txBody>
      </p:sp>
      <p:sp>
        <p:nvSpPr>
          <p:cNvPr id="8" name="Google Shape;105;p1">
            <a:extLst>
              <a:ext uri="{FF2B5EF4-FFF2-40B4-BE49-F238E27FC236}">
                <a16:creationId xmlns:a16="http://schemas.microsoft.com/office/drawing/2014/main" id="{A5EE8F7D-D090-75D2-F636-48E55BD35288}"/>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5" name="TextBox 4">
            <a:extLst>
              <a:ext uri="{FF2B5EF4-FFF2-40B4-BE49-F238E27FC236}">
                <a16:creationId xmlns:a16="http://schemas.microsoft.com/office/drawing/2014/main" id="{8C9281FE-1A25-5111-C45D-E29E09DDC73F}"/>
              </a:ext>
            </a:extLst>
          </p:cNvPr>
          <p:cNvSpPr txBox="1"/>
          <p:nvPr/>
        </p:nvSpPr>
        <p:spPr>
          <a:xfrm>
            <a:off x="1254171" y="1197433"/>
            <a:ext cx="9252202" cy="369332"/>
          </a:xfrm>
          <a:prstGeom prst="rect">
            <a:avLst/>
          </a:prstGeom>
          <a:noFill/>
        </p:spPr>
        <p:txBody>
          <a:bodyPr wrap="square" rtlCol="0">
            <a:spAutoFit/>
          </a:bodyPr>
          <a:lstStyle/>
          <a:p>
            <a:pPr algn="ctr"/>
            <a:r>
              <a:rPr lang="en-US" sz="1800" b="1" dirty="0">
                <a:solidFill>
                  <a:srgbClr val="0FAB7D"/>
                </a:solidFill>
                <a:latin typeface="Eras Bold ITC" panose="020B0907030504020204" pitchFamily="34" charset="0"/>
              </a:rPr>
              <a:t>“Model Deployment”</a:t>
            </a:r>
          </a:p>
        </p:txBody>
      </p:sp>
      <p:sp>
        <p:nvSpPr>
          <p:cNvPr id="7" name="Rectangle 1">
            <a:extLst>
              <a:ext uri="{FF2B5EF4-FFF2-40B4-BE49-F238E27FC236}">
                <a16:creationId xmlns:a16="http://schemas.microsoft.com/office/drawing/2014/main" id="{3A1F3AB5-2E34-E188-F1C6-F56B32A12759}"/>
              </a:ext>
            </a:extLst>
          </p:cNvPr>
          <p:cNvSpPr>
            <a:spLocks noChangeArrowheads="1"/>
          </p:cNvSpPr>
          <p:nvPr/>
        </p:nvSpPr>
        <p:spPr bwMode="auto">
          <a:xfrm>
            <a:off x="422099" y="2296692"/>
            <a:ext cx="4062996"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solidFill>
                  <a:srgbClr val="1869A6"/>
                </a:solidFill>
                <a:latin typeface="Aptos ExtraBold" panose="020B0004020202020204" pitchFamily="34" charset="0"/>
              </a:rPr>
              <a:t>Step 3:</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500" b="1" dirty="0">
              <a:solidFill>
                <a:srgbClr val="1869A6"/>
              </a:solidFill>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400" b="1" dirty="0">
                <a:solidFill>
                  <a:schemeClr val="tx1">
                    <a:lumMod val="65000"/>
                    <a:lumOff val="35000"/>
                  </a:schemeClr>
                </a:solidFill>
                <a:latin typeface="Aptos ExtraBold" panose="020B0004020202020204" pitchFamily="34" charset="0"/>
              </a:rPr>
              <a:t>The predicted weekly sales value will be displayed</a:t>
            </a:r>
            <a:r>
              <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5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2400" b="1" dirty="0">
                <a:solidFill>
                  <a:schemeClr val="tx1">
                    <a:lumMod val="65000"/>
                    <a:lumOff val="35000"/>
                  </a:schemeClr>
                </a:solidFill>
                <a:latin typeface="Aptos ExtraBold" panose="020B0004020202020204" pitchFamily="34" charset="0"/>
              </a:rPr>
              <a:t>Use it to enhance your future business strategy.</a:t>
            </a:r>
            <a:endParaRPr kumimoji="0" lang="en-US" altLang="en-US" sz="2400" b="1"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1869A6"/>
              </a:solidFill>
              <a:effectLst/>
              <a:latin typeface="Aptos ExtraBold" panose="020B0004020202020204" pitchFamily="34" charset="0"/>
            </a:endParaRPr>
          </a:p>
        </p:txBody>
      </p:sp>
      <p:sp>
        <p:nvSpPr>
          <p:cNvPr id="6" name="Google Shape;105;p1">
            <a:extLst>
              <a:ext uri="{FF2B5EF4-FFF2-40B4-BE49-F238E27FC236}">
                <a16:creationId xmlns:a16="http://schemas.microsoft.com/office/drawing/2014/main" id="{455FC30E-B557-3952-2D33-7FA5AE4064C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2</a:t>
            </a:r>
            <a:r>
              <a:rPr lang="ar-EG" b="1" dirty="0"/>
              <a:t>9</a:t>
            </a:r>
            <a:endParaRPr lang="en-US" b="1" dirty="0"/>
          </a:p>
        </p:txBody>
      </p:sp>
      <p:pic>
        <p:nvPicPr>
          <p:cNvPr id="16" name="Picture 15">
            <a:extLst>
              <a:ext uri="{FF2B5EF4-FFF2-40B4-BE49-F238E27FC236}">
                <a16:creationId xmlns:a16="http://schemas.microsoft.com/office/drawing/2014/main" id="{28C528D5-6EF1-530C-2923-69F953123EBC}"/>
              </a:ext>
            </a:extLst>
          </p:cNvPr>
          <p:cNvPicPr>
            <a:picLocks noChangeAspect="1"/>
          </p:cNvPicPr>
          <p:nvPr/>
        </p:nvPicPr>
        <p:blipFill>
          <a:blip r:embed="rId4"/>
          <a:srcRect/>
          <a:stretch/>
        </p:blipFill>
        <p:spPr>
          <a:xfrm>
            <a:off x="4777569" y="2223216"/>
            <a:ext cx="6577735" cy="3539644"/>
          </a:xfrm>
          <a:prstGeom prst="rect">
            <a:avLst/>
          </a:prstGeom>
        </p:spPr>
      </p:pic>
      <p:cxnSp>
        <p:nvCxnSpPr>
          <p:cNvPr id="10" name="Straight Arrow Connector 9">
            <a:extLst>
              <a:ext uri="{FF2B5EF4-FFF2-40B4-BE49-F238E27FC236}">
                <a16:creationId xmlns:a16="http://schemas.microsoft.com/office/drawing/2014/main" id="{D5CCE736-B737-5BF9-04B2-4D6FB0A48B38}"/>
              </a:ext>
            </a:extLst>
          </p:cNvPr>
          <p:cNvCxnSpPr>
            <a:cxnSpLocks/>
          </p:cNvCxnSpPr>
          <p:nvPr/>
        </p:nvCxnSpPr>
        <p:spPr>
          <a:xfrm flipH="1" flipV="1">
            <a:off x="8482399" y="5502791"/>
            <a:ext cx="347932" cy="762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22D76453-C4D4-1BC4-D2FB-42E6914ECDB7}"/>
              </a:ext>
            </a:extLst>
          </p:cNvPr>
          <p:cNvCxnSpPr>
            <a:cxnSpLocks/>
          </p:cNvCxnSpPr>
          <p:nvPr/>
        </p:nvCxnSpPr>
        <p:spPr>
          <a:xfrm>
            <a:off x="7234975" y="5502791"/>
            <a:ext cx="392645" cy="0"/>
          </a:xfrm>
          <a:prstGeom prst="straightConnector1">
            <a:avLst/>
          </a:prstGeom>
          <a:ln>
            <a:solidFill>
              <a:srgbClr val="FF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823123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26B606D-068F-A741-D2D2-A7826216FD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B4BF26-B6AE-D851-7069-015D0B662D12}"/>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E86387C9-E3B1-9E35-A0A3-C4926AFC73BA}"/>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B19CA169-D057-D5EE-4450-0A4E03AA469C}"/>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dirty="0"/>
          </a:p>
        </p:txBody>
      </p:sp>
      <p:pic>
        <p:nvPicPr>
          <p:cNvPr id="110" name="Google Shape;110;p1" title="download.png">
            <a:extLst>
              <a:ext uri="{FF2B5EF4-FFF2-40B4-BE49-F238E27FC236}">
                <a16:creationId xmlns:a16="http://schemas.microsoft.com/office/drawing/2014/main" id="{D422791A-4873-0507-F129-01CD14918F34}"/>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BDC8916-14A0-9CEF-0B06-32F495182946}"/>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Conclusion</a:t>
            </a:r>
          </a:p>
        </p:txBody>
      </p:sp>
      <p:sp>
        <p:nvSpPr>
          <p:cNvPr id="8" name="Google Shape;105;p1">
            <a:extLst>
              <a:ext uri="{FF2B5EF4-FFF2-40B4-BE49-F238E27FC236}">
                <a16:creationId xmlns:a16="http://schemas.microsoft.com/office/drawing/2014/main" id="{FF1DDEF3-BADF-0CF6-1C06-B051B5E8850C}"/>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6" name="Google Shape;105;p1">
            <a:extLst>
              <a:ext uri="{FF2B5EF4-FFF2-40B4-BE49-F238E27FC236}">
                <a16:creationId xmlns:a16="http://schemas.microsoft.com/office/drawing/2014/main" id="{269230C8-8DC6-1850-6F1A-C4B8B3CCE9C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30</a:t>
            </a:r>
          </a:p>
        </p:txBody>
      </p:sp>
      <p:sp>
        <p:nvSpPr>
          <p:cNvPr id="9" name="Rectangle 1">
            <a:extLst>
              <a:ext uri="{FF2B5EF4-FFF2-40B4-BE49-F238E27FC236}">
                <a16:creationId xmlns:a16="http://schemas.microsoft.com/office/drawing/2014/main" id="{00FA5B08-99E0-8256-F6A2-E53E54CB66AE}"/>
              </a:ext>
            </a:extLst>
          </p:cNvPr>
          <p:cNvSpPr>
            <a:spLocks noChangeArrowheads="1"/>
          </p:cNvSpPr>
          <p:nvPr/>
        </p:nvSpPr>
        <p:spPr bwMode="auto">
          <a:xfrm>
            <a:off x="396689" y="1206867"/>
            <a:ext cx="997226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rgbClr val="1869A6"/>
              </a:solidFill>
              <a:effectLst/>
              <a:latin typeface="Aptos ExtraBold" panose="020B0004020202020204" pitchFamily="34" charset="0"/>
            </a:endParaRPr>
          </a:p>
          <a:p>
            <a:pPr marR="0" lvl="0" algn="just" defTabSz="914400" rtl="0" eaLnBrk="0" fontAlgn="base" latinLnBrk="0" hangingPunct="0">
              <a:lnSpc>
                <a:spcPct val="100000"/>
              </a:lnSpc>
              <a:spcBef>
                <a:spcPct val="0"/>
              </a:spcBef>
              <a:spcAft>
                <a:spcPct val="0"/>
              </a:spcAft>
              <a:buClrTx/>
              <a:buSzTx/>
              <a:tabLst/>
            </a:pPr>
            <a:r>
              <a:rPr lang="en-US" altLang="en-US" sz="2000" b="1" dirty="0">
                <a:solidFill>
                  <a:srgbClr val="1869A6"/>
                </a:solidFill>
                <a:latin typeface="Aptos ExtraBold" panose="020B0004020202020204" pitchFamily="34" charset="0"/>
              </a:rPr>
              <a:t>Key Achievements:</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lang="en-US" altLang="en-US" sz="1800" dirty="0">
                <a:solidFill>
                  <a:schemeClr val="tx1">
                    <a:lumMod val="65000"/>
                    <a:lumOff val="35000"/>
                  </a:schemeClr>
                </a:solidFill>
                <a:latin typeface="Aptos ExtraBold" panose="020B0004020202020204" pitchFamily="34" charset="0"/>
              </a:rPr>
              <a:t>Developed a robust machine learning model (</a:t>
            </a:r>
            <a:r>
              <a:rPr lang="en-US" altLang="en-US" sz="1800" dirty="0" err="1">
                <a:solidFill>
                  <a:schemeClr val="tx1">
                    <a:lumMod val="65000"/>
                    <a:lumOff val="35000"/>
                  </a:schemeClr>
                </a:solidFill>
                <a:latin typeface="Aptos ExtraBold" panose="020B0004020202020204" pitchFamily="34" charset="0"/>
              </a:rPr>
              <a:t>XGBoost</a:t>
            </a:r>
            <a:r>
              <a:rPr lang="en-US" altLang="en-US" sz="1800" dirty="0">
                <a:solidFill>
                  <a:schemeClr val="tx1">
                    <a:lumMod val="65000"/>
                    <a:lumOff val="35000"/>
                  </a:schemeClr>
                </a:solidFill>
                <a:latin typeface="Aptos ExtraBold" panose="020B0004020202020204" pitchFamily="34" charset="0"/>
              </a:rPr>
              <a:t> with log transformation) for accurate sales forecasting, achieving an R² score of 0.87 on test data.</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400" u="none" strike="noStrike" cap="none" normalizeH="0" baseline="0" dirty="0">
              <a:ln>
                <a:noFill/>
              </a:ln>
              <a:solidFill>
                <a:schemeClr val="tx1"/>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u="none" strike="noStrike" cap="none" normalizeH="0" baseline="0" dirty="0">
                <a:ln>
                  <a:noFill/>
                </a:ln>
                <a:solidFill>
                  <a:schemeClr val="tx1">
                    <a:lumMod val="65000"/>
                    <a:lumOff val="35000"/>
                  </a:schemeClr>
                </a:solidFill>
                <a:effectLst/>
                <a:latin typeface="Aptos ExtraBold" panose="020B0004020202020204" pitchFamily="34" charset="0"/>
              </a:rPr>
              <a:t>Identified critical seasonal trends, customer behaviors, and high-performing segments through comprehensive EDA.</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40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rPr>
              <a:t>Engineered features like time-based variables and lag features to enhance model performance.</a:t>
            </a:r>
          </a:p>
          <a:p>
            <a:pPr marR="0" lvl="0" algn="just" defTabSz="914400" rtl="0" eaLnBrk="0" fontAlgn="base" latinLnBrk="0" hangingPunct="0">
              <a:lnSpc>
                <a:spcPct val="100000"/>
              </a:lnSpc>
              <a:spcBef>
                <a:spcPct val="0"/>
              </a:spcBef>
              <a:spcAft>
                <a:spcPct val="0"/>
              </a:spcAft>
              <a:buClrTx/>
              <a:buSzTx/>
              <a:tabLst/>
            </a:pPr>
            <a:endParaRPr kumimoji="0" lang="en-US" altLang="en-US" sz="4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rPr>
              <a:t>Deployed a user-friendly Flask API to enable real-time demand predictions for business decision-making.</a:t>
            </a:r>
          </a:p>
          <a:p>
            <a:pPr marL="342900" marR="0" lvl="0" indent="-342900" algn="just"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endParaRPr kumimoji="0" lang="en-US" altLang="en-US" sz="900" b="0" i="0" u="none" strike="noStrike" cap="none" normalizeH="0" baseline="0" dirty="0">
              <a:ln>
                <a:noFill/>
              </a:ln>
              <a:solidFill>
                <a:schemeClr val="tx1">
                  <a:lumMod val="65000"/>
                  <a:lumOff val="35000"/>
                </a:schemeClr>
              </a:solidFill>
              <a:effectLst/>
              <a:latin typeface="Aptos ExtraBold" panose="020B0004020202020204" pitchFamily="34" charset="0"/>
            </a:endParaRPr>
          </a:p>
          <a:p>
            <a:pPr algn="just" eaLnBrk="0" fontAlgn="base" hangingPunct="0">
              <a:spcBef>
                <a:spcPct val="0"/>
              </a:spcBef>
              <a:spcAft>
                <a:spcPct val="0"/>
              </a:spcAft>
              <a:buClrTx/>
            </a:pPr>
            <a:r>
              <a:rPr lang="en-US" sz="2000" b="1" dirty="0">
                <a:solidFill>
                  <a:srgbClr val="1869A6"/>
                </a:solidFill>
                <a:latin typeface="Aptos ExtraBold" panose="020B0004020202020204" pitchFamily="34" charset="0"/>
              </a:rPr>
              <a:t>Business Impact:</a:t>
            </a:r>
          </a:p>
          <a:p>
            <a:pPr marL="285750" indent="-285750" algn="just">
              <a:lnSpc>
                <a:spcPts val="2143"/>
              </a:lnSpc>
              <a:spcBef>
                <a:spcPts val="1029"/>
              </a:spcBef>
              <a:spcAft>
                <a:spcPts val="1029"/>
              </a:spcAft>
              <a:buFont typeface="Courier New" panose="02070309020205020404" pitchFamily="49" charset="0"/>
              <a:buChar char="o"/>
            </a:pPr>
            <a:r>
              <a:rPr lang="en-US" sz="1800" dirty="0">
                <a:solidFill>
                  <a:schemeClr val="tx1">
                    <a:lumMod val="65000"/>
                    <a:lumOff val="35000"/>
                  </a:schemeClr>
                </a:solidFill>
                <a:latin typeface="Aptos ExtraBold" panose="020B0004020202020204" pitchFamily="34" charset="0"/>
              </a:rPr>
              <a:t>Reduces stockouts and overstocking by aligning inventory with predicted demand.</a:t>
            </a:r>
          </a:p>
          <a:p>
            <a:pPr marL="285750" indent="-285750" algn="just">
              <a:lnSpc>
                <a:spcPts val="2143"/>
              </a:lnSpc>
              <a:spcBef>
                <a:spcPts val="300"/>
              </a:spcBef>
              <a:spcAft>
                <a:spcPts val="1029"/>
              </a:spcAft>
              <a:buFont typeface="Courier New" panose="02070309020205020404" pitchFamily="49" charset="0"/>
              <a:buChar char="o"/>
            </a:pPr>
            <a:r>
              <a:rPr lang="en-US" sz="1800" dirty="0">
                <a:solidFill>
                  <a:schemeClr val="tx1">
                    <a:lumMod val="65000"/>
                    <a:lumOff val="35000"/>
                  </a:schemeClr>
                </a:solidFill>
                <a:latin typeface="Aptos ExtraBold" panose="020B0004020202020204" pitchFamily="34" charset="0"/>
              </a:rPr>
              <a:t>Improves operational efficiency through data-driven planning for marketing, staffing, and supply chain.</a:t>
            </a:r>
          </a:p>
          <a:p>
            <a:pPr marR="0" lvl="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lumMod val="65000"/>
                  <a:lumOff val="35000"/>
                </a:schemeClr>
              </a:solidFill>
              <a:effectLst/>
              <a:latin typeface="Aptos ExtraBold" panose="020B0004020202020204" pitchFamily="34" charset="0"/>
            </a:endParaRPr>
          </a:p>
        </p:txBody>
      </p:sp>
    </p:spTree>
    <p:extLst>
      <p:ext uri="{BB962C8B-B14F-4D97-AF65-F5344CB8AC3E}">
        <p14:creationId xmlns:p14="http://schemas.microsoft.com/office/powerpoint/2010/main" val="616785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50904E2-821B-67E8-48E3-89390B60160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B2EB67-2032-3749-E033-61330A93576B}"/>
              </a:ext>
            </a:extLst>
          </p:cNvPr>
          <p:cNvSpPr/>
          <p:nvPr/>
        </p:nvSpPr>
        <p:spPr>
          <a:xfrm>
            <a:off x="62863"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FF958891-7080-F35A-A3CA-337DA004DF74}"/>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69867C2A-692E-C0E2-397F-E0ABFC4AE4E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dirty="0"/>
          </a:p>
        </p:txBody>
      </p:sp>
      <p:pic>
        <p:nvPicPr>
          <p:cNvPr id="110" name="Google Shape;110;p1" title="download.png">
            <a:extLst>
              <a:ext uri="{FF2B5EF4-FFF2-40B4-BE49-F238E27FC236}">
                <a16:creationId xmlns:a16="http://schemas.microsoft.com/office/drawing/2014/main" id="{FB198763-3D60-FAD0-AF1D-FF61DBDBC796}"/>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B6140436-2142-B4AD-5B8F-D24CE653492B}"/>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Tools &amp; Technologies Used</a:t>
            </a:r>
          </a:p>
        </p:txBody>
      </p:sp>
      <p:sp>
        <p:nvSpPr>
          <p:cNvPr id="8" name="Google Shape;105;p1">
            <a:extLst>
              <a:ext uri="{FF2B5EF4-FFF2-40B4-BE49-F238E27FC236}">
                <a16:creationId xmlns:a16="http://schemas.microsoft.com/office/drawing/2014/main" id="{255B53D9-FD3E-748C-9D33-C53778B1672B}"/>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6" name="Google Shape;105;p1">
            <a:extLst>
              <a:ext uri="{FF2B5EF4-FFF2-40B4-BE49-F238E27FC236}">
                <a16:creationId xmlns:a16="http://schemas.microsoft.com/office/drawing/2014/main" id="{B78B71B0-634E-F83E-3AB9-EB076816C0A7}"/>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3</a:t>
            </a:r>
            <a:r>
              <a:rPr lang="en-US" b="1" dirty="0"/>
              <a:t>1</a:t>
            </a:r>
            <a:endParaRPr lang="ar-EG" b="1" dirty="0"/>
          </a:p>
        </p:txBody>
      </p:sp>
      <p:graphicFrame>
        <p:nvGraphicFramePr>
          <p:cNvPr id="9" name="Table 8">
            <a:extLst>
              <a:ext uri="{FF2B5EF4-FFF2-40B4-BE49-F238E27FC236}">
                <a16:creationId xmlns:a16="http://schemas.microsoft.com/office/drawing/2014/main" id="{C093875E-8FC0-68C3-8F3A-6B394490D2BA}"/>
              </a:ext>
            </a:extLst>
          </p:cNvPr>
          <p:cNvGraphicFramePr>
            <a:graphicFrameLocks noGrp="1"/>
          </p:cNvGraphicFramePr>
          <p:nvPr>
            <p:extLst>
              <p:ext uri="{D42A27DB-BD31-4B8C-83A1-F6EECF244321}">
                <p14:modId xmlns:p14="http://schemas.microsoft.com/office/powerpoint/2010/main" val="3058050320"/>
              </p:ext>
            </p:extLst>
          </p:nvPr>
        </p:nvGraphicFramePr>
        <p:xfrm>
          <a:off x="951308" y="1727200"/>
          <a:ext cx="10487316" cy="4267200"/>
        </p:xfrm>
        <a:graphic>
          <a:graphicData uri="http://schemas.openxmlformats.org/drawingml/2006/table">
            <a:tbl>
              <a:tblPr firstRow="1" bandRow="1">
                <a:tableStyleId>{2D5ABB26-0587-4C30-8999-92F81FD0307C}</a:tableStyleId>
              </a:tblPr>
              <a:tblGrid>
                <a:gridCol w="3495772">
                  <a:extLst>
                    <a:ext uri="{9D8B030D-6E8A-4147-A177-3AD203B41FA5}">
                      <a16:colId xmlns:a16="http://schemas.microsoft.com/office/drawing/2014/main" val="357635865"/>
                    </a:ext>
                  </a:extLst>
                </a:gridCol>
                <a:gridCol w="3495772">
                  <a:extLst>
                    <a:ext uri="{9D8B030D-6E8A-4147-A177-3AD203B41FA5}">
                      <a16:colId xmlns:a16="http://schemas.microsoft.com/office/drawing/2014/main" val="1561211802"/>
                    </a:ext>
                  </a:extLst>
                </a:gridCol>
                <a:gridCol w="3495772">
                  <a:extLst>
                    <a:ext uri="{9D8B030D-6E8A-4147-A177-3AD203B41FA5}">
                      <a16:colId xmlns:a16="http://schemas.microsoft.com/office/drawing/2014/main" val="2971925091"/>
                    </a:ext>
                  </a:extLst>
                </a:gridCol>
              </a:tblGrid>
              <a:tr h="1422400">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48492876"/>
                  </a:ext>
                </a:extLst>
              </a:tr>
              <a:tr h="142240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2181530"/>
                  </a:ext>
                </a:extLst>
              </a:tr>
              <a:tr h="142240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61145018"/>
                  </a:ext>
                </a:extLst>
              </a:tr>
            </a:tbl>
          </a:graphicData>
        </a:graphic>
      </p:graphicFrame>
      <p:pic>
        <p:nvPicPr>
          <p:cNvPr id="16" name="Picture 15" descr="A blue text on a black background&#10;&#10;AI-generated content may be incorrect.">
            <a:extLst>
              <a:ext uri="{FF2B5EF4-FFF2-40B4-BE49-F238E27FC236}">
                <a16:creationId xmlns:a16="http://schemas.microsoft.com/office/drawing/2014/main" id="{1B68AA6B-80CB-7536-52A6-A9F8BFD373A2}"/>
              </a:ext>
            </a:extLst>
          </p:cNvPr>
          <p:cNvPicPr>
            <a:picLocks noChangeAspect="1"/>
          </p:cNvPicPr>
          <p:nvPr/>
        </p:nvPicPr>
        <p:blipFill>
          <a:blip r:embed="rId4"/>
          <a:stretch>
            <a:fillRect/>
          </a:stretch>
        </p:blipFill>
        <p:spPr>
          <a:xfrm>
            <a:off x="1394081" y="2139172"/>
            <a:ext cx="1671590" cy="635205"/>
          </a:xfrm>
          <a:prstGeom prst="rect">
            <a:avLst/>
          </a:prstGeom>
        </p:spPr>
      </p:pic>
      <p:pic>
        <p:nvPicPr>
          <p:cNvPr id="17" name="Picture 16" descr="A logo with orange circles and grey dots&#10;&#10;AI-generated content may be incorrect.">
            <a:extLst>
              <a:ext uri="{FF2B5EF4-FFF2-40B4-BE49-F238E27FC236}">
                <a16:creationId xmlns:a16="http://schemas.microsoft.com/office/drawing/2014/main" id="{D2C8DA28-4A6F-545C-B1C6-47B8AB1ABCB3}"/>
              </a:ext>
            </a:extLst>
          </p:cNvPr>
          <p:cNvPicPr>
            <a:picLocks noChangeAspect="1"/>
          </p:cNvPicPr>
          <p:nvPr/>
        </p:nvPicPr>
        <p:blipFill>
          <a:blip r:embed="rId5"/>
          <a:stretch>
            <a:fillRect/>
          </a:stretch>
        </p:blipFill>
        <p:spPr>
          <a:xfrm>
            <a:off x="5224557" y="3318443"/>
            <a:ext cx="1065904" cy="1248132"/>
          </a:xfrm>
          <a:prstGeom prst="rect">
            <a:avLst/>
          </a:prstGeom>
        </p:spPr>
      </p:pic>
      <p:pic>
        <p:nvPicPr>
          <p:cNvPr id="18" name="Picture 17" descr="A blue and black logo&#10;&#10;AI-generated content may be incorrect.">
            <a:extLst>
              <a:ext uri="{FF2B5EF4-FFF2-40B4-BE49-F238E27FC236}">
                <a16:creationId xmlns:a16="http://schemas.microsoft.com/office/drawing/2014/main" id="{C2B7AAF3-8EB4-8EA9-52A8-6025FA52EB17}"/>
              </a:ext>
            </a:extLst>
          </p:cNvPr>
          <p:cNvPicPr>
            <a:picLocks noChangeAspect="1"/>
          </p:cNvPicPr>
          <p:nvPr/>
        </p:nvPicPr>
        <p:blipFill>
          <a:blip r:embed="rId6"/>
          <a:stretch>
            <a:fillRect/>
          </a:stretch>
        </p:blipFill>
        <p:spPr>
          <a:xfrm>
            <a:off x="4666206" y="2189076"/>
            <a:ext cx="2548179" cy="754261"/>
          </a:xfrm>
          <a:prstGeom prst="rect">
            <a:avLst/>
          </a:prstGeom>
        </p:spPr>
      </p:pic>
      <p:pic>
        <p:nvPicPr>
          <p:cNvPr id="19" name="Picture 18" descr="A green and white file with a green label&#10;&#10;AI-generated content may be incorrect.">
            <a:extLst>
              <a:ext uri="{FF2B5EF4-FFF2-40B4-BE49-F238E27FC236}">
                <a16:creationId xmlns:a16="http://schemas.microsoft.com/office/drawing/2014/main" id="{CF291561-8131-3944-D93A-10C18C10D908}"/>
              </a:ext>
            </a:extLst>
          </p:cNvPr>
          <p:cNvPicPr>
            <a:picLocks noChangeAspect="1"/>
          </p:cNvPicPr>
          <p:nvPr/>
        </p:nvPicPr>
        <p:blipFill>
          <a:blip r:embed="rId7"/>
          <a:stretch>
            <a:fillRect/>
          </a:stretch>
        </p:blipFill>
        <p:spPr>
          <a:xfrm>
            <a:off x="1499908" y="3374380"/>
            <a:ext cx="986664" cy="986664"/>
          </a:xfrm>
          <a:prstGeom prst="rect">
            <a:avLst/>
          </a:prstGeom>
        </p:spPr>
      </p:pic>
      <p:pic>
        <p:nvPicPr>
          <p:cNvPr id="20" name="Picture 19" descr="A blue and black logo&#10;&#10;AI-generated content may be incorrect.">
            <a:extLst>
              <a:ext uri="{FF2B5EF4-FFF2-40B4-BE49-F238E27FC236}">
                <a16:creationId xmlns:a16="http://schemas.microsoft.com/office/drawing/2014/main" id="{CCE41BF5-19BB-B960-7F94-BDCDE51A031B}"/>
              </a:ext>
            </a:extLst>
          </p:cNvPr>
          <p:cNvPicPr>
            <a:picLocks noChangeAspect="1"/>
          </p:cNvPicPr>
          <p:nvPr/>
        </p:nvPicPr>
        <p:blipFill>
          <a:blip r:embed="rId8"/>
          <a:stretch>
            <a:fillRect/>
          </a:stretch>
        </p:blipFill>
        <p:spPr>
          <a:xfrm>
            <a:off x="8887388" y="2159164"/>
            <a:ext cx="2322637" cy="814084"/>
          </a:xfrm>
          <a:prstGeom prst="rect">
            <a:avLst/>
          </a:prstGeom>
        </p:spPr>
      </p:pic>
      <p:pic>
        <p:nvPicPr>
          <p:cNvPr id="21" name="Picture 20" descr="A blue and black logo&#10;&#10;AI-generated content may be incorrect.">
            <a:extLst>
              <a:ext uri="{FF2B5EF4-FFF2-40B4-BE49-F238E27FC236}">
                <a16:creationId xmlns:a16="http://schemas.microsoft.com/office/drawing/2014/main" id="{E207ECF9-7187-857C-9DFF-11203010C953}"/>
              </a:ext>
            </a:extLst>
          </p:cNvPr>
          <p:cNvPicPr>
            <a:picLocks noChangeAspect="1"/>
          </p:cNvPicPr>
          <p:nvPr/>
        </p:nvPicPr>
        <p:blipFill>
          <a:blip r:embed="rId9"/>
          <a:stretch>
            <a:fillRect/>
          </a:stretch>
        </p:blipFill>
        <p:spPr>
          <a:xfrm>
            <a:off x="8306393" y="4976658"/>
            <a:ext cx="2748172" cy="655439"/>
          </a:xfrm>
          <a:prstGeom prst="rect">
            <a:avLst/>
          </a:prstGeom>
        </p:spPr>
      </p:pic>
      <p:pic>
        <p:nvPicPr>
          <p:cNvPr id="22" name="Picture 21" descr="A black and grey logo&#10;&#10;AI-generated content may be incorrect.">
            <a:extLst>
              <a:ext uri="{FF2B5EF4-FFF2-40B4-BE49-F238E27FC236}">
                <a16:creationId xmlns:a16="http://schemas.microsoft.com/office/drawing/2014/main" id="{537944D9-F158-3C85-FC7E-C0A5D39DFCCF}"/>
              </a:ext>
            </a:extLst>
          </p:cNvPr>
          <p:cNvPicPr>
            <a:picLocks noChangeAspect="1"/>
          </p:cNvPicPr>
          <p:nvPr/>
        </p:nvPicPr>
        <p:blipFill>
          <a:blip r:embed="rId10"/>
          <a:stretch>
            <a:fillRect/>
          </a:stretch>
        </p:blipFill>
        <p:spPr>
          <a:xfrm>
            <a:off x="1085946" y="4991409"/>
            <a:ext cx="1979725" cy="640688"/>
          </a:xfrm>
          <a:prstGeom prst="rect">
            <a:avLst/>
          </a:prstGeom>
        </p:spPr>
      </p:pic>
      <p:pic>
        <p:nvPicPr>
          <p:cNvPr id="23" name="Picture 22" descr="A blue and white circle with a colorful circle and a blue letter&#10;&#10;AI-generated content may be incorrect.">
            <a:extLst>
              <a:ext uri="{FF2B5EF4-FFF2-40B4-BE49-F238E27FC236}">
                <a16:creationId xmlns:a16="http://schemas.microsoft.com/office/drawing/2014/main" id="{B352A7EA-3AAA-6089-D482-D3FAF9D5D759}"/>
              </a:ext>
            </a:extLst>
          </p:cNvPr>
          <p:cNvPicPr>
            <a:picLocks noChangeAspect="1"/>
          </p:cNvPicPr>
          <p:nvPr/>
        </p:nvPicPr>
        <p:blipFill>
          <a:blip r:embed="rId11"/>
          <a:stretch>
            <a:fillRect/>
          </a:stretch>
        </p:blipFill>
        <p:spPr>
          <a:xfrm>
            <a:off x="4530667" y="5154446"/>
            <a:ext cx="2474003" cy="497274"/>
          </a:xfrm>
          <a:prstGeom prst="rect">
            <a:avLst/>
          </a:prstGeom>
        </p:spPr>
      </p:pic>
      <p:pic>
        <p:nvPicPr>
          <p:cNvPr id="24" name="Picture 23" descr="A blue and orange circle with black text&#10;&#10;AI-generated content may be incorrect.">
            <a:extLst>
              <a:ext uri="{FF2B5EF4-FFF2-40B4-BE49-F238E27FC236}">
                <a16:creationId xmlns:a16="http://schemas.microsoft.com/office/drawing/2014/main" id="{4C95749B-3C42-EB1D-0D6C-C60FEFD28CC1}"/>
              </a:ext>
            </a:extLst>
          </p:cNvPr>
          <p:cNvPicPr>
            <a:picLocks noChangeAspect="1"/>
          </p:cNvPicPr>
          <p:nvPr/>
        </p:nvPicPr>
        <p:blipFill>
          <a:blip r:embed="rId12"/>
          <a:stretch>
            <a:fillRect/>
          </a:stretch>
        </p:blipFill>
        <p:spPr>
          <a:xfrm>
            <a:off x="8806625" y="3497107"/>
            <a:ext cx="1671589" cy="901822"/>
          </a:xfrm>
          <a:prstGeom prst="rect">
            <a:avLst/>
          </a:prstGeom>
        </p:spPr>
      </p:pic>
    </p:spTree>
    <p:extLst>
      <p:ext uri="{BB962C8B-B14F-4D97-AF65-F5344CB8AC3E}">
        <p14:creationId xmlns:p14="http://schemas.microsoft.com/office/powerpoint/2010/main" val="1771895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1F0A33B-1481-6E9A-67CA-0B9F1B03C8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601EEF-74B0-2E41-4254-60E313BA7018}"/>
              </a:ext>
            </a:extLst>
          </p:cNvPr>
          <p:cNvSpPr/>
          <p:nvPr/>
        </p:nvSpPr>
        <p:spPr>
          <a:xfrm>
            <a:off x="0" y="1727200"/>
            <a:ext cx="6453140" cy="5130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Google Shape;105;p1">
            <a:extLst>
              <a:ext uri="{FF2B5EF4-FFF2-40B4-BE49-F238E27FC236}">
                <a16:creationId xmlns:a16="http://schemas.microsoft.com/office/drawing/2014/main" id="{3AB0B15B-ECF6-85FF-FAED-6A23867F89F3}"/>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5/8/25</a:t>
            </a:r>
            <a:endParaRPr dirty="0"/>
          </a:p>
        </p:txBody>
      </p:sp>
      <p:sp>
        <p:nvSpPr>
          <p:cNvPr id="107" name="Google Shape;107;p1">
            <a:extLst>
              <a:ext uri="{FF2B5EF4-FFF2-40B4-BE49-F238E27FC236}">
                <a16:creationId xmlns:a16="http://schemas.microsoft.com/office/drawing/2014/main" id="{D7CCCB57-92F8-1ECF-A247-36AD37D4473B}"/>
              </a:ext>
            </a:extLst>
          </p:cNvPr>
          <p:cNvSpPr txBox="1">
            <a:spLocks noGrp="1"/>
          </p:cNvSpPr>
          <p:nvPr>
            <p:ph type="sldNum" idx="12"/>
          </p:nvPr>
        </p:nvSpPr>
        <p:spPr>
          <a:xfrm>
            <a:off x="9190825" y="6356350"/>
            <a:ext cx="102285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dirty="0"/>
          </a:p>
        </p:txBody>
      </p:sp>
      <p:pic>
        <p:nvPicPr>
          <p:cNvPr id="110" name="Google Shape;110;p1" title="download.png">
            <a:extLst>
              <a:ext uri="{FF2B5EF4-FFF2-40B4-BE49-F238E27FC236}">
                <a16:creationId xmlns:a16="http://schemas.microsoft.com/office/drawing/2014/main" id="{15D8ACAF-3243-9DFE-81AD-1202193991DD}"/>
              </a:ext>
            </a:extLst>
          </p:cNvPr>
          <p:cNvPicPr preferRelativeResize="0"/>
          <p:nvPr/>
        </p:nvPicPr>
        <p:blipFill>
          <a:blip r:embed="rId3">
            <a:alphaModFix/>
          </a:blip>
          <a:stretch>
            <a:fillRect/>
          </a:stretch>
        </p:blipFill>
        <p:spPr>
          <a:xfrm>
            <a:off x="9190825" y="6356350"/>
            <a:ext cx="903191" cy="365125"/>
          </a:xfrm>
          <a:prstGeom prst="rect">
            <a:avLst/>
          </a:prstGeom>
          <a:noFill/>
          <a:ln>
            <a:noFill/>
          </a:ln>
        </p:spPr>
      </p:pic>
      <p:sp>
        <p:nvSpPr>
          <p:cNvPr id="2" name="TextBox 1">
            <a:extLst>
              <a:ext uri="{FF2B5EF4-FFF2-40B4-BE49-F238E27FC236}">
                <a16:creationId xmlns:a16="http://schemas.microsoft.com/office/drawing/2014/main" id="{DB3825D6-E774-C1D6-F196-96DAC6429C86}"/>
              </a:ext>
            </a:extLst>
          </p:cNvPr>
          <p:cNvSpPr txBox="1"/>
          <p:nvPr/>
        </p:nvSpPr>
        <p:spPr>
          <a:xfrm>
            <a:off x="1254171" y="369888"/>
            <a:ext cx="9252202" cy="769441"/>
          </a:xfrm>
          <a:prstGeom prst="rect">
            <a:avLst/>
          </a:prstGeom>
          <a:noFill/>
        </p:spPr>
        <p:txBody>
          <a:bodyPr wrap="square" rtlCol="0">
            <a:spAutoFit/>
          </a:bodyPr>
          <a:lstStyle/>
          <a:p>
            <a:pPr algn="ctr"/>
            <a:r>
              <a:rPr lang="en-US" sz="4400" b="1" dirty="0">
                <a:solidFill>
                  <a:srgbClr val="1869A6"/>
                </a:solidFill>
                <a:latin typeface="Eras Bold ITC" panose="020B0907030504020204" pitchFamily="34" charset="0"/>
              </a:rPr>
              <a:t>Thank you</a:t>
            </a:r>
          </a:p>
        </p:txBody>
      </p:sp>
      <p:sp>
        <p:nvSpPr>
          <p:cNvPr id="8" name="Google Shape;105;p1">
            <a:extLst>
              <a:ext uri="{FF2B5EF4-FFF2-40B4-BE49-F238E27FC236}">
                <a16:creationId xmlns:a16="http://schemas.microsoft.com/office/drawing/2014/main" id="{5FD13E9E-12B2-0A71-0923-B6F2B4C343EA}"/>
              </a:ext>
            </a:extLst>
          </p:cNvPr>
          <p:cNvSpPr txBox="1">
            <a:spLocks/>
          </p:cNvSpPr>
          <p:nvPr/>
        </p:nvSpPr>
        <p:spPr>
          <a:xfrm>
            <a:off x="951309" y="6394450"/>
            <a:ext cx="2743200" cy="365125"/>
          </a:xfrm>
          <a:prstGeom prst="rect">
            <a:avLst/>
          </a:prstGeom>
          <a:solidFill>
            <a:srgbClr val="1869A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b="1" dirty="0"/>
              <a:t>05/08/2025</a:t>
            </a:r>
          </a:p>
        </p:txBody>
      </p:sp>
      <p:sp>
        <p:nvSpPr>
          <p:cNvPr id="6" name="Google Shape;105;p1">
            <a:extLst>
              <a:ext uri="{FF2B5EF4-FFF2-40B4-BE49-F238E27FC236}">
                <a16:creationId xmlns:a16="http://schemas.microsoft.com/office/drawing/2014/main" id="{E6014915-D888-F246-0F77-9A5D6CD296B1}"/>
              </a:ext>
            </a:extLst>
          </p:cNvPr>
          <p:cNvSpPr txBox="1">
            <a:spLocks/>
          </p:cNvSpPr>
          <p:nvPr/>
        </p:nvSpPr>
        <p:spPr>
          <a:xfrm>
            <a:off x="10981425" y="6379368"/>
            <a:ext cx="457201"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6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ar-EG" b="1" dirty="0"/>
              <a:t>32</a:t>
            </a:r>
          </a:p>
        </p:txBody>
      </p:sp>
      <p:sp>
        <p:nvSpPr>
          <p:cNvPr id="3" name="Rectangle 1">
            <a:extLst>
              <a:ext uri="{FF2B5EF4-FFF2-40B4-BE49-F238E27FC236}">
                <a16:creationId xmlns:a16="http://schemas.microsoft.com/office/drawing/2014/main" id="{E79D4558-6F5B-959C-0372-F8E285FA6337}"/>
              </a:ext>
            </a:extLst>
          </p:cNvPr>
          <p:cNvSpPr>
            <a:spLocks noChangeArrowheads="1"/>
          </p:cNvSpPr>
          <p:nvPr/>
        </p:nvSpPr>
        <p:spPr bwMode="auto">
          <a:xfrm>
            <a:off x="362182" y="1535926"/>
            <a:ext cx="10740014"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3200" b="1" dirty="0">
                <a:solidFill>
                  <a:srgbClr val="1869A6"/>
                </a:solidFill>
                <a:latin typeface="Aptos ExtraBold" panose="020B0004020202020204" pitchFamily="34" charset="0"/>
              </a:rPr>
              <a:t>Presented by: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1"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1869A6"/>
              </a:solidFill>
              <a:effectLst/>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100" dirty="0">
              <a:solidFill>
                <a:srgbClr val="1869A6"/>
              </a:solidFill>
              <a:latin typeface="Aptos ExtraBold"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rgbClr val="1869A6"/>
              </a:solidFill>
              <a:effectLst/>
              <a:latin typeface="Aptos ExtraBold" panose="020B0004020202020204" pitchFamily="34" charset="0"/>
            </a:endParaRPr>
          </a:p>
        </p:txBody>
      </p:sp>
      <p:grpSp>
        <p:nvGrpSpPr>
          <p:cNvPr id="5" name="Group 4">
            <a:extLst>
              <a:ext uri="{FF2B5EF4-FFF2-40B4-BE49-F238E27FC236}">
                <a16:creationId xmlns:a16="http://schemas.microsoft.com/office/drawing/2014/main" id="{79FFB959-53FC-229F-AF39-1D2FF49EEAD4}"/>
              </a:ext>
            </a:extLst>
          </p:cNvPr>
          <p:cNvGrpSpPr/>
          <p:nvPr/>
        </p:nvGrpSpPr>
        <p:grpSpPr>
          <a:xfrm>
            <a:off x="824594" y="2306306"/>
            <a:ext cx="10277602" cy="1148276"/>
            <a:chOff x="574431" y="2714582"/>
            <a:chExt cx="8768861" cy="1148276"/>
          </a:xfrm>
        </p:grpSpPr>
        <p:sp>
          <p:nvSpPr>
            <p:cNvPr id="7" name="TextBox 6">
              <a:extLst>
                <a:ext uri="{FF2B5EF4-FFF2-40B4-BE49-F238E27FC236}">
                  <a16:creationId xmlns:a16="http://schemas.microsoft.com/office/drawing/2014/main" id="{8492E503-11AB-CC7F-259B-117E4D2751E9}"/>
                </a:ext>
              </a:extLst>
            </p:cNvPr>
            <p:cNvSpPr txBox="1"/>
            <p:nvPr/>
          </p:nvSpPr>
          <p:spPr>
            <a:xfrm>
              <a:off x="574431" y="2714582"/>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Abdallah Gasem</a:t>
              </a:r>
            </a:p>
          </p:txBody>
        </p:sp>
        <p:sp>
          <p:nvSpPr>
            <p:cNvPr id="9" name="TextBox 8">
              <a:extLst>
                <a:ext uri="{FF2B5EF4-FFF2-40B4-BE49-F238E27FC236}">
                  <a16:creationId xmlns:a16="http://schemas.microsoft.com/office/drawing/2014/main" id="{E9CD30E4-BC2A-C524-9CBA-B8E6861380F8}"/>
                </a:ext>
              </a:extLst>
            </p:cNvPr>
            <p:cNvSpPr txBox="1"/>
            <p:nvPr/>
          </p:nvSpPr>
          <p:spPr>
            <a:xfrm>
              <a:off x="6178061" y="2732746"/>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Abdallah Sayed</a:t>
              </a:r>
            </a:p>
          </p:txBody>
        </p:sp>
        <p:sp>
          <p:nvSpPr>
            <p:cNvPr id="10" name="TextBox 9">
              <a:extLst>
                <a:ext uri="{FF2B5EF4-FFF2-40B4-BE49-F238E27FC236}">
                  <a16:creationId xmlns:a16="http://schemas.microsoft.com/office/drawing/2014/main" id="{B71BDDBA-86A2-1276-FEFC-77A3C552B5C0}"/>
                </a:ext>
              </a:extLst>
            </p:cNvPr>
            <p:cNvSpPr txBox="1"/>
            <p:nvPr/>
          </p:nvSpPr>
          <p:spPr>
            <a:xfrm>
              <a:off x="3544618" y="3397643"/>
              <a:ext cx="2192217"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Micheal Emad</a:t>
              </a:r>
            </a:p>
          </p:txBody>
        </p:sp>
        <p:sp>
          <p:nvSpPr>
            <p:cNvPr id="11" name="TextBox 10">
              <a:extLst>
                <a:ext uri="{FF2B5EF4-FFF2-40B4-BE49-F238E27FC236}">
                  <a16:creationId xmlns:a16="http://schemas.microsoft.com/office/drawing/2014/main" id="{7A2C2635-C46C-9207-98B8-B47770A344E2}"/>
                </a:ext>
              </a:extLst>
            </p:cNvPr>
            <p:cNvSpPr txBox="1"/>
            <p:nvPr/>
          </p:nvSpPr>
          <p:spPr>
            <a:xfrm>
              <a:off x="3544618" y="2734722"/>
              <a:ext cx="2480920"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Mazen Karam</a:t>
              </a:r>
            </a:p>
          </p:txBody>
        </p:sp>
        <p:sp>
          <p:nvSpPr>
            <p:cNvPr id="12" name="TextBox 11">
              <a:extLst>
                <a:ext uri="{FF2B5EF4-FFF2-40B4-BE49-F238E27FC236}">
                  <a16:creationId xmlns:a16="http://schemas.microsoft.com/office/drawing/2014/main" id="{5CFD73D8-F3D4-5C2A-D1D7-DFA3EB18FE71}"/>
                </a:ext>
              </a:extLst>
            </p:cNvPr>
            <p:cNvSpPr txBox="1"/>
            <p:nvPr/>
          </p:nvSpPr>
          <p:spPr>
            <a:xfrm>
              <a:off x="574432" y="3383608"/>
              <a:ext cx="1946028"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Youssef Ali</a:t>
              </a:r>
            </a:p>
          </p:txBody>
        </p:sp>
        <p:sp>
          <p:nvSpPr>
            <p:cNvPr id="13" name="TextBox 12">
              <a:extLst>
                <a:ext uri="{FF2B5EF4-FFF2-40B4-BE49-F238E27FC236}">
                  <a16:creationId xmlns:a16="http://schemas.microsoft.com/office/drawing/2014/main" id="{60A37C4D-E628-0D95-44E5-BC91D8222951}"/>
                </a:ext>
              </a:extLst>
            </p:cNvPr>
            <p:cNvSpPr txBox="1"/>
            <p:nvPr/>
          </p:nvSpPr>
          <p:spPr>
            <a:xfrm>
              <a:off x="6178061" y="3401193"/>
              <a:ext cx="2414954"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Mostafa Ahmed</a:t>
              </a:r>
            </a:p>
          </p:txBody>
        </p:sp>
      </p:grpSp>
      <p:grpSp>
        <p:nvGrpSpPr>
          <p:cNvPr id="14" name="Group 13">
            <a:extLst>
              <a:ext uri="{FF2B5EF4-FFF2-40B4-BE49-F238E27FC236}">
                <a16:creationId xmlns:a16="http://schemas.microsoft.com/office/drawing/2014/main" id="{5CCB65D5-758A-5E17-00DD-27B3FD47F55E}"/>
              </a:ext>
            </a:extLst>
          </p:cNvPr>
          <p:cNvGrpSpPr/>
          <p:nvPr/>
        </p:nvGrpSpPr>
        <p:grpSpPr>
          <a:xfrm>
            <a:off x="376878" y="3602561"/>
            <a:ext cx="3317631" cy="998084"/>
            <a:chOff x="574429" y="4447183"/>
            <a:chExt cx="3317631" cy="998084"/>
          </a:xfrm>
        </p:grpSpPr>
        <p:sp>
          <p:nvSpPr>
            <p:cNvPr id="15" name="TextBox 14">
              <a:extLst>
                <a:ext uri="{FF2B5EF4-FFF2-40B4-BE49-F238E27FC236}">
                  <a16:creationId xmlns:a16="http://schemas.microsoft.com/office/drawing/2014/main" id="{1C9AAB77-2C13-FCD0-EF1A-C098A9D28BC9}"/>
                </a:ext>
              </a:extLst>
            </p:cNvPr>
            <p:cNvSpPr txBox="1"/>
            <p:nvPr/>
          </p:nvSpPr>
          <p:spPr>
            <a:xfrm>
              <a:off x="574429" y="4447183"/>
              <a:ext cx="3317631" cy="584775"/>
            </a:xfrm>
            <a:prstGeom prst="rect">
              <a:avLst/>
            </a:prstGeom>
            <a:noFill/>
          </p:spPr>
          <p:txBody>
            <a:bodyPr wrap="square" rtlCol="0">
              <a:spAutoFit/>
            </a:bodyPr>
            <a:lstStyle/>
            <a:p>
              <a:r>
                <a:rPr lang="en-US" sz="3200" b="1" dirty="0">
                  <a:solidFill>
                    <a:srgbClr val="1869A6"/>
                  </a:solidFill>
                  <a:latin typeface="Aptos ExtraBold" panose="020B0004020202020204" pitchFamily="34" charset="0"/>
                </a:rPr>
                <a:t>Group:</a:t>
              </a:r>
            </a:p>
          </p:txBody>
        </p:sp>
        <p:sp>
          <p:nvSpPr>
            <p:cNvPr id="16" name="TextBox 15">
              <a:extLst>
                <a:ext uri="{FF2B5EF4-FFF2-40B4-BE49-F238E27FC236}">
                  <a16:creationId xmlns:a16="http://schemas.microsoft.com/office/drawing/2014/main" id="{3C3288D8-B03E-4B23-1121-E5C56E45277B}"/>
                </a:ext>
              </a:extLst>
            </p:cNvPr>
            <p:cNvSpPr txBox="1"/>
            <p:nvPr/>
          </p:nvSpPr>
          <p:spPr>
            <a:xfrm>
              <a:off x="574431" y="4983602"/>
              <a:ext cx="3165231" cy="461665"/>
            </a:xfrm>
            <a:prstGeom prst="rect">
              <a:avLst/>
            </a:prstGeom>
            <a:noFill/>
          </p:spPr>
          <p:txBody>
            <a:bodyPr wrap="square" rtlCol="0">
              <a:spAutoFit/>
            </a:bodyPr>
            <a:lstStyle/>
            <a:p>
              <a:r>
                <a:rPr lang="en-US" sz="2400" dirty="0">
                  <a:solidFill>
                    <a:schemeClr val="tx1">
                      <a:lumMod val="65000"/>
                      <a:lumOff val="35000"/>
                    </a:schemeClr>
                  </a:solidFill>
                  <a:latin typeface="Aptos ExtraBold" panose="020B0004020202020204" pitchFamily="34" charset="0"/>
                </a:rPr>
                <a:t>GIZ2_AIS4_S9</a:t>
              </a:r>
            </a:p>
          </p:txBody>
        </p:sp>
      </p:grpSp>
      <p:pic>
        <p:nvPicPr>
          <p:cNvPr id="17" name="Picture 16">
            <a:extLst>
              <a:ext uri="{FF2B5EF4-FFF2-40B4-BE49-F238E27FC236}">
                <a16:creationId xmlns:a16="http://schemas.microsoft.com/office/drawing/2014/main" id="{48DB6E5D-81F3-8EF7-51D8-BFE642129090}"/>
              </a:ext>
            </a:extLst>
          </p:cNvPr>
          <p:cNvPicPr>
            <a:picLocks noChangeAspect="1"/>
          </p:cNvPicPr>
          <p:nvPr/>
        </p:nvPicPr>
        <p:blipFill>
          <a:blip r:embed="rId4"/>
          <a:stretch>
            <a:fillRect/>
          </a:stretch>
        </p:blipFill>
        <p:spPr>
          <a:xfrm>
            <a:off x="2209800" y="5154223"/>
            <a:ext cx="4669357" cy="625270"/>
          </a:xfrm>
          <a:prstGeom prst="rect">
            <a:avLst/>
          </a:prstGeom>
        </p:spPr>
      </p:pic>
      <p:sp>
        <p:nvSpPr>
          <p:cNvPr id="18" name="TextBox 17">
            <a:extLst>
              <a:ext uri="{FF2B5EF4-FFF2-40B4-BE49-F238E27FC236}">
                <a16:creationId xmlns:a16="http://schemas.microsoft.com/office/drawing/2014/main" id="{DADD6455-A90C-725A-FEFC-013533CB946E}"/>
              </a:ext>
            </a:extLst>
          </p:cNvPr>
          <p:cNvSpPr txBox="1"/>
          <p:nvPr/>
        </p:nvSpPr>
        <p:spPr>
          <a:xfrm>
            <a:off x="376878" y="5126455"/>
            <a:ext cx="3317631" cy="584775"/>
          </a:xfrm>
          <a:prstGeom prst="rect">
            <a:avLst/>
          </a:prstGeom>
          <a:noFill/>
        </p:spPr>
        <p:txBody>
          <a:bodyPr wrap="square" rtlCol="0">
            <a:spAutoFit/>
          </a:bodyPr>
          <a:lstStyle/>
          <a:p>
            <a:r>
              <a:rPr lang="en-US" sz="3200" b="1" dirty="0">
                <a:solidFill>
                  <a:srgbClr val="1869A6"/>
                </a:solidFill>
                <a:latin typeface="Aptos ExtraBold" panose="020B0004020202020204" pitchFamily="34" charset="0"/>
              </a:rPr>
              <a:t>Contact:</a:t>
            </a:r>
          </a:p>
        </p:txBody>
      </p:sp>
    </p:spTree>
    <p:extLst>
      <p:ext uri="{BB962C8B-B14F-4D97-AF65-F5344CB8AC3E}">
        <p14:creationId xmlns:p14="http://schemas.microsoft.com/office/powerpoint/2010/main" val="296980291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1203</TotalTime>
  <Words>2297</Words>
  <Application>Microsoft Office PowerPoint</Application>
  <PresentationFormat>Widescreen</PresentationFormat>
  <Paragraphs>543</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Aptos ExtraBold</vt:lpstr>
      <vt:lpstr>Calibri</vt:lpstr>
      <vt:lpstr>Courier New</vt:lpstr>
      <vt:lpstr>Eras Bold ITC</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SAMA</dc:creator>
  <cp:lastModifiedBy>Mazen_20220361</cp:lastModifiedBy>
  <cp:revision>14</cp:revision>
  <dcterms:created xsi:type="dcterms:W3CDTF">2024-03-14T10:03:54Z</dcterms:created>
  <dcterms:modified xsi:type="dcterms:W3CDTF">2025-05-09T18:19:34Z</dcterms:modified>
</cp:coreProperties>
</file>