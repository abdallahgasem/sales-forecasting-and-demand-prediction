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60" r:id="rId3"/>
    <p:sldId id="263" r:id="rId4"/>
    <p:sldId id="266" r:id="rId5"/>
    <p:sldId id="268" r:id="rId6"/>
    <p:sldId id="267" r:id="rId7"/>
    <p:sldId id="286" r:id="rId8"/>
    <p:sldId id="269" r:id="rId9"/>
    <p:sldId id="275" r:id="rId10"/>
    <p:sldId id="271" r:id="rId11"/>
    <p:sldId id="288" r:id="rId12"/>
    <p:sldId id="287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9" r:id="rId21"/>
    <p:sldId id="300" r:id="rId22"/>
    <p:sldId id="301" r:id="rId23"/>
    <p:sldId id="284" r:id="rId24"/>
    <p:sldId id="26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3C95"/>
    <a:srgbClr val="F1F1F1"/>
    <a:srgbClr val="F8F5F2"/>
    <a:srgbClr val="F6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3DB14-E671-4D6C-AB1A-F47C69626F1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BDB5D-BDAC-4914-AAE6-E8D70871A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48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BDB5D-BDAC-4914-AAE6-E8D70871AB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9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DD23-932A-1E60-E4D5-C3F08A3DC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F8219-8DB6-FDA9-ADF7-5C63EFE52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83189-5784-E919-1F73-A621AF76F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560A-E7C8-B186-C73B-33035C5C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527AA-5DE0-16D1-3E19-17AA1A35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9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EB4F-BEFA-2755-D7E0-21B5BA1E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BB07A-C142-E260-FAB8-073BF643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DEA2E-0129-0C24-F384-5A163522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99400-D460-6D4D-493D-9094DBD8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50F68-298C-754A-7780-1459DABC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2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5BFF-8208-B426-0D3C-EB502401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2B8FF-EF42-45E7-5C5A-B78E93AB1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6068-0D5C-C153-A860-8611ED85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2890-D76E-ABAD-B054-3D704C39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A8602-1647-D5DD-EC4F-CC298742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7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4599-80BA-BECA-9500-1319D23C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4DC7B-F419-EDA5-585B-DC52BA450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D777C-BAF3-6E65-A532-64EB1F9C6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46B32-E870-6FB8-FDA0-81E26BA3E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3403B-21D3-10B2-98D2-1B595372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45EA3-0B80-2BBE-5D69-E091AE38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2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966BE-7C18-D8B2-192E-2B7B0E0BF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987AC-F9A7-4109-0A5A-45153DAFD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B2C89-D158-2D0E-5ACD-D3C7C57FD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1D28E-3C59-BFD3-352D-B5DAC60D1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98CCB-A1A2-1240-91A0-6D2CDCD4F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139C2-4A70-23E3-A096-B5C16320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90D06-C44D-33B1-54B0-97C1B5EF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BC82BD-0EED-C7CC-7B80-82A03AC2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4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8267-CEAE-A43F-1D44-8E401880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A59E2-6BB7-43E5-20A0-EE0BF157E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A7312-86E0-BCF4-1B2F-02D52D92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FD4D1-CC0C-1187-16CB-A747B309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3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09DFDD-8060-F89B-7F1C-E5802B3A1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D895A-9CCA-BDD2-8F66-6CBCFE284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C8AD2-0D5F-A2BF-3277-11303890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578C-C166-8E45-8FB3-CD693E1F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94AFA-AFCD-1B58-C228-D1A652F43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C1DB0-8C1F-F782-5559-245328C08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FEF9F-4287-1109-5F79-C2AA5D81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80BD7-4D31-950B-6E8D-914969555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6187B-0216-3276-8233-B6C0FDAB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59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001F-BB09-F8F3-D211-40958540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FD38A-CC42-88BD-D53C-28CB19477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1BFEF-AAA1-AE39-D468-77216880D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D954-BE56-FD4A-C563-90163022C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BB2E2-2314-F708-7238-72D7FD05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136C1-D9FD-9013-AE20-3BB26CD3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1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4D75-CE0B-432B-C0CC-D8465037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C7EE7-EB3A-99C2-163C-AE0184539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1465D-E280-2FED-D1E9-34402BEA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07177-FBD6-9FFE-74CB-4BBA1F8A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8945-034E-550B-72C8-69F05E18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6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3CA5F-184C-5B18-9364-70CEEF343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5DE55-D818-9B4C-60A8-01110E25B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85A24-EB47-4581-19C4-55A1C7CA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0D16-426D-1FB4-B88A-A9A71CC37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54F40-352D-FC1E-CA22-77BAD956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9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FCAA-67C0-4457-9006-431B6FE5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CD886-B731-E94D-FA1E-AFA91463E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BFFF7-197E-C93A-FEB2-9048918C8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AED32-E67C-4797-9C64-40528E777E57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476D-738B-F173-146D-D638EAB57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67012-AEF6-D9C0-824A-92CD11093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7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ohitsahoo/sales-forecasting/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B27C1-1585-C9E3-510C-F3E8013C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4CB46-C85F-28DD-B33E-B0CD9021EA8C}"/>
              </a:ext>
            </a:extLst>
          </p:cNvPr>
          <p:cNvSpPr txBox="1"/>
          <p:nvPr/>
        </p:nvSpPr>
        <p:spPr>
          <a:xfrm>
            <a:off x="515816" y="3130062"/>
            <a:ext cx="97653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Sales Forecasting and Demand Prediction – EDA</a:t>
            </a:r>
            <a:endParaRPr lang="en-US" sz="4400" dirty="0">
              <a:solidFill>
                <a:srgbClr val="283C95"/>
              </a:solidFill>
              <a:effectLst>
                <a:outerShdw blurRad="50800" dist="38100" dir="2700000" algn="tl" rotWithShape="0">
                  <a:srgbClr val="F8F5F2">
                    <a:alpha val="53000"/>
                  </a:srgbClr>
                </a:outerShdw>
              </a:effectLst>
              <a:latin typeface="Aptos ExtraBold" panose="020B00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0AAFA-0D56-9B48-2FE6-B01B8BDDCB8E}"/>
              </a:ext>
            </a:extLst>
          </p:cNvPr>
          <p:cNvSpPr txBox="1"/>
          <p:nvPr/>
        </p:nvSpPr>
        <p:spPr>
          <a:xfrm>
            <a:off x="515816" y="4576612"/>
            <a:ext cx="4759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ExtraBold" panose="020B0004020202020204" pitchFamily="34" charset="0"/>
              </a:rPr>
              <a:t>Supervised by: Mahmoud Talaat</a:t>
            </a:r>
          </a:p>
        </p:txBody>
      </p:sp>
      <p:pic>
        <p:nvPicPr>
          <p:cNvPr id="7" name="Picture 6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A003B0A3-4EFA-CDBF-F97B-CE3D18361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25" y="382466"/>
            <a:ext cx="1114155" cy="1024304"/>
          </a:xfrm>
          <a:prstGeom prst="rect">
            <a:avLst/>
          </a:prstGeom>
        </p:spPr>
      </p:pic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2BFB7216-14CE-051E-5E9C-330268CFB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016" y="513618"/>
            <a:ext cx="1758462" cy="710867"/>
          </a:xfrm>
          <a:prstGeom prst="rect">
            <a:avLst/>
          </a:prstGeom>
        </p:spPr>
      </p:pic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25F0455D-D6EE-775E-69C1-1300C3C30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050" y="513618"/>
            <a:ext cx="1571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238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D9AD-6F2F-26C9-7774-2EEBCA3D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83C95"/>
                </a:solidFill>
                <a:latin typeface="Aptos ExtraBold" panose="020B0004020202020204" pitchFamily="34" charset="0"/>
              </a:rPr>
              <a:t>CONTENT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E05427-1858-586C-8989-14B624E4E6BD}"/>
              </a:ext>
            </a:extLst>
          </p:cNvPr>
          <p:cNvSpPr/>
          <p:nvPr/>
        </p:nvSpPr>
        <p:spPr>
          <a:xfrm rot="20111035">
            <a:off x="9061161" y="63375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B8DB72-8F49-7F69-E574-006AEC5E2540}"/>
              </a:ext>
            </a:extLst>
          </p:cNvPr>
          <p:cNvSpPr/>
          <p:nvPr/>
        </p:nvSpPr>
        <p:spPr>
          <a:xfrm rot="20111035">
            <a:off x="9643116" y="63375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92B7BB-C55B-15A3-2B9A-AED9C58A7566}"/>
              </a:ext>
            </a:extLst>
          </p:cNvPr>
          <p:cNvSpPr/>
          <p:nvPr/>
        </p:nvSpPr>
        <p:spPr>
          <a:xfrm rot="20111035">
            <a:off x="10225071" y="63375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3E177-2AF5-6E8F-9032-39D23A9C0063}"/>
              </a:ext>
            </a:extLst>
          </p:cNvPr>
          <p:cNvSpPr txBox="1"/>
          <p:nvPr/>
        </p:nvSpPr>
        <p:spPr>
          <a:xfrm>
            <a:off x="838200" y="2317166"/>
            <a:ext cx="5827776" cy="399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83C95"/>
                </a:solidFill>
                <a:latin typeface="Aptos ExtraBold" panose="020B0004020202020204" pitchFamily="34" charset="0"/>
              </a:rPr>
              <a:t>01 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D39F05-96A8-B56E-3C53-03CDFD864544}"/>
              </a:ext>
            </a:extLst>
          </p:cNvPr>
          <p:cNvSpPr txBox="1"/>
          <p:nvPr/>
        </p:nvSpPr>
        <p:spPr>
          <a:xfrm>
            <a:off x="838200" y="2816360"/>
            <a:ext cx="5827776" cy="399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83C95"/>
                </a:solidFill>
                <a:latin typeface="Aptos ExtraBold" panose="020B0004020202020204" pitchFamily="34" charset="0"/>
              </a:rPr>
              <a:t>02 Dataset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1D678-F5CA-B6A2-5615-AA5E1A23EA41}"/>
              </a:ext>
            </a:extLst>
          </p:cNvPr>
          <p:cNvSpPr txBox="1"/>
          <p:nvPr/>
        </p:nvSpPr>
        <p:spPr>
          <a:xfrm>
            <a:off x="838200" y="3328825"/>
            <a:ext cx="5827776" cy="399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83C95"/>
                </a:solidFill>
                <a:latin typeface="Aptos ExtraBold" panose="020B0004020202020204" pitchFamily="34" charset="0"/>
              </a:rPr>
              <a:t>03 Data Cleaning and Preprocessing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F6D6D9-5932-893F-6476-3EDCF780C962}"/>
              </a:ext>
            </a:extLst>
          </p:cNvPr>
          <p:cNvSpPr txBox="1"/>
          <p:nvPr/>
        </p:nvSpPr>
        <p:spPr>
          <a:xfrm>
            <a:off x="838200" y="3843586"/>
            <a:ext cx="5827776" cy="399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B6849-8D27-660F-1FCD-E4B6AC838F51}"/>
              </a:ext>
            </a:extLst>
          </p:cNvPr>
          <p:cNvSpPr txBox="1"/>
          <p:nvPr/>
        </p:nvSpPr>
        <p:spPr>
          <a:xfrm>
            <a:off x="838200" y="4315436"/>
            <a:ext cx="5827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83C95"/>
                </a:solidFill>
                <a:latin typeface="Aptos ExtraBold" panose="020B0004020202020204" pitchFamily="34" charset="0"/>
              </a:rPr>
              <a:t>05 Modeling</a:t>
            </a:r>
          </a:p>
        </p:txBody>
      </p:sp>
    </p:spTree>
    <p:extLst>
      <p:ext uri="{BB962C8B-B14F-4D97-AF65-F5344CB8AC3E}">
        <p14:creationId xmlns:p14="http://schemas.microsoft.com/office/powerpoint/2010/main" val="2253367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DAC8-FB10-5252-0633-E68BA724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28D6-95D2-2C5B-FF6D-ABAE8D71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946" y="93022"/>
            <a:ext cx="4448908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01 Introduction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AB784B-207A-5187-AF0D-B8F232C14C8C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A72976-A05C-7A0E-BAC5-162B8420ABF0}"/>
              </a:ext>
            </a:extLst>
          </p:cNvPr>
          <p:cNvGrpSpPr/>
          <p:nvPr/>
        </p:nvGrpSpPr>
        <p:grpSpPr>
          <a:xfrm>
            <a:off x="4389479" y="1418585"/>
            <a:ext cx="7802521" cy="5439415"/>
            <a:chOff x="4389479" y="1418585"/>
            <a:chExt cx="7802521" cy="543941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B880A5-53C3-83B1-8358-84F29663EEE8}"/>
                </a:ext>
              </a:extLst>
            </p:cNvPr>
            <p:cNvSpPr txBox="1"/>
            <p:nvPr/>
          </p:nvSpPr>
          <p:spPr>
            <a:xfrm>
              <a:off x="4404946" y="1418585"/>
              <a:ext cx="680527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283C95"/>
                  </a:solidFill>
                  <a:latin typeface="+mj-lt"/>
                </a:rPr>
                <a:t>Sales Forecasting</a:t>
              </a:r>
              <a:r>
                <a:rPr lang="en-US" sz="2800" b="1" i="0" dirty="0">
                  <a:solidFill>
                    <a:srgbClr val="283C95"/>
                  </a:solidFill>
                  <a:effectLst/>
                  <a:latin typeface="+mj-lt"/>
                </a:rPr>
                <a:t> Analysis</a:t>
              </a:r>
            </a:p>
            <a:p>
              <a:r>
                <a:rPr lang="en-US" sz="2000" b="1" dirty="0"/>
                <a:t>This project aims to analyze sales trends and predict future sales using historical data to support data-driven decision-making.</a:t>
              </a:r>
              <a:endParaRPr lang="en-US" sz="2000" b="1" dirty="0">
                <a:solidFill>
                  <a:srgbClr val="283C95"/>
                </a:solidFill>
                <a:latin typeface="+mj-lt"/>
              </a:endParaRPr>
            </a:p>
            <a:p>
              <a:endParaRPr lang="en-US" sz="3200" b="1" dirty="0">
                <a:solidFill>
                  <a:srgbClr val="283C95"/>
                </a:solidFill>
                <a:latin typeface="+mj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4DA60B-C421-3F27-6F76-F676A92F2AD7}"/>
                </a:ext>
              </a:extLst>
            </p:cNvPr>
            <p:cNvSpPr txBox="1"/>
            <p:nvPr/>
          </p:nvSpPr>
          <p:spPr>
            <a:xfrm>
              <a:off x="4404946" y="3026182"/>
              <a:ext cx="778705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283C95"/>
                  </a:solidFill>
                  <a:latin typeface="+mj-lt"/>
                </a:rPr>
                <a:t>Key Questions</a:t>
              </a:r>
              <a:r>
                <a:rPr lang="en-US" sz="2400" b="0" i="0" dirty="0">
                  <a:solidFill>
                    <a:srgbClr val="F8FAFF"/>
                  </a:solidFill>
                  <a:effectLst/>
                  <a:latin typeface="Inter"/>
                </a:rPr>
                <a:t>: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What are the key factors affecting sales trends?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How can we improve sales forecasting accuracy?</a:t>
              </a:r>
              <a:endParaRPr lang="en-US" sz="2000" b="1" i="0" dirty="0">
                <a:effectLst/>
                <a:latin typeface="+mj-lt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dirty="0"/>
                <a:t>What actionable insights can help optimize business strategies?</a:t>
              </a:r>
              <a:endParaRPr lang="en-US" sz="2000" b="1" dirty="0">
                <a:solidFill>
                  <a:srgbClr val="283C95"/>
                </a:solidFill>
                <a:latin typeface="+mj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B849CB-2D03-838F-D4B3-D60D6E92D465}"/>
                </a:ext>
              </a:extLst>
            </p:cNvPr>
            <p:cNvSpPr txBox="1"/>
            <p:nvPr/>
          </p:nvSpPr>
          <p:spPr>
            <a:xfrm>
              <a:off x="4389479" y="4965174"/>
              <a:ext cx="6576646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0" dirty="0">
                  <a:solidFill>
                    <a:srgbClr val="283C95"/>
                  </a:solidFill>
                  <a:effectLst/>
                  <a:latin typeface="+mj-lt"/>
                </a:rPr>
                <a:t>Methodology</a:t>
              </a:r>
              <a:endParaRPr lang="en-US" sz="2400" b="0" i="0" dirty="0">
                <a:solidFill>
                  <a:srgbClr val="F8FAFF"/>
                </a:solidFill>
                <a:effectLst/>
                <a:latin typeface="Inter"/>
              </a:endParaRP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i="0" dirty="0">
                  <a:effectLst/>
                  <a:latin typeface="+mj-lt"/>
                </a:rPr>
                <a:t>Data cleaning and preprocessing.</a:t>
              </a:r>
            </a:p>
            <a:p>
              <a:pPr marL="342900" indent="-342900" algn="l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2000" b="1" i="0" dirty="0">
                  <a:effectLst/>
                  <a:latin typeface="+mj-lt"/>
                </a:rPr>
                <a:t>Exploratory Data Analysis (EDA).</a:t>
              </a:r>
            </a:p>
            <a:p>
              <a:pPr marL="342900" indent="-342900" algn="l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2000" b="1" i="0" dirty="0">
                  <a:effectLst/>
                  <a:latin typeface="+mj-lt"/>
                </a:rPr>
                <a:t>Deriving actionable insights.</a:t>
              </a:r>
            </a:p>
            <a:p>
              <a:endParaRPr lang="en-US" sz="2400" b="1" dirty="0">
                <a:solidFill>
                  <a:srgbClr val="283C95"/>
                </a:solidFill>
                <a:latin typeface="+mj-lt"/>
              </a:endParaRPr>
            </a:p>
          </p:txBody>
        </p:sp>
      </p:grpSp>
      <p:pic>
        <p:nvPicPr>
          <p:cNvPr id="18" name="Picture 17" descr="A graph on a screen&#10;&#10;AI-generated content may be incorrect.">
            <a:extLst>
              <a:ext uri="{FF2B5EF4-FFF2-40B4-BE49-F238E27FC236}">
                <a16:creationId xmlns:a16="http://schemas.microsoft.com/office/drawing/2014/main" id="{455542AF-B05C-E150-69A7-E1F67C40C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42426" cy="6858000"/>
          </a:xfrm>
          <a:prstGeom prst="rect">
            <a:avLst/>
          </a:prstGeom>
          <a:ln>
            <a:noFill/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1E876EA-EE5C-90E7-D7D2-7CE4612DA001}"/>
              </a:ext>
            </a:extLst>
          </p:cNvPr>
          <p:cNvSpPr/>
          <p:nvPr/>
        </p:nvSpPr>
        <p:spPr>
          <a:xfrm rot="20111035">
            <a:off x="13145480" y="540107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4E0643-6EA7-2ABD-F399-9B2BFD1C5185}"/>
              </a:ext>
            </a:extLst>
          </p:cNvPr>
          <p:cNvSpPr/>
          <p:nvPr/>
        </p:nvSpPr>
        <p:spPr>
          <a:xfrm rot="20111035">
            <a:off x="13727435" y="540107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ED5F3A-4B4C-8195-9A41-A96C92024C2F}"/>
              </a:ext>
            </a:extLst>
          </p:cNvPr>
          <p:cNvSpPr/>
          <p:nvPr/>
        </p:nvSpPr>
        <p:spPr>
          <a:xfrm rot="20111035">
            <a:off x="14309390" y="540107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586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7DCDE-91C1-2695-0C0D-1C34DF5D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7566B-8533-12F0-FFDB-A8A4486D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5952744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02 </a:t>
            </a:r>
            <a:r>
              <a:rPr lang="en-US" dirty="0">
                <a:solidFill>
                  <a:srgbClr val="283C95"/>
                </a:solidFill>
                <a:latin typeface="Aptos ExtraBold" panose="020B0004020202020204" pitchFamily="34" charset="0"/>
              </a:rPr>
              <a:t>Dataset Overview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1B22A3F-310E-C358-436E-78E5B5D5B82D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A19C7-6F12-C3E7-1729-3329F153C0A6}"/>
              </a:ext>
            </a:extLst>
          </p:cNvPr>
          <p:cNvSpPr txBox="1"/>
          <p:nvPr/>
        </p:nvSpPr>
        <p:spPr>
          <a:xfrm>
            <a:off x="606318" y="1540103"/>
            <a:ext cx="42646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83C95"/>
                </a:solidFill>
                <a:latin typeface="+mj-lt"/>
              </a:rPr>
              <a:t>Data Source</a:t>
            </a:r>
            <a:endParaRPr lang="en-US" sz="2800" b="1" i="0" dirty="0">
              <a:solidFill>
                <a:srgbClr val="283C95"/>
              </a:solidFill>
              <a:effectLst/>
              <a:latin typeface="+mj-lt"/>
            </a:endParaRPr>
          </a:p>
          <a:p>
            <a:r>
              <a:rPr lang="en-US" sz="2000" b="1" i="0" dirty="0">
                <a:effectLst/>
                <a:latin typeface="+mj-lt"/>
              </a:rPr>
              <a:t>This dataset is real data of 9,800 records collected from a private </a:t>
            </a:r>
            <a:r>
              <a:rPr lang="en-US" sz="2000" b="1" dirty="0">
                <a:latin typeface="+mj-lt"/>
              </a:rPr>
              <a:t>Super Store</a:t>
            </a:r>
            <a:r>
              <a:rPr lang="en-US" sz="2000" b="1" i="0" dirty="0">
                <a:effectLst/>
                <a:latin typeface="+mj-lt"/>
              </a:rPr>
              <a:t> provider. </a:t>
            </a:r>
            <a:r>
              <a:rPr lang="en-US" sz="2000" b="1" i="0" dirty="0">
                <a:effectLst/>
                <a:latin typeface="+mj-lt"/>
                <a:hlinkClick r:id="rId2"/>
              </a:rPr>
              <a:t>Dataset Link</a:t>
            </a:r>
            <a:endParaRPr lang="en-US" sz="20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41A91-A0C8-8FBE-5E60-349017E2001E}"/>
              </a:ext>
            </a:extLst>
          </p:cNvPr>
          <p:cNvSpPr txBox="1"/>
          <p:nvPr/>
        </p:nvSpPr>
        <p:spPr>
          <a:xfrm>
            <a:off x="5615354" y="1545274"/>
            <a:ext cx="657664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283C95"/>
                </a:solidFill>
                <a:effectLst/>
                <a:latin typeface="+mj-lt"/>
              </a:rPr>
              <a:t>Challenges</a:t>
            </a:r>
            <a:endParaRPr lang="en-US" sz="2400" b="0" i="0" dirty="0">
              <a:solidFill>
                <a:srgbClr val="F8FAFF"/>
              </a:solidFill>
              <a:effectLst/>
              <a:latin typeface="Inter"/>
            </a:endParaRPr>
          </a:p>
          <a:p>
            <a:pPr marL="342900" indent="-342900">
              <a:buFontTx/>
              <a:buChar char="-"/>
            </a:pPr>
            <a:r>
              <a:rPr lang="en-US" sz="2000" b="1" i="0" dirty="0">
                <a:effectLst/>
                <a:latin typeface="+mj-lt"/>
              </a:rPr>
              <a:t>Imbalanced distributions in </a:t>
            </a:r>
            <a:r>
              <a:rPr lang="en-US" sz="2000" b="1" dirty="0">
                <a:latin typeface="+mj-lt"/>
              </a:rPr>
              <a:t>Target Sales</a:t>
            </a:r>
            <a:r>
              <a:rPr lang="en-US" sz="2000" b="1" i="0" dirty="0">
                <a:effectLst/>
                <a:latin typeface="+mj-lt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latin typeface="+mj-lt"/>
              </a:rPr>
              <a:t>Outliers Termination</a:t>
            </a:r>
            <a:endParaRPr lang="en-US" sz="2000" b="1" i="0" dirty="0">
              <a:effectLst/>
              <a:latin typeface="+mj-lt"/>
            </a:endParaRPr>
          </a:p>
          <a:p>
            <a:endParaRPr lang="en-US" b="1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730AF-9B26-62CF-23FB-BD0A4768143A}"/>
              </a:ext>
            </a:extLst>
          </p:cNvPr>
          <p:cNvSpPr txBox="1"/>
          <p:nvPr/>
        </p:nvSpPr>
        <p:spPr>
          <a:xfrm>
            <a:off x="606318" y="3429000"/>
            <a:ext cx="640408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83C95"/>
                </a:solidFill>
                <a:latin typeface="+mj-lt"/>
              </a:rPr>
              <a:t>Key Features</a:t>
            </a:r>
            <a:endParaRPr lang="en-US" sz="2400" b="1" i="0" dirty="0">
              <a:solidFill>
                <a:srgbClr val="F8FAFF"/>
              </a:solidFill>
              <a:effectLst/>
              <a:latin typeface="Inter"/>
            </a:endParaRPr>
          </a:p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altLang="en-US" sz="2000" b="1" i="1" u="sng" dirty="0">
                <a:latin typeface="+mj-lt"/>
              </a:rPr>
              <a:t>Sales</a:t>
            </a:r>
            <a:r>
              <a:rPr kumimoji="0" lang="en-US" altLang="en-US" sz="2000" b="1" i="1" u="sng" strike="noStrike" cap="none" normalizeH="0" baseline="0" dirty="0">
                <a:ln>
                  <a:noFill/>
                </a:ln>
                <a:effectLst/>
                <a:latin typeface="+mj-lt"/>
              </a:rPr>
              <a:t>: </a:t>
            </a:r>
            <a:r>
              <a:rPr kumimoji="0" lang="en-US" altLang="en-US" sz="2000" i="1" u="sng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lang="en-US" altLang="en-US" sz="2000" dirty="0">
                <a:latin typeface="+mj-lt"/>
              </a:rPr>
              <a:t>Target </a:t>
            </a:r>
            <a:r>
              <a:rPr lang="en-US" altLang="en-US" sz="2000" dirty="0" err="1">
                <a:latin typeface="+mj-lt"/>
              </a:rPr>
              <a:t>variable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.</a:t>
            </a:r>
            <a:r>
              <a:rPr lang="en-US" sz="2000" b="1" i="0" dirty="0" err="1">
                <a:solidFill>
                  <a:srgbClr val="F8FAFF"/>
                </a:solidFill>
                <a:effectLst/>
                <a:latin typeface="Inter"/>
              </a:rPr>
              <a:t>stions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Inter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sz="2000" b="1" i="1" u="sng" dirty="0"/>
              <a:t>Time-Based Features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+mj-lt"/>
              </a:rPr>
              <a:t>:  </a:t>
            </a: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+mj-lt"/>
              </a:rPr>
              <a:t>Order Date &amp; Ship Date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altLang="en-US" sz="2000" b="1" u="sng" dirty="0">
                <a:latin typeface="+mj-lt"/>
              </a:rPr>
              <a:t>Product Name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+mj-lt"/>
              </a:rPr>
              <a:t>:  </a:t>
            </a:r>
            <a:r>
              <a:rPr kumimoji="0" lang="en-US" altLang="en-US" sz="2000" i="0" strike="noStrike" cap="none" normalizeH="0" baseline="0" dirty="0" err="1">
                <a:ln>
                  <a:noFill/>
                </a:ln>
                <a:effectLst/>
                <a:latin typeface="+mj-lt"/>
              </a:rPr>
              <a:t>Identfier</a:t>
            </a: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+mj-lt"/>
              </a:rPr>
              <a:t> for each product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altLang="en-US" sz="2000" b="1" u="sng" dirty="0">
                <a:latin typeface="+mj-lt"/>
              </a:rPr>
              <a:t>Category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+mj-lt"/>
              </a:rPr>
              <a:t>:  </a:t>
            </a: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+mj-lt"/>
              </a:rPr>
              <a:t>Product Category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altLang="en-US" sz="2000" b="1" u="sng" dirty="0">
                <a:latin typeface="+mj-lt"/>
              </a:rPr>
              <a:t>Region, State &amp; City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+mj-lt"/>
              </a:rPr>
              <a:t>: </a:t>
            </a: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+mj-lt"/>
              </a:rPr>
              <a:t>Geographical Features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algn="l"/>
            <a:endParaRPr lang="en-US" sz="2000" b="1" i="0" dirty="0">
              <a:effectLst/>
              <a:latin typeface="+mj-lt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671CDA4-EDD7-6022-9D08-E0050406F115}"/>
              </a:ext>
            </a:extLst>
          </p:cNvPr>
          <p:cNvCxnSpPr/>
          <p:nvPr/>
        </p:nvCxnSpPr>
        <p:spPr>
          <a:xfrm flipV="1">
            <a:off x="9601200" y="4032738"/>
            <a:ext cx="3083169" cy="2930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1B19C5-C67C-2126-D1BD-14FBC35351B1}"/>
              </a:ext>
            </a:extLst>
          </p:cNvPr>
          <p:cNvCxnSpPr/>
          <p:nvPr/>
        </p:nvCxnSpPr>
        <p:spPr>
          <a:xfrm flipH="1" flipV="1">
            <a:off x="9976338" y="-339969"/>
            <a:ext cx="2708031" cy="2010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01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881D4-87F7-07CA-51FD-D7A3B074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1874-A4CA-0C7F-DF7A-6A701BFD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03 Data Cleaning and Preprocessing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EABBC5-6664-1CE6-8EC8-76B55DB45BCF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C7A69-CFE8-DC2E-9787-75CB17616EF9}"/>
              </a:ext>
            </a:extLst>
          </p:cNvPr>
          <p:cNvSpPr txBox="1"/>
          <p:nvPr/>
        </p:nvSpPr>
        <p:spPr>
          <a:xfrm>
            <a:off x="606318" y="1343650"/>
            <a:ext cx="4469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Columns Manipulation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5BE84-4A24-915B-86D7-4F4758058585}"/>
              </a:ext>
            </a:extLst>
          </p:cNvPr>
          <p:cNvSpPr txBox="1"/>
          <p:nvPr/>
        </p:nvSpPr>
        <p:spPr>
          <a:xfrm>
            <a:off x="606318" y="2799526"/>
            <a:ext cx="7341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+mj-lt"/>
              </a:rPr>
              <a:t>Removed The identifier columns that </a:t>
            </a:r>
            <a:r>
              <a:rPr lang="en-US" sz="2400" b="1" dirty="0">
                <a:latin typeface="+mj-lt"/>
              </a:rPr>
              <a:t>we</a:t>
            </a:r>
            <a:r>
              <a:rPr lang="en-US" sz="2400" b="1" dirty="0">
                <a:effectLst/>
                <a:latin typeface="+mj-lt"/>
              </a:rPr>
              <a:t>re </a:t>
            </a:r>
            <a:r>
              <a:rPr lang="en-US" sz="2400" b="1" dirty="0" err="1">
                <a:effectLst/>
                <a:latin typeface="+mj-lt"/>
              </a:rPr>
              <a:t>unrelevant</a:t>
            </a:r>
            <a:r>
              <a:rPr lang="en-US" sz="2400" b="1" dirty="0">
                <a:effectLst/>
                <a:latin typeface="+mj-lt"/>
              </a:rPr>
              <a:t> to the Analysis </a:t>
            </a:r>
            <a:r>
              <a:rPr lang="en-US" sz="2400" b="1" u="sng" dirty="0">
                <a:effectLst/>
                <a:latin typeface="+mj-lt"/>
              </a:rPr>
              <a:t>Row ID</a:t>
            </a:r>
            <a:r>
              <a:rPr lang="en-US" sz="2400" b="1" dirty="0">
                <a:effectLst/>
                <a:latin typeface="+mj-lt"/>
              </a:rPr>
              <a:t>,  </a:t>
            </a:r>
            <a:r>
              <a:rPr lang="en-US" sz="2400" b="1" u="sng" dirty="0">
                <a:latin typeface="+mj-lt"/>
              </a:rPr>
              <a:t>Customer </a:t>
            </a:r>
            <a:r>
              <a:rPr lang="en-US" sz="2400" b="1" u="sng" dirty="0">
                <a:effectLst/>
                <a:latin typeface="+mj-lt"/>
              </a:rPr>
              <a:t>ID &amp;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>
                <a:effectLst/>
                <a:latin typeface="+mj-lt"/>
              </a:rPr>
              <a:t> </a:t>
            </a:r>
            <a:r>
              <a:rPr lang="en-US" sz="2400" b="1" u="sng" dirty="0">
                <a:effectLst/>
                <a:latin typeface="+mj-lt"/>
              </a:rPr>
              <a:t>Product ID</a:t>
            </a:r>
          </a:p>
          <a:p>
            <a:endParaRPr lang="en-US" sz="2400" b="1" dirty="0">
              <a:latin typeface="+mj-lt"/>
            </a:endParaRP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1EFDA0E-BE96-5687-C630-0EB415E15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511" y="3684049"/>
            <a:ext cx="2146407" cy="214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01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430BD-45AD-57BE-41ED-8B733966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07D9-15E4-1334-03B6-9CA5CE82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03 Data Cleaning and Preprocessing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BD6743-24AF-44C7-0392-11BBA2413740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EBCB6-DA6C-4688-1BE9-5292DA474EB6}"/>
              </a:ext>
            </a:extLst>
          </p:cNvPr>
          <p:cNvSpPr txBox="1"/>
          <p:nvPr/>
        </p:nvSpPr>
        <p:spPr>
          <a:xfrm>
            <a:off x="606318" y="1343650"/>
            <a:ext cx="2655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Outliers</a:t>
            </a:r>
          </a:p>
        </p:txBody>
      </p:sp>
      <p:pic>
        <p:nvPicPr>
          <p:cNvPr id="7" name="Picture 6" descr="A graph with a line graph&#10;&#10;AI-generated content may be incorrect.">
            <a:extLst>
              <a:ext uri="{FF2B5EF4-FFF2-40B4-BE49-F238E27FC236}">
                <a16:creationId xmlns:a16="http://schemas.microsoft.com/office/drawing/2014/main" id="{7E551A52-AE9B-EE09-1B0D-43B7C68E9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797" y="2007546"/>
            <a:ext cx="4919461" cy="3842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0A2C3B-7F83-421D-EB5A-ABB8A09DF300}"/>
              </a:ext>
            </a:extLst>
          </p:cNvPr>
          <p:cNvSpPr txBox="1"/>
          <p:nvPr/>
        </p:nvSpPr>
        <p:spPr>
          <a:xfrm>
            <a:off x="632695" y="2538900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Analysis Showed an Imbalance in the Distribution of Target Variable “Sales”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DEA5D-C50B-14EF-FC5C-C5973C3485B4}"/>
              </a:ext>
            </a:extLst>
          </p:cNvPr>
          <p:cNvSpPr txBox="1"/>
          <p:nvPr/>
        </p:nvSpPr>
        <p:spPr>
          <a:xfrm>
            <a:off x="632695" y="4133238"/>
            <a:ext cx="525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Which was Eliminated Using </a:t>
            </a:r>
            <a:r>
              <a:rPr lang="en-US" sz="2400" b="1" dirty="0">
                <a:effectLst/>
              </a:rPr>
              <a:t>Feature Scaling (Normalization &amp; Standardization)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13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5CB5-F09B-75CD-9B78-D00C0D8F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18C1C-24C9-2617-7644-44003871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03 Data Cleaning and Preprocessing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E8E5A8-A303-EB44-953E-03278CE89478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6492E-291F-1323-7C53-0D2C37E388CF}"/>
              </a:ext>
            </a:extLst>
          </p:cNvPr>
          <p:cNvSpPr txBox="1"/>
          <p:nvPr/>
        </p:nvSpPr>
        <p:spPr>
          <a:xfrm>
            <a:off x="606318" y="1343650"/>
            <a:ext cx="3426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Engineering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9E6CD-4AB5-724B-0E48-19EA42D8FECB}"/>
              </a:ext>
            </a:extLst>
          </p:cNvPr>
          <p:cNvSpPr txBox="1"/>
          <p:nvPr/>
        </p:nvSpPr>
        <p:spPr>
          <a:xfrm>
            <a:off x="606318" y="2384027"/>
            <a:ext cx="9358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Encoded Categorical Variables (One-Hot &amp; Label Encoding): Ship Mode, Segment …etc.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E6449-ACF5-1426-07C3-A4B49EF5332A}"/>
              </a:ext>
            </a:extLst>
          </p:cNvPr>
          <p:cNvSpPr txBox="1"/>
          <p:nvPr/>
        </p:nvSpPr>
        <p:spPr>
          <a:xfrm>
            <a:off x="606317" y="3342891"/>
            <a:ext cx="9358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Maintained a Unified Date Format across features “</a:t>
            </a:r>
            <a:r>
              <a:rPr lang="en-US" sz="2400" b="0" dirty="0">
                <a:effectLst/>
              </a:rPr>
              <a:t>%d/%m/%Y”.</a:t>
            </a:r>
            <a:r>
              <a:rPr lang="en-US" sz="2400" b="1" dirty="0"/>
              <a:t> And extracted Temporal features from the date column (</a:t>
            </a:r>
            <a:r>
              <a:rPr lang="en-US" sz="2000" dirty="0"/>
              <a:t>Day, Month, Year</a:t>
            </a:r>
            <a:r>
              <a:rPr lang="en-US" sz="2400" b="1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DA8D0-6996-0865-0D9B-C9FB1881B850}"/>
              </a:ext>
            </a:extLst>
          </p:cNvPr>
          <p:cNvSpPr txBox="1"/>
          <p:nvPr/>
        </p:nvSpPr>
        <p:spPr>
          <a:xfrm>
            <a:off x="606317" y="4612472"/>
            <a:ext cx="9358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Obtained an Aggregated Sales Performance per Product Feature</a:t>
            </a:r>
          </a:p>
        </p:txBody>
      </p:sp>
    </p:spTree>
    <p:extLst>
      <p:ext uri="{BB962C8B-B14F-4D97-AF65-F5344CB8AC3E}">
        <p14:creationId xmlns:p14="http://schemas.microsoft.com/office/powerpoint/2010/main" val="617375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7EFA-24ED-AA96-B71C-38558524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F485-11AB-D480-1756-23E4CD84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DE4D1E-63B9-0FB2-884B-937FD34F2489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2C955-E747-08C2-1EA4-8CBBEF95684D}"/>
              </a:ext>
            </a:extLst>
          </p:cNvPr>
          <p:cNvSpPr txBox="1"/>
          <p:nvPr/>
        </p:nvSpPr>
        <p:spPr>
          <a:xfrm>
            <a:off x="606318" y="1343650"/>
            <a:ext cx="4411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Product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A45353-7918-2A33-00E4-10E0C637F129}"/>
              </a:ext>
            </a:extLst>
          </p:cNvPr>
          <p:cNvSpPr txBox="1"/>
          <p:nvPr/>
        </p:nvSpPr>
        <p:spPr>
          <a:xfrm>
            <a:off x="606317" y="2467362"/>
            <a:ext cx="65682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analysis indicates that the </a:t>
            </a:r>
            <a:r>
              <a:rPr lang="en-US" sz="2400" b="1" dirty="0"/>
              <a:t>Technology product category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generates the </a:t>
            </a:r>
            <a:r>
              <a:rPr lang="en-US" sz="2400" b="1" dirty="0"/>
              <a:t>highest sales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despite the majority of offered products belonging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the </a:t>
            </a:r>
            <a:r>
              <a:rPr lang="en-US" sz="2400" b="1" dirty="0"/>
              <a:t>Office Supplies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category.</a:t>
            </a:r>
          </a:p>
          <a:p>
            <a:pPr>
              <a:buNone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suggests that </a:t>
            </a:r>
            <a:r>
              <a:rPr lang="en-US" sz="2400" b="1" dirty="0"/>
              <a:t>expanding the range of technology-related products</a:t>
            </a:r>
            <a:r>
              <a:rPr lang="en-US" sz="2400" dirty="0"/>
              <a:t> could lead to </a:t>
            </a:r>
            <a:r>
              <a:rPr lang="en-US" sz="2400" b="1" dirty="0"/>
              <a:t>higher future sales and revenue growth.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B659A1-9130-485A-04E8-F9C22B28E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619" y="344853"/>
            <a:ext cx="4668365" cy="31570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673FAA-7273-CB57-6ED8-5163BD735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76" y="3690955"/>
            <a:ext cx="4641605" cy="282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14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B64B3-B001-3DBD-7D44-7A57EC76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112D-9A51-7B4D-A705-3FF120779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9F7E5FA-EA89-1ACE-0BFF-9EB54C7F9EEC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5FCF39-A8D2-6FAD-D963-3E2B1C3E936A}"/>
              </a:ext>
            </a:extLst>
          </p:cNvPr>
          <p:cNvSpPr txBox="1"/>
          <p:nvPr/>
        </p:nvSpPr>
        <p:spPr>
          <a:xfrm>
            <a:off x="606318" y="1363469"/>
            <a:ext cx="4411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 10 Products Sales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0EEB83-C0AE-1F73-6CBF-850E0DA63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4" y="2086708"/>
            <a:ext cx="11864111" cy="430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74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4034A-030F-F8A5-C407-1A01CC30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E731-1C81-6610-4269-B38BDD6C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9727B7-4FEC-FA84-CA61-DB2BE2D3AB7E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0DBC3-31AD-7D90-673C-54BA1A93805D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Series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99CAB-A1B8-1451-E92F-D2C9CBFB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118" y="1968676"/>
            <a:ext cx="5861172" cy="4065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CA7003-A452-9EFB-AB40-D2839B004A7E}"/>
              </a:ext>
            </a:extLst>
          </p:cNvPr>
          <p:cNvSpPr txBox="1"/>
          <p:nvPr/>
        </p:nvSpPr>
        <p:spPr>
          <a:xfrm>
            <a:off x="691661" y="2995980"/>
            <a:ext cx="36927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Peak sales occurred between </a:t>
            </a:r>
            <a:r>
              <a:rPr lang="en-US" sz="3200" b="1" dirty="0"/>
              <a:t>2018</a:t>
            </a:r>
            <a:r>
              <a:rPr lang="en-US" sz="2800" b="1" dirty="0"/>
              <a:t> and </a:t>
            </a:r>
            <a:r>
              <a:rPr lang="en-US" sz="3200" b="1" dirty="0"/>
              <a:t>2019.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7332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649A8-8091-0423-E0B1-003C5486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F4B9-445E-272B-006A-037C2136B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3248C6-409C-828A-1DC5-93F72B14BD88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7250C-148B-DD90-6CD4-570F75574FBE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Series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EE336-71F7-D7F4-5420-3E2A84153C1A}"/>
              </a:ext>
            </a:extLst>
          </p:cNvPr>
          <p:cNvSpPr txBox="1"/>
          <p:nvPr/>
        </p:nvSpPr>
        <p:spPr>
          <a:xfrm>
            <a:off x="606318" y="2773790"/>
            <a:ext cx="33678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Peak sales occur in November, suggesting the need for targeted marketing and optimized inventory to maximize revenue.</a:t>
            </a:r>
            <a:endParaRPr lang="en-US" sz="2400" b="1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FA5BE1-9DF0-B7F0-10B1-2F8C20EDA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754" y="1800729"/>
            <a:ext cx="7641981" cy="410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30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F28A4-0BEC-EDEF-C09E-B0B56E29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9F470-9445-E298-B385-6E47C7F57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7D29AA-CC8E-2BC4-C68C-CF6E16CE459D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ACBEE-6705-72AE-46DE-C69AD84B455F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Series Analysis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989276-E8EA-F647-AE66-C4C2B8264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877" y="2247411"/>
            <a:ext cx="6610350" cy="3546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B957A8-023B-6769-DEC3-24F56D3DD094}"/>
              </a:ext>
            </a:extLst>
          </p:cNvPr>
          <p:cNvSpPr txBox="1"/>
          <p:nvPr/>
        </p:nvSpPr>
        <p:spPr>
          <a:xfrm>
            <a:off x="606318" y="2773790"/>
            <a:ext cx="396568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Highest sales occur on </a:t>
            </a:r>
            <a:r>
              <a:rPr lang="en-US" sz="2800" b="1" dirty="0"/>
              <a:t>Saturdays</a:t>
            </a:r>
            <a:r>
              <a:rPr lang="en-US" sz="2400" b="1" dirty="0"/>
              <a:t>, suggesting a strategic focus on weekend promotions and inventory management to maximize revenue.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2207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C3A97-085E-FFE8-F98F-C8072413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E550-EC01-23DB-F359-17BD7245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0D469C-105B-F504-9473-742D9CDB9A45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005A2-8ACE-DC25-B311-83CADD7E232E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Series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82BF0-EAB7-355C-40B4-A1FF3D0E262D}"/>
              </a:ext>
            </a:extLst>
          </p:cNvPr>
          <p:cNvSpPr txBox="1"/>
          <p:nvPr/>
        </p:nvSpPr>
        <p:spPr>
          <a:xfrm>
            <a:off x="606318" y="2538900"/>
            <a:ext cx="36097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Highest Sales For Tech Category, This suggests that </a:t>
            </a:r>
            <a:r>
              <a:rPr lang="en-US" sz="2400" b="1" dirty="0"/>
              <a:t>expanding the range of technology-related products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could lead to </a:t>
            </a:r>
            <a:r>
              <a:rPr lang="en-US" sz="2400" b="1" dirty="0"/>
              <a:t>higher future sales and revenue growth.</a:t>
            </a:r>
            <a:endParaRPr lang="en-US" sz="2400" dirty="0"/>
          </a:p>
          <a:p>
            <a:endParaRPr lang="en-US" sz="2400" b="1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4651E-4A6B-96F3-9CBB-CA66BCCD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854" y="1866870"/>
            <a:ext cx="6772880" cy="42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28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5CD2-777A-FE6C-9C60-41DAF5ED1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A187-377A-9A83-5E1A-4182F996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257A91-2E60-C9B7-CDB4-F700779106BE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5462A-9553-4B09-911B-DF42056CD36C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Geographical Analysis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6E9555-6D9B-22AC-FD23-8701BDB2A109}"/>
              </a:ext>
            </a:extLst>
          </p:cNvPr>
          <p:cNvGrpSpPr/>
          <p:nvPr/>
        </p:nvGrpSpPr>
        <p:grpSpPr>
          <a:xfrm>
            <a:off x="221569" y="2865667"/>
            <a:ext cx="11285098" cy="2089951"/>
            <a:chOff x="155122" y="2882356"/>
            <a:chExt cx="11285098" cy="208995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0AEA417-B794-B235-CD21-01B9658702D3}"/>
                </a:ext>
              </a:extLst>
            </p:cNvPr>
            <p:cNvGrpSpPr/>
            <p:nvPr/>
          </p:nvGrpSpPr>
          <p:grpSpPr>
            <a:xfrm>
              <a:off x="4647586" y="3660655"/>
              <a:ext cx="2968068" cy="1311652"/>
              <a:chOff x="437134" y="3203902"/>
              <a:chExt cx="2968068" cy="1311652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0608E3-C12B-741F-7AE0-ACC83BE03F53}"/>
                  </a:ext>
                </a:extLst>
              </p:cNvPr>
              <p:cNvSpPr txBox="1"/>
              <p:nvPr/>
            </p:nvSpPr>
            <p:spPr>
              <a:xfrm>
                <a:off x="462709" y="3203902"/>
                <a:ext cx="294249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17.2% </a:t>
                </a:r>
                <a:r>
                  <a:rPr lang="en-US" sz="1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in</a:t>
                </a:r>
                <a:endParaRPr lang="en-US" sz="5400" b="1" dirty="0">
                  <a:solidFill>
                    <a:srgbClr val="283C95"/>
                  </a:solidFill>
                  <a:latin typeface="Aptos ExtraBold" panose="020B0004020202020204" pitchFamily="34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1016BC-BFFF-965A-6675-35B4CAA4BAA4}"/>
                  </a:ext>
                </a:extLst>
              </p:cNvPr>
              <p:cNvSpPr txBox="1"/>
              <p:nvPr/>
            </p:nvSpPr>
            <p:spPr>
              <a:xfrm>
                <a:off x="437134" y="3992334"/>
                <a:ext cx="29424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+mj-lt"/>
                  </a:rPr>
                  <a:t>Los Angeles 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90173C-9FC2-6F07-2C6B-5D9EF16D6B9E}"/>
                </a:ext>
              </a:extLst>
            </p:cNvPr>
            <p:cNvGrpSpPr/>
            <p:nvPr/>
          </p:nvGrpSpPr>
          <p:grpSpPr>
            <a:xfrm>
              <a:off x="8472152" y="3660655"/>
              <a:ext cx="2968068" cy="1311652"/>
              <a:chOff x="462709" y="3203902"/>
              <a:chExt cx="2968068" cy="131165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24FC6E-8DEE-2B28-823A-4AC88F4424B9}"/>
                  </a:ext>
                </a:extLst>
              </p:cNvPr>
              <p:cNvSpPr txBox="1"/>
              <p:nvPr/>
            </p:nvSpPr>
            <p:spPr>
              <a:xfrm>
                <a:off x="462709" y="3203902"/>
                <a:ext cx="294249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11.5% </a:t>
                </a:r>
                <a:r>
                  <a:rPr lang="en-US" sz="1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in</a:t>
                </a:r>
                <a:endParaRPr lang="en-US" sz="5400" b="1" dirty="0">
                  <a:solidFill>
                    <a:srgbClr val="283C95"/>
                  </a:solidFill>
                  <a:latin typeface="Aptos ExtraBold" panose="020B00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58ECE7-85C4-DB7E-F830-AB63CAB0D81D}"/>
                  </a:ext>
                </a:extLst>
              </p:cNvPr>
              <p:cNvSpPr txBox="1"/>
              <p:nvPr/>
            </p:nvSpPr>
            <p:spPr>
              <a:xfrm>
                <a:off x="488284" y="3992334"/>
                <a:ext cx="29424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+mj-lt"/>
                  </a:rPr>
                  <a:t>Seattle 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12944DE-1A6A-626A-4CCA-764B1C51AAA2}"/>
                </a:ext>
              </a:extLst>
            </p:cNvPr>
            <p:cNvGrpSpPr/>
            <p:nvPr/>
          </p:nvGrpSpPr>
          <p:grpSpPr>
            <a:xfrm>
              <a:off x="155122" y="3708364"/>
              <a:ext cx="3939369" cy="1263943"/>
              <a:chOff x="9285" y="3251611"/>
              <a:chExt cx="3939369" cy="126394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B1E509-A4A5-2209-4694-25C1F83BB51F}"/>
                  </a:ext>
                </a:extLst>
              </p:cNvPr>
              <p:cNvSpPr txBox="1"/>
              <p:nvPr/>
            </p:nvSpPr>
            <p:spPr>
              <a:xfrm>
                <a:off x="605943" y="3251611"/>
                <a:ext cx="312490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25.1% </a:t>
                </a:r>
                <a:r>
                  <a:rPr lang="en-US" sz="1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 in</a:t>
                </a:r>
                <a:endParaRPr lang="en-US" sz="5400" b="1" dirty="0">
                  <a:solidFill>
                    <a:srgbClr val="283C95"/>
                  </a:solidFill>
                  <a:latin typeface="Aptos ExtraBold" panose="020B00040202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462845-2D56-7043-01E3-F506900AC434}"/>
                  </a:ext>
                </a:extLst>
              </p:cNvPr>
              <p:cNvSpPr txBox="1"/>
              <p:nvPr/>
            </p:nvSpPr>
            <p:spPr>
              <a:xfrm>
                <a:off x="9285" y="3992334"/>
                <a:ext cx="3939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+mj-lt"/>
                  </a:rPr>
                  <a:t>New York 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7B7C8E-CF8E-FD91-C47B-48C79A790948}"/>
                </a:ext>
              </a:extLst>
            </p:cNvPr>
            <p:cNvSpPr txBox="1"/>
            <p:nvPr/>
          </p:nvSpPr>
          <p:spPr>
            <a:xfrm>
              <a:off x="1119554" y="2882356"/>
              <a:ext cx="46013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Top 3 Cities in sales 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7322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B1C7-3CE7-3221-F2EE-A82E7DE9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330E-7F92-77A0-2E90-0390923B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50298B-0A58-F658-3001-4E69BCAFE34F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83D08-3C76-CD3D-218E-89FF2EEB03B1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Geographical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687A4-1153-48D5-5E80-F2F351E07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008" y="2171105"/>
            <a:ext cx="6953618" cy="43420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55D477-8DDB-3ABE-3412-6B48B216618B}"/>
              </a:ext>
            </a:extLst>
          </p:cNvPr>
          <p:cNvSpPr txBox="1"/>
          <p:nvPr/>
        </p:nvSpPr>
        <p:spPr>
          <a:xfrm>
            <a:off x="606318" y="2990583"/>
            <a:ext cx="368432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California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records the </a:t>
            </a:r>
            <a:r>
              <a:rPr lang="en-US" sz="2400" b="1" dirty="0"/>
              <a:t>highest sales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indicating a strong market </a:t>
            </a:r>
            <a:r>
              <a:rPr lang="en-US" sz="2400" b="1" dirty="0"/>
              <a:t>presence and potential for further expansion.</a:t>
            </a:r>
          </a:p>
        </p:txBody>
      </p:sp>
    </p:spTree>
    <p:extLst>
      <p:ext uri="{BB962C8B-B14F-4D97-AF65-F5344CB8AC3E}">
        <p14:creationId xmlns:p14="http://schemas.microsoft.com/office/powerpoint/2010/main" val="3619507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C6F7-0E2A-E241-50E5-B185F38E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3627-3FDB-C5AD-3804-46E1200B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23EC03-EE80-2A33-8450-B4F1E267CE78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87BB0-2970-E1B4-3056-4E7055A6856B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198B47-F63A-6892-9496-CC40740CA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3" y="2073152"/>
            <a:ext cx="7463937" cy="32234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34D05D-D89F-A7B6-CBDF-F4073ABD98A4}"/>
              </a:ext>
            </a:extLst>
          </p:cNvPr>
          <p:cNvSpPr txBox="1"/>
          <p:nvPr/>
        </p:nvSpPr>
        <p:spPr>
          <a:xfrm>
            <a:off x="2528521" y="5392615"/>
            <a:ext cx="8159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400" b="1" dirty="0"/>
              <a:t>Home Office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segment generates </a:t>
            </a:r>
            <a:r>
              <a:rPr lang="en-US" sz="2400" b="1" dirty="0"/>
              <a:t>the highest sales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suggesting </a:t>
            </a:r>
            <a:r>
              <a:rPr lang="en-US" sz="2400" b="1" dirty="0"/>
              <a:t>a key target audience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future strategies</a:t>
            </a:r>
          </a:p>
        </p:txBody>
      </p:sp>
    </p:spTree>
    <p:extLst>
      <p:ext uri="{BB962C8B-B14F-4D97-AF65-F5344CB8AC3E}">
        <p14:creationId xmlns:p14="http://schemas.microsoft.com/office/powerpoint/2010/main" val="829076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013AA-4211-F323-D29C-E3809C01A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F066-D877-52BB-14EC-707671A63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DCA776-CAB6-4F23-3424-9D36E4E7BC89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A1FBE-0EA0-7B3B-D926-155C98147CFC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8F00C5-33DA-A3D6-8674-4220C29BE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37" y="2152422"/>
            <a:ext cx="10769681" cy="413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01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ED27C-99A7-DF9D-E24A-9C98DBA74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CEFB-7D2D-A131-4C53-4ECBDC18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45" y="689"/>
            <a:ext cx="4448908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05 Modeling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A5E326-8147-0E6A-896C-C1CA803D67B7}"/>
              </a:ext>
            </a:extLst>
          </p:cNvPr>
          <p:cNvGrpSpPr/>
          <p:nvPr/>
        </p:nvGrpSpPr>
        <p:grpSpPr>
          <a:xfrm>
            <a:off x="296967" y="2724213"/>
            <a:ext cx="7802521" cy="2875607"/>
            <a:chOff x="4389479" y="3026182"/>
            <a:chExt cx="7802521" cy="287560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B48B9E-64D2-2CD7-B1F5-0DD360815D55}"/>
                </a:ext>
              </a:extLst>
            </p:cNvPr>
            <p:cNvSpPr txBox="1"/>
            <p:nvPr/>
          </p:nvSpPr>
          <p:spPr>
            <a:xfrm>
              <a:off x="4404946" y="3026182"/>
              <a:ext cx="778705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283C95"/>
                  </a:solidFill>
                  <a:latin typeface="+mj-lt"/>
                </a:rPr>
                <a:t>Models Used</a:t>
              </a:r>
              <a:r>
                <a:rPr lang="en-US" sz="2400" b="0" i="0" dirty="0">
                  <a:solidFill>
                    <a:srgbClr val="F8FAFF"/>
                  </a:solidFill>
                  <a:effectLst/>
                  <a:latin typeface="Inter"/>
                </a:rPr>
                <a:t>: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Linear Regression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Decision Tree Regressor</a:t>
              </a:r>
              <a:endParaRPr lang="en-US" sz="2000" b="1" i="0" dirty="0">
                <a:effectLst/>
                <a:latin typeface="+mj-lt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dirty="0"/>
                <a:t>Random Forest Regressor</a:t>
              </a:r>
              <a:endParaRPr lang="en-US" sz="2000" b="1" dirty="0">
                <a:solidFill>
                  <a:srgbClr val="283C95"/>
                </a:solidFill>
                <a:latin typeface="+mj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FBDA21-87E3-6AD4-91CF-6D8247260409}"/>
                </a:ext>
              </a:extLst>
            </p:cNvPr>
            <p:cNvSpPr txBox="1"/>
            <p:nvPr/>
          </p:nvSpPr>
          <p:spPr>
            <a:xfrm>
              <a:off x="4389479" y="4724544"/>
              <a:ext cx="7531580" cy="1177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0" dirty="0">
                  <a:solidFill>
                    <a:srgbClr val="283C95"/>
                  </a:solidFill>
                  <a:effectLst/>
                  <a:latin typeface="+mj-lt"/>
                </a:rPr>
                <a:t>Evaluation Metrics</a:t>
              </a:r>
              <a:endParaRPr lang="en-US" sz="2400" b="0" i="0" dirty="0">
                <a:solidFill>
                  <a:srgbClr val="F8FAFF"/>
                </a:solidFill>
                <a:effectLst/>
                <a:latin typeface="Inter"/>
              </a:endParaRP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i="0" dirty="0">
                  <a:effectLst/>
                  <a:latin typeface="+mj-lt"/>
                </a:rPr>
                <a:t>MAE, MSE, RMSE: Measure prediction error</a:t>
              </a:r>
            </a:p>
            <a:p>
              <a:pPr marL="342900" indent="-342900" algn="l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+mj-lt"/>
                </a:rPr>
                <a:t>RMSLE: Accounts for relative error, useful for skewed sales data</a:t>
              </a:r>
              <a:endParaRPr lang="en-US" sz="2000" b="1" i="0" dirty="0">
                <a:effectLst/>
                <a:latin typeface="+mj-lt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310C6E-53C8-8140-1187-BFE8044A1D5B}"/>
              </a:ext>
            </a:extLst>
          </p:cNvPr>
          <p:cNvSpPr txBox="1"/>
          <p:nvPr/>
        </p:nvSpPr>
        <p:spPr>
          <a:xfrm>
            <a:off x="304414" y="1144066"/>
            <a:ext cx="77870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83C95"/>
                </a:solidFill>
                <a:latin typeface="+mj-lt"/>
              </a:rPr>
              <a:t>Objectives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Inter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Select appropriate regression models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Evaluate their performance using key metrics</a:t>
            </a:r>
            <a:endParaRPr lang="en-US" sz="2000" b="1" i="0" dirty="0"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Apply cross-validation to ensure model reliability</a:t>
            </a:r>
            <a:endParaRPr lang="en-US" sz="2000" b="1" dirty="0">
              <a:solidFill>
                <a:srgbClr val="283C95"/>
              </a:solidFill>
              <a:latin typeface="+mj-lt"/>
            </a:endParaRPr>
          </a:p>
        </p:txBody>
      </p:sp>
      <p:pic>
        <p:nvPicPr>
          <p:cNvPr id="14" name="Picture 13" descr="A graph on a screen&#10;&#10;AI-generated content may be incorrect.">
            <a:extLst>
              <a:ext uri="{FF2B5EF4-FFF2-40B4-BE49-F238E27FC236}">
                <a16:creationId xmlns:a16="http://schemas.microsoft.com/office/drawing/2014/main" id="{7F84FF2A-065B-4CE0-FFDE-6044D67C9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74" y="0"/>
            <a:ext cx="3842426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1673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8DA6B-7802-5269-82A4-D60CFF5C9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EB7D-CD6F-AF23-AC14-AC118EA76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4" y="53240"/>
            <a:ext cx="8700879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05 Modeling : </a:t>
            </a:r>
            <a:r>
              <a:rPr lang="en-US" sz="4400" b="1" dirty="0">
                <a:solidFill>
                  <a:srgbClr val="283C95"/>
                </a:solidFill>
                <a:latin typeface="+mj-lt"/>
              </a:rPr>
              <a:t>Linear Regression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E84C62-3D24-970E-78CA-D17C9C1D15A2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909537-84ED-BA4E-AF83-F481D827D704}"/>
              </a:ext>
            </a:extLst>
          </p:cNvPr>
          <p:cNvGrpSpPr/>
          <p:nvPr/>
        </p:nvGrpSpPr>
        <p:grpSpPr>
          <a:xfrm>
            <a:off x="428776" y="1651539"/>
            <a:ext cx="7463940" cy="4679998"/>
            <a:chOff x="4404946" y="3026182"/>
            <a:chExt cx="7787054" cy="46799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782079-AE8E-63F0-86E6-DA9451B50142}"/>
                </a:ext>
              </a:extLst>
            </p:cNvPr>
            <p:cNvSpPr txBox="1"/>
            <p:nvPr/>
          </p:nvSpPr>
          <p:spPr>
            <a:xfrm>
              <a:off x="4404946" y="5028524"/>
              <a:ext cx="6805275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0" dirty="0">
                  <a:solidFill>
                    <a:srgbClr val="283C95"/>
                  </a:solidFill>
                  <a:effectLst/>
                  <a:latin typeface="+mj-lt"/>
                </a:rPr>
                <a:t>Conclusion</a:t>
              </a:r>
            </a:p>
            <a:p>
              <a:r>
                <a:rPr lang="en-US" sz="2000" b="1" dirty="0"/>
                <a:t>The linear regression model gave us a decent start, but as seen in the metrics, there’s quite a bit of error — especially noticeable in the RMSLE. This suggests that our sales data might have a skewed or wide distribution, which this linear model doesn’t capture well. That’s why we explored more flexible models next.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977A9C-61D7-2A77-ABD2-6B89201B9AED}"/>
                </a:ext>
              </a:extLst>
            </p:cNvPr>
            <p:cNvSpPr txBox="1"/>
            <p:nvPr/>
          </p:nvSpPr>
          <p:spPr>
            <a:xfrm>
              <a:off x="4404946" y="3026182"/>
              <a:ext cx="778705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283C95"/>
                  </a:solidFill>
                  <a:latin typeface="+mj-lt"/>
                </a:rPr>
                <a:t>Interpretation</a:t>
              </a:r>
              <a:r>
                <a:rPr lang="en-US" sz="2400" b="0" i="0" dirty="0">
                  <a:solidFill>
                    <a:srgbClr val="F8FAFF"/>
                  </a:solidFill>
                  <a:effectLst/>
                  <a:latin typeface="Inter"/>
                </a:rPr>
                <a:t>: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The average error between predicted and actual sales is ~241 units.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A relatively high RMSLE (1.55) suggests the model struggles more with larger sales values.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928E12D-E937-7807-483E-E77C6DC185C5}"/>
              </a:ext>
            </a:extLst>
          </p:cNvPr>
          <p:cNvSpPr/>
          <p:nvPr/>
        </p:nvSpPr>
        <p:spPr>
          <a:xfrm rot="20111035">
            <a:off x="7892328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0E37AC-A444-1850-D78F-20CA7220FB80}"/>
              </a:ext>
            </a:extLst>
          </p:cNvPr>
          <p:cNvSpPr/>
          <p:nvPr/>
        </p:nvSpPr>
        <p:spPr>
          <a:xfrm rot="20111035">
            <a:off x="8474283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C1DD0E-7429-7D1F-7E14-E583E54454AF}"/>
              </a:ext>
            </a:extLst>
          </p:cNvPr>
          <p:cNvSpPr/>
          <p:nvPr/>
        </p:nvSpPr>
        <p:spPr>
          <a:xfrm rot="20111035">
            <a:off x="9056238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195C89-9CA6-DA09-C02C-43AD14C85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895849"/>
              </p:ext>
            </p:extLst>
          </p:nvPr>
        </p:nvGraphicFramePr>
        <p:xfrm>
          <a:off x="7889600" y="2101517"/>
          <a:ext cx="3881486" cy="310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743">
                  <a:extLst>
                    <a:ext uri="{9D8B030D-6E8A-4147-A177-3AD203B41FA5}">
                      <a16:colId xmlns:a16="http://schemas.microsoft.com/office/drawing/2014/main" val="4078473568"/>
                    </a:ext>
                  </a:extLst>
                </a:gridCol>
                <a:gridCol w="1940743">
                  <a:extLst>
                    <a:ext uri="{9D8B030D-6E8A-4147-A177-3AD203B41FA5}">
                      <a16:colId xmlns:a16="http://schemas.microsoft.com/office/drawing/2014/main" val="4078701055"/>
                    </a:ext>
                  </a:extLst>
                </a:gridCol>
              </a:tblGrid>
              <a:tr h="6209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Performance Metrics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094624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RMSLE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7187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740.92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564356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548960.22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555358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240.86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83111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7F4E979-5EFD-DFA3-73FC-853A4CCCD062}"/>
              </a:ext>
            </a:extLst>
          </p:cNvPr>
          <p:cNvSpPr/>
          <p:nvPr/>
        </p:nvSpPr>
        <p:spPr>
          <a:xfrm rot="20111035">
            <a:off x="6590704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5A8E04-AB53-B24C-B32A-33C2ADDC8048}"/>
              </a:ext>
            </a:extLst>
          </p:cNvPr>
          <p:cNvSpPr/>
          <p:nvPr/>
        </p:nvSpPr>
        <p:spPr>
          <a:xfrm rot="20111035">
            <a:off x="7172659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E755BB-923D-B77A-4421-C87F47FDAE1A}"/>
              </a:ext>
            </a:extLst>
          </p:cNvPr>
          <p:cNvSpPr/>
          <p:nvPr/>
        </p:nvSpPr>
        <p:spPr>
          <a:xfrm rot="20111035">
            <a:off x="7754614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684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F9A5-70E2-F0B9-6C41-77607D0F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7E2F-421D-E8D8-9486-5333D050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4" y="53240"/>
            <a:ext cx="10802395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05 Modeling : </a:t>
            </a:r>
            <a:r>
              <a:rPr lang="en-US" dirty="0">
                <a:solidFill>
                  <a:srgbClr val="283C95"/>
                </a:solidFill>
                <a:latin typeface="Aptos ExtraBold" panose="020B0004020202020204" pitchFamily="34" charset="0"/>
              </a:rPr>
              <a:t>Decision Tree Regressor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7E2B10-B756-18F2-FEA8-DC7ADBD2AB05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C98AE5-8768-1436-61B7-FAC4F170DE01}"/>
              </a:ext>
            </a:extLst>
          </p:cNvPr>
          <p:cNvGrpSpPr/>
          <p:nvPr/>
        </p:nvGrpSpPr>
        <p:grpSpPr>
          <a:xfrm>
            <a:off x="428776" y="1651539"/>
            <a:ext cx="7463940" cy="3853473"/>
            <a:chOff x="4404946" y="3026182"/>
            <a:chExt cx="7787054" cy="38534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D49B51-659C-6C15-88F5-EB8CCC49DA71}"/>
                </a:ext>
              </a:extLst>
            </p:cNvPr>
            <p:cNvSpPr txBox="1"/>
            <p:nvPr/>
          </p:nvSpPr>
          <p:spPr>
            <a:xfrm>
              <a:off x="4404946" y="5433105"/>
              <a:ext cx="6805275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0" dirty="0">
                  <a:solidFill>
                    <a:srgbClr val="283C95"/>
                  </a:solidFill>
                  <a:effectLst/>
                  <a:latin typeface="+mj-lt"/>
                </a:rPr>
                <a:t>Conclusion</a:t>
              </a:r>
            </a:p>
            <a:p>
              <a:r>
                <a:rPr lang="en-US" sz="2000" b="1" dirty="0"/>
                <a:t>The Decision Tree didn’t outperform Linear Regression, indicating a need for either better tuning or an ensemble method like Random Forest.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972FDC-E54F-D440-05CF-48DF18B5237C}"/>
                </a:ext>
              </a:extLst>
            </p:cNvPr>
            <p:cNvSpPr txBox="1"/>
            <p:nvPr/>
          </p:nvSpPr>
          <p:spPr>
            <a:xfrm>
              <a:off x="4404946" y="3026182"/>
              <a:ext cx="7787054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283C95"/>
                  </a:solidFill>
                  <a:latin typeface="+mj-lt"/>
                </a:rPr>
                <a:t>Interpretation</a:t>
              </a:r>
              <a:r>
                <a:rPr lang="en-US" sz="2400" b="0" i="0" dirty="0">
                  <a:solidFill>
                    <a:srgbClr val="F8FAFF"/>
                  </a:solidFill>
                  <a:effectLst/>
                  <a:latin typeface="Inter"/>
                </a:rPr>
                <a:t>: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The MAE increased to ~326 units compared to Linear Regression's 240.</a:t>
              </a:r>
              <a:endParaRPr lang="ar-EG" sz="2000" b="1" dirty="0"/>
            </a:p>
            <a:p>
              <a:pPr algn="l"/>
              <a:endParaRPr lang="ar-EG" sz="2000" b="1" dirty="0"/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RMSLE (1.63) is higher than Linear Regression → worse at handling larger sales values.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7279A1-5190-8F4E-411A-52693F994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544672"/>
              </p:ext>
            </p:extLst>
          </p:nvPr>
        </p:nvGraphicFramePr>
        <p:xfrm>
          <a:off x="7889600" y="2101517"/>
          <a:ext cx="3881486" cy="310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743">
                  <a:extLst>
                    <a:ext uri="{9D8B030D-6E8A-4147-A177-3AD203B41FA5}">
                      <a16:colId xmlns:a16="http://schemas.microsoft.com/office/drawing/2014/main" val="4078473568"/>
                    </a:ext>
                  </a:extLst>
                </a:gridCol>
                <a:gridCol w="1940743">
                  <a:extLst>
                    <a:ext uri="{9D8B030D-6E8A-4147-A177-3AD203B41FA5}">
                      <a16:colId xmlns:a16="http://schemas.microsoft.com/office/drawing/2014/main" val="4078701055"/>
                    </a:ext>
                  </a:extLst>
                </a:gridCol>
              </a:tblGrid>
              <a:tr h="6209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Performance Metrics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094624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RMSLE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1.63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7187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1053.69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564356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1110271.53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555358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326.07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83111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265D988-DD7E-9D30-366B-B4E35E1BC992}"/>
              </a:ext>
            </a:extLst>
          </p:cNvPr>
          <p:cNvSpPr/>
          <p:nvPr/>
        </p:nvSpPr>
        <p:spPr>
          <a:xfrm rot="20111035">
            <a:off x="9530628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DE607A-6C20-9100-B916-77E00692D0F8}"/>
              </a:ext>
            </a:extLst>
          </p:cNvPr>
          <p:cNvSpPr/>
          <p:nvPr/>
        </p:nvSpPr>
        <p:spPr>
          <a:xfrm rot="20111035">
            <a:off x="10112583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1C3A6B-54C7-017F-55CD-D7B94674919E}"/>
              </a:ext>
            </a:extLst>
          </p:cNvPr>
          <p:cNvSpPr/>
          <p:nvPr/>
        </p:nvSpPr>
        <p:spPr>
          <a:xfrm rot="20111035">
            <a:off x="10694538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2DF151-23B8-C6D3-A9EC-EA8990C65616}"/>
              </a:ext>
            </a:extLst>
          </p:cNvPr>
          <p:cNvSpPr/>
          <p:nvPr/>
        </p:nvSpPr>
        <p:spPr>
          <a:xfrm rot="20111035">
            <a:off x="6266854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4E0C72-0275-FD8F-4D5D-E79F2EC90AB8}"/>
              </a:ext>
            </a:extLst>
          </p:cNvPr>
          <p:cNvSpPr/>
          <p:nvPr/>
        </p:nvSpPr>
        <p:spPr>
          <a:xfrm rot="20111035">
            <a:off x="6848809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0577BC-0C05-EE24-5E69-F63A49678929}"/>
              </a:ext>
            </a:extLst>
          </p:cNvPr>
          <p:cNvSpPr/>
          <p:nvPr/>
        </p:nvSpPr>
        <p:spPr>
          <a:xfrm rot="20111035">
            <a:off x="7430764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12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3042D-D3D9-5DEF-38A6-B00E91CA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3491-3A91-8B21-7571-BB960C02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4" y="53240"/>
            <a:ext cx="10802395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05 Modeling : </a:t>
            </a:r>
            <a:r>
              <a:rPr lang="en-US" dirty="0">
                <a:solidFill>
                  <a:srgbClr val="283C95"/>
                </a:solidFill>
                <a:latin typeface="Aptos ExtraBold" panose="020B0004020202020204" pitchFamily="34" charset="0"/>
              </a:rPr>
              <a:t>Random Forest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BEFE46B-B3E9-FC95-B6DF-37973AF88E8B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0D888D-F20C-0EDB-21D5-AACABD798FB8}"/>
              </a:ext>
            </a:extLst>
          </p:cNvPr>
          <p:cNvGrpSpPr/>
          <p:nvPr/>
        </p:nvGrpSpPr>
        <p:grpSpPr>
          <a:xfrm>
            <a:off x="428776" y="1651539"/>
            <a:ext cx="7463940" cy="4161249"/>
            <a:chOff x="4404946" y="3026182"/>
            <a:chExt cx="7787054" cy="416124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384167-1707-469D-A6BB-0128B30A36AF}"/>
                </a:ext>
              </a:extLst>
            </p:cNvPr>
            <p:cNvSpPr txBox="1"/>
            <p:nvPr/>
          </p:nvSpPr>
          <p:spPr>
            <a:xfrm>
              <a:off x="4404946" y="5433105"/>
              <a:ext cx="680527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0" dirty="0">
                  <a:solidFill>
                    <a:srgbClr val="283C95"/>
                  </a:solidFill>
                  <a:effectLst/>
                  <a:latin typeface="+mj-lt"/>
                </a:rPr>
                <a:t>Conclusion</a:t>
              </a:r>
            </a:p>
            <a:p>
              <a:r>
                <a:rPr lang="en-US" sz="2000" b="1" dirty="0"/>
                <a:t>Random Forest offers the most consistent performance across all metrics. It handles complexity better than a single Decision Tree and reduces overfitting while capturing non-linear patterns.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208DD5-EB10-BF52-3373-15D5CD63F361}"/>
                </a:ext>
              </a:extLst>
            </p:cNvPr>
            <p:cNvSpPr txBox="1"/>
            <p:nvPr/>
          </p:nvSpPr>
          <p:spPr>
            <a:xfrm>
              <a:off x="4404946" y="3026182"/>
              <a:ext cx="7787054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283C95"/>
                  </a:solidFill>
                  <a:latin typeface="+mj-lt"/>
                </a:rPr>
                <a:t>Interpretation</a:t>
              </a:r>
              <a:r>
                <a:rPr lang="en-US" sz="2400" b="0" i="0" dirty="0">
                  <a:solidFill>
                    <a:srgbClr val="F8FAFF"/>
                  </a:solidFill>
                  <a:effectLst/>
                  <a:latin typeface="Inter"/>
                </a:rPr>
                <a:t>: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Best RMSLE of all models (1.52), suggesting it's better at predicting both low and high sales values.</a:t>
              </a:r>
              <a:endParaRPr lang="ar-EG" sz="2000" b="1" dirty="0"/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Lower RMSE and MSE than Decision Tree → better generalization.</a:t>
              </a:r>
              <a:endParaRPr lang="ar-EG" sz="2000" b="1" dirty="0"/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Slightly higher MAE than Linear Regression, but overall more balanced performance.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1C9801-5E38-4E41-2C1E-D9EB1D4DB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756842"/>
              </p:ext>
            </p:extLst>
          </p:nvPr>
        </p:nvGraphicFramePr>
        <p:xfrm>
          <a:off x="7889600" y="2101517"/>
          <a:ext cx="3881486" cy="310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743">
                  <a:extLst>
                    <a:ext uri="{9D8B030D-6E8A-4147-A177-3AD203B41FA5}">
                      <a16:colId xmlns:a16="http://schemas.microsoft.com/office/drawing/2014/main" val="4078473568"/>
                    </a:ext>
                  </a:extLst>
                </a:gridCol>
                <a:gridCol w="1940743">
                  <a:extLst>
                    <a:ext uri="{9D8B030D-6E8A-4147-A177-3AD203B41FA5}">
                      <a16:colId xmlns:a16="http://schemas.microsoft.com/office/drawing/2014/main" val="4078701055"/>
                    </a:ext>
                  </a:extLst>
                </a:gridCol>
              </a:tblGrid>
              <a:tr h="6209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Performance Metrics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094624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RMSLE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1.52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7187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783.14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564356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613309.2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555358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265.67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83111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F39FC77-CD70-E12D-84B5-DE00D9C7535F}"/>
              </a:ext>
            </a:extLst>
          </p:cNvPr>
          <p:cNvSpPr/>
          <p:nvPr/>
        </p:nvSpPr>
        <p:spPr>
          <a:xfrm rot="20111035">
            <a:off x="7892328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58004E-EDB0-FD1D-4C24-5C2C689E712B}"/>
              </a:ext>
            </a:extLst>
          </p:cNvPr>
          <p:cNvSpPr/>
          <p:nvPr/>
        </p:nvSpPr>
        <p:spPr>
          <a:xfrm rot="20111035">
            <a:off x="8474283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16623E-35F7-2057-4901-550C88B7F9D0}"/>
              </a:ext>
            </a:extLst>
          </p:cNvPr>
          <p:cNvSpPr/>
          <p:nvPr/>
        </p:nvSpPr>
        <p:spPr>
          <a:xfrm rot="20111035">
            <a:off x="9056238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1EA02-EF5B-CC38-0DD6-C9E27FBCEB62}"/>
              </a:ext>
            </a:extLst>
          </p:cNvPr>
          <p:cNvSpPr/>
          <p:nvPr/>
        </p:nvSpPr>
        <p:spPr>
          <a:xfrm rot="20111035">
            <a:off x="6590704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4A2731-9930-29C1-B72F-3CE273B3CF49}"/>
              </a:ext>
            </a:extLst>
          </p:cNvPr>
          <p:cNvSpPr/>
          <p:nvPr/>
        </p:nvSpPr>
        <p:spPr>
          <a:xfrm rot="20111035">
            <a:off x="7172659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5C5AD9-7F75-AF8F-9585-9278BA08C9B5}"/>
              </a:ext>
            </a:extLst>
          </p:cNvPr>
          <p:cNvSpPr/>
          <p:nvPr/>
        </p:nvSpPr>
        <p:spPr>
          <a:xfrm rot="20111035">
            <a:off x="7754614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219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E32C5-EB5D-C610-CB63-3FB13AC6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26D5-06DC-CB19-8F02-937E2AD36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4" y="53240"/>
            <a:ext cx="10802395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05 Modeling : </a:t>
            </a:r>
            <a:r>
              <a:rPr lang="ar-EG" dirty="0">
                <a:solidFill>
                  <a:srgbClr val="283C95"/>
                </a:solidFill>
                <a:latin typeface="Aptos ExtraBold" panose="020B0004020202020204" pitchFamily="34" charset="0"/>
              </a:rPr>
              <a:t>	</a:t>
            </a:r>
            <a:r>
              <a:rPr lang="en-US" dirty="0">
                <a:solidFill>
                  <a:srgbClr val="283C95"/>
                </a:solidFill>
                <a:latin typeface="Aptos ExtraBold" panose="020B0004020202020204" pitchFamily="34" charset="0"/>
              </a:rPr>
              <a:t>Cross-Validation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73EA9C-8B14-6F24-43F4-474A58780B34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780BD3-F6DD-AEA2-77F9-76011242A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93637"/>
              </p:ext>
            </p:extLst>
          </p:nvPr>
        </p:nvGraphicFramePr>
        <p:xfrm>
          <a:off x="5499058" y="2158385"/>
          <a:ext cx="6323705" cy="2541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654">
                  <a:extLst>
                    <a:ext uri="{9D8B030D-6E8A-4147-A177-3AD203B41FA5}">
                      <a16:colId xmlns:a16="http://schemas.microsoft.com/office/drawing/2014/main" val="2131199604"/>
                    </a:ext>
                  </a:extLst>
                </a:gridCol>
                <a:gridCol w="1251284">
                  <a:extLst>
                    <a:ext uri="{9D8B030D-6E8A-4147-A177-3AD203B41FA5}">
                      <a16:colId xmlns:a16="http://schemas.microsoft.com/office/drawing/2014/main" val="4078473568"/>
                    </a:ext>
                  </a:extLst>
                </a:gridCol>
                <a:gridCol w="1283368">
                  <a:extLst>
                    <a:ext uri="{9D8B030D-6E8A-4147-A177-3AD203B41FA5}">
                      <a16:colId xmlns:a16="http://schemas.microsoft.com/office/drawing/2014/main" val="4078701055"/>
                    </a:ext>
                  </a:extLst>
                </a:gridCol>
                <a:gridCol w="1475874">
                  <a:extLst>
                    <a:ext uri="{9D8B030D-6E8A-4147-A177-3AD203B41FA5}">
                      <a16:colId xmlns:a16="http://schemas.microsoft.com/office/drawing/2014/main" val="2646876911"/>
                    </a:ext>
                  </a:extLst>
                </a:gridCol>
                <a:gridCol w="962525">
                  <a:extLst>
                    <a:ext uri="{9D8B030D-6E8A-4147-A177-3AD203B41FA5}">
                      <a16:colId xmlns:a16="http://schemas.microsoft.com/office/drawing/2014/main" val="3670492668"/>
                    </a:ext>
                  </a:extLst>
                </a:gridCol>
              </a:tblGrid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Model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RMSLE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MAE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9094624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Linear Regression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1.552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569.81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324685.17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213.69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7187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Decision Tree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832.26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692660.93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289.28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564356"/>
                  </a:ext>
                </a:extLst>
              </a:tr>
              <a:tr h="62098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Random Forest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1.554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668.04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4446271.71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248.64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555358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E9814EA-5E35-AD1C-3F4E-F7C54CB2DA6B}"/>
              </a:ext>
            </a:extLst>
          </p:cNvPr>
          <p:cNvGrpSpPr/>
          <p:nvPr/>
        </p:nvGrpSpPr>
        <p:grpSpPr>
          <a:xfrm>
            <a:off x="369237" y="1378803"/>
            <a:ext cx="7359316" cy="4873595"/>
            <a:chOff x="4404946" y="3026182"/>
            <a:chExt cx="11598853" cy="417150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646F92-271B-9274-5265-0A5CB14EC712}"/>
                </a:ext>
              </a:extLst>
            </p:cNvPr>
            <p:cNvSpPr txBox="1"/>
            <p:nvPr/>
          </p:nvSpPr>
          <p:spPr>
            <a:xfrm>
              <a:off x="4404946" y="5959530"/>
              <a:ext cx="11598853" cy="1238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0" dirty="0">
                  <a:solidFill>
                    <a:srgbClr val="283C95"/>
                  </a:solidFill>
                  <a:effectLst/>
                  <a:latin typeface="+mj-lt"/>
                </a:rPr>
                <a:t>Conclusion</a:t>
              </a:r>
            </a:p>
            <a:p>
              <a:r>
                <a:rPr lang="en-US" sz="2000" b="1" dirty="0"/>
                <a:t>Cross-validation confirms that Random Forest is the most robust overall, while Linear Regression is still surprisingly strong as a baseline.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2474E2-95D3-6C33-DD52-69A00A351228}"/>
                </a:ext>
              </a:extLst>
            </p:cNvPr>
            <p:cNvSpPr txBox="1"/>
            <p:nvPr/>
          </p:nvSpPr>
          <p:spPr>
            <a:xfrm>
              <a:off x="4404946" y="3026182"/>
              <a:ext cx="7787054" cy="2818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283C95"/>
                  </a:solidFill>
                  <a:latin typeface="+mj-lt"/>
                </a:rPr>
                <a:t>Interpretation</a:t>
              </a:r>
              <a:r>
                <a:rPr lang="en-US" sz="2400" b="0" i="0" dirty="0">
                  <a:solidFill>
                    <a:srgbClr val="F8FAFF"/>
                  </a:solidFill>
                  <a:effectLst/>
                  <a:latin typeface="Inter"/>
                </a:rPr>
                <a:t>: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Linear Regression</a:t>
              </a:r>
              <a:r>
                <a:rPr lang="en-US" sz="2000" dirty="0"/>
                <a:t> has the lowest average MAE, indicating the most consistent performance across folds.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Random Forest</a:t>
              </a:r>
              <a:r>
                <a:rPr lang="en-US" sz="2000" dirty="0"/>
                <a:t> provides a good tradeoff: lower RMSLE and RMSE than Decision Tree while keeping MAE close to Linear Regression.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Decision Tree</a:t>
              </a:r>
              <a:r>
                <a:rPr lang="en-US" sz="2000" dirty="0"/>
                <a:t> performs the worst, confirming its tendency to overfit.</a:t>
              </a:r>
              <a:endParaRPr lang="en-US" sz="2000" b="1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93E461F-0917-1443-CBFB-591D68DA2F62}"/>
              </a:ext>
            </a:extLst>
          </p:cNvPr>
          <p:cNvSpPr/>
          <p:nvPr/>
        </p:nvSpPr>
        <p:spPr>
          <a:xfrm rot="20111035">
            <a:off x="7892328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C80EA-7928-0AE8-83D6-2E63404202F8}"/>
              </a:ext>
            </a:extLst>
          </p:cNvPr>
          <p:cNvSpPr/>
          <p:nvPr/>
        </p:nvSpPr>
        <p:spPr>
          <a:xfrm rot="20111035">
            <a:off x="8474283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1ED55-E885-9BAE-C02C-1D09CA190143}"/>
              </a:ext>
            </a:extLst>
          </p:cNvPr>
          <p:cNvSpPr/>
          <p:nvPr/>
        </p:nvSpPr>
        <p:spPr>
          <a:xfrm rot="20111035">
            <a:off x="9056238" y="-451433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F83524-8B88-2198-018B-147B3725B0F4}"/>
              </a:ext>
            </a:extLst>
          </p:cNvPr>
          <p:cNvSpPr/>
          <p:nvPr/>
        </p:nvSpPr>
        <p:spPr>
          <a:xfrm rot="20111035">
            <a:off x="6590704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339D0-71CA-D39D-0D6B-1E3F119EF5B4}"/>
              </a:ext>
            </a:extLst>
          </p:cNvPr>
          <p:cNvSpPr/>
          <p:nvPr/>
        </p:nvSpPr>
        <p:spPr>
          <a:xfrm rot="20111035">
            <a:off x="7172659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5B4C97-393C-D56A-8D0E-71AEB98E1DBF}"/>
              </a:ext>
            </a:extLst>
          </p:cNvPr>
          <p:cNvSpPr/>
          <p:nvPr/>
        </p:nvSpPr>
        <p:spPr>
          <a:xfrm rot="20111035">
            <a:off x="7754614" y="6467729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316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CA9D-644A-2635-269C-65C0FFB1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solidFill>
                  <a:srgbClr val="283C95"/>
                </a:solidFill>
                <a:latin typeface="Aptos ExtraBold" panose="020B000402020202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936647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D644D-A96D-51F9-09BB-835A74EA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002779-1F19-ECFC-53D2-8FAF131FF577}"/>
              </a:ext>
            </a:extLst>
          </p:cNvPr>
          <p:cNvSpPr txBox="1"/>
          <p:nvPr/>
        </p:nvSpPr>
        <p:spPr>
          <a:xfrm>
            <a:off x="1817077" y="422030"/>
            <a:ext cx="79599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283C95"/>
                </a:solidFill>
                <a:latin typeface="Aptos ExtraBold" panose="020B0004020202020204" pitchFamily="34" charset="0"/>
              </a:rPr>
              <a:t>Thank You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4D443F-C470-04AC-E5EC-98C5EEE9F8B3}"/>
              </a:ext>
            </a:extLst>
          </p:cNvPr>
          <p:cNvGrpSpPr/>
          <p:nvPr/>
        </p:nvGrpSpPr>
        <p:grpSpPr>
          <a:xfrm>
            <a:off x="1101967" y="2202005"/>
            <a:ext cx="8768861" cy="4379097"/>
            <a:chOff x="574428" y="2202005"/>
            <a:chExt cx="8768861" cy="43790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AF4E5A0-0ADB-28B0-F5FD-54B470DD420B}"/>
                </a:ext>
              </a:extLst>
            </p:cNvPr>
            <p:cNvSpPr txBox="1"/>
            <p:nvPr/>
          </p:nvSpPr>
          <p:spPr>
            <a:xfrm>
              <a:off x="574428" y="2202005"/>
              <a:ext cx="3317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Presented By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03469A2-FC05-D0C0-1341-AEC630C0F8A7}"/>
                </a:ext>
              </a:extLst>
            </p:cNvPr>
            <p:cNvGrpSpPr/>
            <p:nvPr/>
          </p:nvGrpSpPr>
          <p:grpSpPr>
            <a:xfrm>
              <a:off x="574428" y="2729093"/>
              <a:ext cx="8768861" cy="1184482"/>
              <a:chOff x="574431" y="2714582"/>
              <a:chExt cx="8768861" cy="118448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D2CFF8-8489-A639-CE73-88CDAA13F204}"/>
                  </a:ext>
                </a:extLst>
              </p:cNvPr>
              <p:cNvSpPr txBox="1"/>
              <p:nvPr/>
            </p:nvSpPr>
            <p:spPr>
              <a:xfrm>
                <a:off x="574431" y="2714582"/>
                <a:ext cx="31652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Abdallah Gasem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80BAE8-7C06-8603-56D8-900B065204C2}"/>
                  </a:ext>
                </a:extLst>
              </p:cNvPr>
              <p:cNvSpPr txBox="1"/>
              <p:nvPr/>
            </p:nvSpPr>
            <p:spPr>
              <a:xfrm>
                <a:off x="6178061" y="2732746"/>
                <a:ext cx="31652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Abdallah Sayed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6DA637-E2FF-6C93-EBBA-B5C9C6E21C15}"/>
                  </a:ext>
                </a:extLst>
              </p:cNvPr>
              <p:cNvSpPr txBox="1"/>
              <p:nvPr/>
            </p:nvSpPr>
            <p:spPr>
              <a:xfrm>
                <a:off x="3739660" y="3437399"/>
                <a:ext cx="21922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Micheal Emad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FE9635-D698-8C34-5D72-8353434B6218}"/>
                  </a:ext>
                </a:extLst>
              </p:cNvPr>
              <p:cNvSpPr txBox="1"/>
              <p:nvPr/>
            </p:nvSpPr>
            <p:spPr>
              <a:xfrm>
                <a:off x="3739661" y="2732746"/>
                <a:ext cx="31652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Mazen Karam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384D07-68A9-3357-FA18-6CE3B9FDDC9A}"/>
                  </a:ext>
                </a:extLst>
              </p:cNvPr>
              <p:cNvSpPr txBox="1"/>
              <p:nvPr/>
            </p:nvSpPr>
            <p:spPr>
              <a:xfrm>
                <a:off x="574432" y="3383608"/>
                <a:ext cx="19460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Youseff Ali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44635D-5F2B-6577-A865-0167C07C37C2}"/>
                  </a:ext>
                </a:extLst>
              </p:cNvPr>
              <p:cNvSpPr txBox="1"/>
              <p:nvPr/>
            </p:nvSpPr>
            <p:spPr>
              <a:xfrm>
                <a:off x="6178061" y="3401193"/>
                <a:ext cx="2414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Mostafa Ahmed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289DFF-07DD-7323-FB64-6A43B0F07F91}"/>
                </a:ext>
              </a:extLst>
            </p:cNvPr>
            <p:cNvGrpSpPr/>
            <p:nvPr/>
          </p:nvGrpSpPr>
          <p:grpSpPr>
            <a:xfrm>
              <a:off x="574428" y="4128907"/>
              <a:ext cx="3317631" cy="998084"/>
              <a:chOff x="574429" y="4447183"/>
              <a:chExt cx="3317631" cy="99808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0457BE-1343-A6A6-5C69-9AB91FC2B194}"/>
                  </a:ext>
                </a:extLst>
              </p:cNvPr>
              <p:cNvSpPr txBox="1"/>
              <p:nvPr/>
            </p:nvSpPr>
            <p:spPr>
              <a:xfrm>
                <a:off x="574429" y="4447183"/>
                <a:ext cx="331763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Group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B85BC-1580-C5CD-3C8A-653A49C77720}"/>
                  </a:ext>
                </a:extLst>
              </p:cNvPr>
              <p:cNvSpPr txBox="1"/>
              <p:nvPr/>
            </p:nvSpPr>
            <p:spPr>
              <a:xfrm>
                <a:off x="574431" y="4983602"/>
                <a:ext cx="31652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GIZ2_AIS4_S9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E19300B-FB2B-DA42-F409-628CB4016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431" y="5841713"/>
              <a:ext cx="5521569" cy="73938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7D88A49-E34E-7D0B-0788-AAA5A2C6BA83}"/>
                </a:ext>
              </a:extLst>
            </p:cNvPr>
            <p:cNvSpPr txBox="1"/>
            <p:nvPr/>
          </p:nvSpPr>
          <p:spPr>
            <a:xfrm>
              <a:off x="574428" y="5383198"/>
              <a:ext cx="3317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Contact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878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2132</TotalTime>
  <Words>970</Words>
  <Application>Microsoft Office PowerPoint</Application>
  <PresentationFormat>Widescreen</PresentationFormat>
  <Paragraphs>178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Aptos ExtraBold</vt:lpstr>
      <vt:lpstr>Arial</vt:lpstr>
      <vt:lpstr>Inter</vt:lpstr>
      <vt:lpstr>Office Theme</vt:lpstr>
      <vt:lpstr>PowerPoint Presentation</vt:lpstr>
      <vt:lpstr>CONTENT</vt:lpstr>
      <vt:lpstr>01 Introduction</vt:lpstr>
      <vt:lpstr>02 Dataset Overview</vt:lpstr>
      <vt:lpstr>03 Data Cleaning and Preprocessing</vt:lpstr>
      <vt:lpstr>03 Data Cleaning and Preprocessing</vt:lpstr>
      <vt:lpstr>03 Data Cleaning and Preprocessing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05 Modeling</vt:lpstr>
      <vt:lpstr>05 Modeling : Linear Regression</vt:lpstr>
      <vt:lpstr>05 Modeling : Decision Tree Regressor</vt:lpstr>
      <vt:lpstr>05 Modeling : Random Forest</vt:lpstr>
      <vt:lpstr>05 Modeling :  Cross-Validation</vt:lpstr>
      <vt:lpstr>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Abdallah Gasem</dc:creator>
  <cp:lastModifiedBy>Abdallah Gasem</cp:lastModifiedBy>
  <cp:revision>161</cp:revision>
  <dcterms:created xsi:type="dcterms:W3CDTF">2025-03-01T04:39:54Z</dcterms:created>
  <dcterms:modified xsi:type="dcterms:W3CDTF">2025-04-24T19:47:57Z</dcterms:modified>
</cp:coreProperties>
</file>